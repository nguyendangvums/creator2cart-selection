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because this is the number they should plan around, not the one they already quote.
VNG knows Thailand is big. Thailand put 162 million dollars into mobile in-app purchases in Q1 2025, the most of any country in Southeast Asia, and it did that while Indonesia downloaded 3 to 4 times as many games. Thai mobile spending grew 16% in 2024 against a 4% global average, and 49% of Thai players are paying users. That is a market that pays.
The number they probably do not plan around is on the right. 42% of the value of this market is not mobile. PC is 26.4% and console and handheld is 15.3%. That is the highest non-mobile share of any major Southeast Asian market, and it traces back to the internet cafe and LAN shop culture Thailand has had for 20 plus years.
Why that matters commercially: a PC and console audience sits down. They watch long content. They research before they spend. That is exactly the audience VNG's MMORPG slate is built for, and it is the audience a short-form-only plan cannot reach properly.
So the question for 2027 is not whether Thailand is worth funding. It is which layer of Thailand you are funding.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room's own market, so do not explain Garena to them. Explain the shape of the problem.
RoV is not just the biggest title in Thailand, it is the one embedded in the culture. Most of Southeast Asia crowns Mobile Legends. Thailand belongs to RoV, and it has had a national pro league since 2018.
The scale numbers on the right are there to show what that ownership actually looks like. The RoV Pro League Winter grand final in October 2025 at BITEC Bangna peaked at 278,951 concurrent viewers. AIC 2025 peaked at 742,342 concurrent and put away over 21 million hours watched. That is a live audience most publishers in this region cannot buy.
The part that matters for 2027 is the last item. Garena is not booking creators campaign by campaign. It runs a RoV Creator Club and a Creator Next Gen recruitment programme. That is an owned pipeline. It signs people before anyone else gets to the table.
So the conclusion is simple. You cannot rent RoV culture, and you should not try. The Thai creator strategy has to sit on genres Garena does not already own, and the relationships have to be locked early enough that Garena's pipeline does not absorb them first. Timing here is competitive, not administrative.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Thailand has 2 different charts, and VNG is already on the better one.
On the left is the culture and download chart. RoV, Free Fire, Mobile Legends, PUBG Mobile, Roblox. That is Garena territory and it is where the noise is.
On the right is the revenue chart. Realistic sports games, MMORPGs and 4X strategy lead on spending. Different games, different players.
Now look at the VNG roster along the bottom. Lineage2M through the NCV Games joint venture with NCSOFT, Revelation M, Perfect World Mobile, Metal Slug: Awakening, DDTank Origin. 3 of those are MMORPGs. The slate is already pointed at the revenue column.
That is a good position, and it has a consequence people skip. A revenue-side audience is older, spends more and is more PC-native. You reach that person with depth of content, not with volume of clips. Depth of content is a YouTube behaviour, and that is what the next slide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VNG does not already have, so slow down here.
The top 100 Thai gaming channels hold roughly 323 million combined subscribers and 96 billion combined views. That is the addressable creator layer in this market, and it is concentrated.
At the top, zbing z. with 21.9 million subscribers and roughly 13 billion lifetime views. She is not an RoV channel, she is variety and livestream, and she started on horror games and Ark. Then RUOK at 10.7 million, HEARTROCKER at 9.6 million, PojzPlaza at 9.6 million, and the band from 8.7 down to 6.4 million after that.
The column on the right is the part that changes a plan. RUOK is a Free Fire specialist, which is a Garena title, so that is a title conflict. กายหงิด plays RoV, also a Garena title, but he has already worked a VNG joint-venture launch, so that one is manageable. zbing z. has no single-title conflict, but she sits with Online Station under True Visions Group, so there is an MCN commercial layer to plan for.
The callout at the bottom is worth saying out loud. She started in April 2014, hit 1 million in 2 years and passed 10 million in 2019, the first Thai gaming livestream channel to do it. The top of the gaming category in this market is held by a woman. That is not the case in most markets in the region.
And be straight about the limit. Publicly verified genre data exists for only part of this list. Genre and brand-safety verification is step 1 of the 2027 workflow. We are not going to assume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If they remember a single thing from this deck, make it this.
Thai gamers use 3 platforms, but for 3 different jobs, and the mistake is treating them as interchangeable reach.
Job 1 is discovery, and it happens on Facebook. Over 70% of Thai gamers find new titles there, through KOL livestreams and recommendations they trust. Fan pages and player-run groups carry retention after launch.
Job 2 is the spark, and that is short form. Thai viewers start with a short video, and if the interest holds, longer YouTube content follows, with search filling in the gaps.
Job 3 is the decision, and that is YouTube. 92% of Thai users go to YouTube to understand their interests more deeply. 88% trust YouTube creators' opinions on brands and products more than voices on any other platform. 88% of Thai shoppers say YouTube played a critical role in their most recent purchase decision. And YouTube ROI comes in at 2.9 times television and 1.6 times other social platforms.
Now the band at the bottom, and say this as their evidence, not ours. Metal Slug: Awakening ran a planned funnel across 9 markets. In Thailand, iOS installs beat target by 328% and CPI came in 53% below target. That is a team that knows how to win the spark.
So the spark is won. The decision layer is the one still open. Everything after this slide is about funding that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roster is sorted by genre fit and conflict risk, not by subscriber count. That is the whole discipline of this slide.
Tier 1 is the lead recommendation, and it is the easy one, because VNG has already done it. คัทโตะ, กายหงิด and แป้งสามป๋องซาว were on stage at the NCV Games Lineage2M launch showcase in Bangkok in March 2025, alongside Cris Phan, Duy Thẩm and Hải Triều from Vietnam. These creators have already worked a VNG joint-venture launch in this market.
That matters because the expensive part of creator work is not the booking, it is the first relationship. That cost is already paid here. This is the fastest path from a single launch booking to a standing 2027 relationship.
On กายหงิด specifically: Viratsan Ariyapongpisal, about 4.88 million subscribers, roughly 515,000 average views, RoV plus humour and challenge formats, with strong TikTok crossover. He plays a Garena title, so flag it, but he has already worked with VNG, so it is manageable rather than blocking.
Tier 2 is zbing z., and she does 1 job: she buys scale and brand safety for a launch moment. 21.9 million subscribers, family-safe, female-fronted, no single-title conflict.
Say the trade-off out loud, because they will spot it anyway. Her audience skews young and family. She buys reach, not hardcore MMORPG credibility. And she sits with Online Station under True Visions Group, so there is an MCN commercial layer in the deal.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tier that carries the commercial argument, so give it the time.
Read the last column, not the second one. Subscribers measure history. Views per subscriber measures what a channel is delivering right now.
Tatchai I has 308,000 subscribers and pulls about 530,000 average views. That is 1.72 times its subscriber base on a typical video. MrWattana, 240,000 subscribers, about 360,000 average views, 1.50 times. Now compare that with HEARTROCKER: 8.17 million subscribers, about 490,000 average views, 0.06 times.
HEARTROCKER is a real channel with a real history. But if the job is delivered views per unit of effort, the small channels are outperforming the large one by more than 25 times on this ratio.
Engagement backs it up. MrWattana runs an estimated 10.7% engagement rate and GangBad TM 9.1%, against 6.4% for the macro tier.
And here is the part to land with this room: this is not a new idea we are importing. VNG already hires for a micro and UGC creator layer. This is that same logic, applied to Thailand.
Tier 4 is a small line item, not a 2027 commitment. NotAmberRoblox and Dragon Gold are Roblox-native, and Roblox is on the Thai download charts alongside RoV, Free Fire, Mobile Legends and PUBG Mobile. Worth a watching brief for the next cohort.
Be explicit about the data. Average views and engagement rates are third-party estimates from monthly snapshots. They need verification before anyone commits budget. Subscriber counts are reliable, the rest is directional.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ask, so make it a budget line, not a good idea.
Move 1: shift from launch bookings to standing creator partnerships. The reason is mechanical. 40% of a video's views on YouTube happen more than a month after it goes live. For a live-ops business that is the difference between a spike and a retention asset. And Garena is already locking Thai creators into its own club programmes, so the timing on relationships is competitive, not administrative.
Move 2: put paid behind the creator content with creator partnerships boost. That format lets you promote a creator's own video as an ad across the funnel, running from the creator's account with the brand attached, on Shorts and in-stream. Mechanically the creator adds the brand partner in YouTube Studio and links the video to the Google Ads account. The minimum ad-spend thresholds that used to gate this have been removed. YouTube drives 86% higher incremental long-term ROAS than paid social.
Important caveat, and say it plainly if they ask: creator partnerships boost has been rolling out market by market. Availability for the Thailand advertiser market has to be confirmed with the Google team before we promise anything. Do not give them a date.
Move 3: measure it like media. YouTube Creator Partnerships, formerly BrandConnect, brings the organic and paid metrics for linked creator videos together in a single view, with Brand Lift, Search Lift and Conversion Lift studies. That is the same reporting standard VNG already applies to user acquisition spend, just extended to creator work.
Close on this. VNG already staffs a 4-tier creator roster and a player-to-creator pipeline. The opening in Thailand for 2027 is not more creators. It is the always-on YouTube layer underneath the ones they already work with.
Next steps are small and concrete: verify genre and brand safety on the shortlist, confirm creator partnerships boost availability for Thailand with the Google team, and scope a 1-title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566928"/>
          </a:xfrm>
          <a:prstGeom prst="rect">
            <a:avLst/>
          </a:prstGeom>
          <a:noFill/>
          <a:ln/>
        </p:spPr>
        <p:txBody>
          <a:bodyPr wrap="square" lIns="0" tIns="0" rIns="0" bIns="0" rtlCol="0" anchor="ctr"/>
          <a:lstStyle/>
          <a:p>
            <a:pPr algn="l" indent="0" marL="0">
              <a:buNone/>
            </a:pPr>
            <a:r>
              <a:rPr lang="en-US" sz="2900" b="1" dirty="0">
                <a:solidFill>
                  <a:srgbClr val="FFFFFF"/>
                </a:solidFill>
                <a:latin typeface="Google Sans" pitchFamily="34" charset="0"/>
                <a:ea typeface="Google Sans" pitchFamily="34" charset="-122"/>
                <a:cs typeface="Google Sans" pitchFamily="34" charset="-120"/>
              </a:rPr>
              <a:t>Thailand pays more per player than any SEA market</a:t>
            </a:r>
            <a:endParaRPr lang="en-US" sz="2900" dirty="0"/>
          </a:p>
        </p:txBody>
      </p:sp>
      <p:sp>
        <p:nvSpPr>
          <p:cNvPr id="3" name="Text 1"/>
          <p:cNvSpPr txBox="1"/>
          <p:nvPr/>
        </p:nvSpPr>
        <p:spPr>
          <a:xfrm>
            <a:off x="640080" y="1225296"/>
            <a:ext cx="10911535" cy="310896"/>
          </a:xfrm>
          <a:prstGeom prst="rect">
            <a:avLst/>
          </a:prstGeom>
          <a:noFill/>
          <a:ln/>
        </p:spPr>
        <p:txBody>
          <a:bodyPr wrap="square" lIns="0" tIns="0" rIns="0" bIns="0" rtlCol="0" anchor="ctr"/>
          <a:lstStyle/>
          <a:p>
            <a:pPr algn="l" indent="0" marL="0">
              <a:buNone/>
            </a:pPr>
            <a:r>
              <a:rPr lang="en-US" sz="1400" dirty="0">
                <a:solidFill>
                  <a:srgbClr val="9E9E9E"/>
                </a:solidFill>
                <a:latin typeface="Google Sans" pitchFamily="34" charset="0"/>
                <a:ea typeface="Google Sans" pitchFamily="34" charset="-122"/>
                <a:cs typeface="Google Sans" pitchFamily="34" charset="-120"/>
              </a:rPr>
              <a:t>and 42% of that money is not mobile.</a:t>
            </a:r>
            <a:endParaRPr lang="en-US" sz="1400" dirty="0"/>
          </a:p>
        </p:txBody>
      </p:sp>
      <p:sp>
        <p:nvSpPr>
          <p:cNvPr id="4" name="Shape 2"/>
          <p:cNvSpPr/>
          <p:nvPr/>
        </p:nvSpPr>
        <p:spPr>
          <a:xfrm>
            <a:off x="640080" y="6163056"/>
            <a:ext cx="10911535" cy="402336"/>
          </a:xfrm>
          <a:prstGeom prst="roundRect">
            <a:avLst>
              <a:gd name="adj" fmla="val 13636"/>
            </a:avLst>
          </a:prstGeom>
          <a:solidFill>
            <a:srgbClr val="161616"/>
          </a:solidFill>
          <a:ln w="12700">
            <a:solidFill>
              <a:srgbClr val="232323"/>
            </a:solidFill>
            <a:prstDash val="solid"/>
          </a:ln>
        </p:spPr>
      </p:sp>
      <p:sp>
        <p:nvSpPr>
          <p:cNvPr id="5" name="Shape 3"/>
          <p:cNvSpPr/>
          <p:nvPr/>
        </p:nvSpPr>
        <p:spPr>
          <a:xfrm>
            <a:off x="786384" y="6263640"/>
            <a:ext cx="82296" cy="201168"/>
          </a:xfrm>
          <a:prstGeom prst="rect">
            <a:avLst/>
          </a:prstGeom>
          <a:solidFill>
            <a:srgbClr val="FF0033"/>
          </a:solidFill>
          <a:ln w="12700">
            <a:solidFill>
              <a:srgbClr val="FF0033"/>
            </a:solidFill>
            <a:prstDash val="solid"/>
          </a:ln>
        </p:spPr>
      </p:sp>
      <p:sp>
        <p:nvSpPr>
          <p:cNvPr id="6" name="Text 4"/>
          <p:cNvSpPr txBox="1"/>
          <p:nvPr/>
        </p:nvSpPr>
        <p:spPr>
          <a:xfrm>
            <a:off x="987552" y="6163056"/>
            <a:ext cx="10417759" cy="402336"/>
          </a:xfrm>
          <a:prstGeom prst="rect">
            <a:avLst/>
          </a:prstGeom>
          <a:noFill/>
          <a:ln/>
        </p:spPr>
        <p:txBody>
          <a:bodyPr wrap="square" lIns="0" tIns="0" rIns="0" bIns="0" rtlCol="0" anchor="ctr"/>
          <a:lstStyle/>
          <a:p>
            <a:pPr algn="l" indent="0" marL="0">
              <a:buNone/>
            </a:pPr>
            <a:r>
              <a:rPr lang="en-US" sz="950" dirty="0">
                <a:solidFill>
                  <a:srgbClr val="6E6E6E"/>
                </a:solidFill>
                <a:latin typeface="Google Sans" pitchFamily="34" charset="0"/>
                <a:ea typeface="Google Sans" pitchFamily="34" charset="-122"/>
                <a:cs typeface="Google Sans" pitchFamily="34" charset="-120"/>
              </a:rPr>
              <a:t>Source: Sensor Tower and Kasikorn Research Center via Bangkok Post, compiled by Digital in Asia, July 2026. Antom, January 2026.</a:t>
            </a:r>
            <a:endParaRPr lang="en-US" sz="950" dirty="0"/>
          </a:p>
        </p:txBody>
      </p:sp>
      <p:sp>
        <p:nvSpPr>
          <p:cNvPr id="7" name="Shape 5"/>
          <p:cNvSpPr/>
          <p:nvPr/>
        </p:nvSpPr>
        <p:spPr>
          <a:xfrm>
            <a:off x="640080" y="1874520"/>
            <a:ext cx="5212080" cy="1124712"/>
          </a:xfrm>
          <a:prstGeom prst="roundRect">
            <a:avLst>
              <a:gd name="adj" fmla="val 4878"/>
            </a:avLst>
          </a:prstGeom>
          <a:solidFill>
            <a:srgbClr val="161616"/>
          </a:solidFill>
          <a:ln w="12700">
            <a:solidFill>
              <a:srgbClr val="232323"/>
            </a:solidFill>
            <a:prstDash val="solid"/>
          </a:ln>
        </p:spPr>
      </p:sp>
      <p:sp>
        <p:nvSpPr>
          <p:cNvPr id="8" name="Shape 6"/>
          <p:cNvSpPr/>
          <p:nvPr/>
        </p:nvSpPr>
        <p:spPr>
          <a:xfrm>
            <a:off x="896112" y="2121408"/>
            <a:ext cx="82296" cy="219456"/>
          </a:xfrm>
          <a:prstGeom prst="rect">
            <a:avLst/>
          </a:prstGeom>
          <a:solidFill>
            <a:srgbClr val="FF0033"/>
          </a:solidFill>
          <a:ln w="12700">
            <a:solidFill>
              <a:srgbClr val="FF0033"/>
            </a:solidFill>
            <a:prstDash val="solid"/>
          </a:ln>
        </p:spPr>
      </p:sp>
      <p:sp>
        <p:nvSpPr>
          <p:cNvPr id="9" name="Text 7"/>
          <p:cNvSpPr txBox="1"/>
          <p:nvPr/>
        </p:nvSpPr>
        <p:spPr>
          <a:xfrm>
            <a:off x="1069848" y="2039112"/>
            <a:ext cx="4526280" cy="384048"/>
          </a:xfrm>
          <a:prstGeom prst="rect">
            <a:avLst/>
          </a:prstGeom>
          <a:noFill/>
          <a:ln/>
        </p:spPr>
        <p:txBody>
          <a:bodyPr wrap="square" lIns="0" tIns="0" rIns="0" bIns="0" rtlCol="0" anchor="ctr"/>
          <a:lstStyle/>
          <a:p>
            <a:pPr algn="l" indent="0" marL="0">
              <a:buNone/>
            </a:pPr>
            <a:r>
              <a:rPr lang="en-US" sz="1900" b="1" dirty="0">
                <a:solidFill>
                  <a:srgbClr val="FF0033"/>
                </a:solidFill>
                <a:latin typeface="Google Sans" pitchFamily="34" charset="0"/>
                <a:ea typeface="Google Sans" pitchFamily="34" charset="-122"/>
                <a:cs typeface="Google Sans" pitchFamily="34" charset="-120"/>
              </a:rPr>
              <a:t>162 million dollars</a:t>
            </a:r>
            <a:endParaRPr lang="en-US" sz="1900" dirty="0"/>
          </a:p>
        </p:txBody>
      </p:sp>
      <p:sp>
        <p:nvSpPr>
          <p:cNvPr id="10" name="Text 8"/>
          <p:cNvSpPr txBox="1"/>
          <p:nvPr/>
        </p:nvSpPr>
        <p:spPr>
          <a:xfrm>
            <a:off x="896112" y="2478024"/>
            <a:ext cx="4700016" cy="438912"/>
          </a:xfrm>
          <a:prstGeom prst="rect">
            <a:avLst/>
          </a:prstGeom>
          <a:noFill/>
          <a:ln/>
        </p:spPr>
        <p:txBody>
          <a:bodyPr wrap="square" lIns="0" tIns="0" rIns="0" bIns="0" rtlCol="0" anchor="t"/>
          <a:lstStyle/>
          <a:p>
            <a:pPr algn="l" indent="0" marL="0">
              <a:lnSpc>
                <a:spcPct val="110000"/>
              </a:lnSpc>
              <a:buNone/>
            </a:pPr>
            <a:r>
              <a:rPr lang="en-US" sz="1000" dirty="0">
                <a:solidFill>
                  <a:srgbClr val="9E9E9E"/>
                </a:solidFill>
                <a:latin typeface="Google Sans" pitchFamily="34" charset="0"/>
                <a:ea typeface="Google Sans" pitchFamily="34" charset="-122"/>
                <a:cs typeface="Google Sans" pitchFamily="34" charset="-120"/>
              </a:rPr>
              <a:t>in mobile in-app purchases in Q1 2025, the most of any country in Southeast Asia, despite Indonesia downloading 3 to 4 times as many games</a:t>
            </a:r>
            <a:endParaRPr lang="en-US" sz="1000" dirty="0"/>
          </a:p>
        </p:txBody>
      </p:sp>
      <p:sp>
        <p:nvSpPr>
          <p:cNvPr id="11" name="Shape 9"/>
          <p:cNvSpPr/>
          <p:nvPr/>
        </p:nvSpPr>
        <p:spPr>
          <a:xfrm>
            <a:off x="640080" y="3273552"/>
            <a:ext cx="5212080" cy="1124712"/>
          </a:xfrm>
          <a:prstGeom prst="roundRect">
            <a:avLst>
              <a:gd name="adj" fmla="val 4878"/>
            </a:avLst>
          </a:prstGeom>
          <a:solidFill>
            <a:srgbClr val="161616"/>
          </a:solidFill>
          <a:ln w="12700">
            <a:solidFill>
              <a:srgbClr val="232323"/>
            </a:solidFill>
            <a:prstDash val="solid"/>
          </a:ln>
        </p:spPr>
      </p:sp>
      <p:sp>
        <p:nvSpPr>
          <p:cNvPr id="12" name="Shape 10"/>
          <p:cNvSpPr/>
          <p:nvPr/>
        </p:nvSpPr>
        <p:spPr>
          <a:xfrm>
            <a:off x="896112" y="3520440"/>
            <a:ext cx="82296" cy="219456"/>
          </a:xfrm>
          <a:prstGeom prst="rect">
            <a:avLst/>
          </a:prstGeom>
          <a:solidFill>
            <a:srgbClr val="FF0033"/>
          </a:solidFill>
          <a:ln w="12700">
            <a:solidFill>
              <a:srgbClr val="FF0033"/>
            </a:solidFill>
            <a:prstDash val="solid"/>
          </a:ln>
        </p:spPr>
      </p:sp>
      <p:sp>
        <p:nvSpPr>
          <p:cNvPr id="13" name="Text 11"/>
          <p:cNvSpPr txBox="1"/>
          <p:nvPr/>
        </p:nvSpPr>
        <p:spPr>
          <a:xfrm>
            <a:off x="1069848" y="3438144"/>
            <a:ext cx="4526280" cy="384048"/>
          </a:xfrm>
          <a:prstGeom prst="rect">
            <a:avLst/>
          </a:prstGeom>
          <a:noFill/>
          <a:ln/>
        </p:spPr>
        <p:txBody>
          <a:bodyPr wrap="square" lIns="0" tIns="0" rIns="0" bIns="0" rtlCol="0" anchor="ctr"/>
          <a:lstStyle/>
          <a:p>
            <a:pPr algn="l" indent="0" marL="0">
              <a:buNone/>
            </a:pPr>
            <a:r>
              <a:rPr lang="en-US" sz="1900" b="1" dirty="0">
                <a:solidFill>
                  <a:srgbClr val="FF0033"/>
                </a:solidFill>
                <a:latin typeface="Google Sans" pitchFamily="34" charset="0"/>
                <a:ea typeface="Google Sans" pitchFamily="34" charset="-122"/>
                <a:cs typeface="Google Sans" pitchFamily="34" charset="-120"/>
              </a:rPr>
              <a:t>16%</a:t>
            </a:r>
            <a:endParaRPr lang="en-US" sz="1900" dirty="0"/>
          </a:p>
        </p:txBody>
      </p:sp>
      <p:sp>
        <p:nvSpPr>
          <p:cNvPr id="14" name="Text 12"/>
          <p:cNvSpPr txBox="1"/>
          <p:nvPr/>
        </p:nvSpPr>
        <p:spPr>
          <a:xfrm>
            <a:off x="896112" y="3877056"/>
            <a:ext cx="4700016" cy="438912"/>
          </a:xfrm>
          <a:prstGeom prst="rect">
            <a:avLst/>
          </a:prstGeom>
          <a:noFill/>
          <a:ln/>
        </p:spPr>
        <p:txBody>
          <a:bodyPr wrap="square" lIns="0" tIns="0" rIns="0" bIns="0" rtlCol="0" anchor="t"/>
          <a:lstStyle/>
          <a:p>
            <a:pPr algn="l" indent="0" marL="0">
              <a:lnSpc>
                <a:spcPct val="110000"/>
              </a:lnSpc>
              <a:buNone/>
            </a:pPr>
            <a:r>
              <a:rPr lang="en-US" sz="1000" dirty="0">
                <a:solidFill>
                  <a:srgbClr val="9E9E9E"/>
                </a:solidFill>
                <a:latin typeface="Google Sans" pitchFamily="34" charset="0"/>
                <a:ea typeface="Google Sans" pitchFamily="34" charset="-122"/>
                <a:cs typeface="Google Sans" pitchFamily="34" charset="-120"/>
              </a:rPr>
              <a:t>growth in Thai mobile spending in 2024, against a 4% global average</a:t>
            </a:r>
            <a:endParaRPr lang="en-US" sz="1000" dirty="0"/>
          </a:p>
        </p:txBody>
      </p:sp>
      <p:sp>
        <p:nvSpPr>
          <p:cNvPr id="15" name="Shape 13"/>
          <p:cNvSpPr/>
          <p:nvPr/>
        </p:nvSpPr>
        <p:spPr>
          <a:xfrm>
            <a:off x="640080" y="4672584"/>
            <a:ext cx="5212080" cy="1124712"/>
          </a:xfrm>
          <a:prstGeom prst="roundRect">
            <a:avLst>
              <a:gd name="adj" fmla="val 4878"/>
            </a:avLst>
          </a:prstGeom>
          <a:solidFill>
            <a:srgbClr val="161616"/>
          </a:solidFill>
          <a:ln w="12700">
            <a:solidFill>
              <a:srgbClr val="232323"/>
            </a:solidFill>
            <a:prstDash val="solid"/>
          </a:ln>
        </p:spPr>
      </p:sp>
      <p:sp>
        <p:nvSpPr>
          <p:cNvPr id="16" name="Shape 14"/>
          <p:cNvSpPr/>
          <p:nvPr/>
        </p:nvSpPr>
        <p:spPr>
          <a:xfrm>
            <a:off x="896112" y="4919472"/>
            <a:ext cx="82296" cy="219456"/>
          </a:xfrm>
          <a:prstGeom prst="rect">
            <a:avLst/>
          </a:prstGeom>
          <a:solidFill>
            <a:srgbClr val="FF0033"/>
          </a:solidFill>
          <a:ln w="12700">
            <a:solidFill>
              <a:srgbClr val="FF0033"/>
            </a:solidFill>
            <a:prstDash val="solid"/>
          </a:ln>
        </p:spPr>
      </p:sp>
      <p:sp>
        <p:nvSpPr>
          <p:cNvPr id="17" name="Text 15"/>
          <p:cNvSpPr txBox="1"/>
          <p:nvPr/>
        </p:nvSpPr>
        <p:spPr>
          <a:xfrm>
            <a:off x="1069848" y="4837176"/>
            <a:ext cx="4526280" cy="384048"/>
          </a:xfrm>
          <a:prstGeom prst="rect">
            <a:avLst/>
          </a:prstGeom>
          <a:noFill/>
          <a:ln/>
        </p:spPr>
        <p:txBody>
          <a:bodyPr wrap="square" lIns="0" tIns="0" rIns="0" bIns="0" rtlCol="0" anchor="ctr"/>
          <a:lstStyle/>
          <a:p>
            <a:pPr algn="l" indent="0" marL="0">
              <a:buNone/>
            </a:pPr>
            <a:r>
              <a:rPr lang="en-US" sz="1900" b="1" dirty="0">
                <a:solidFill>
                  <a:srgbClr val="FF0033"/>
                </a:solidFill>
                <a:latin typeface="Google Sans" pitchFamily="34" charset="0"/>
                <a:ea typeface="Google Sans" pitchFamily="34" charset="-122"/>
                <a:cs typeface="Google Sans" pitchFamily="34" charset="-120"/>
              </a:rPr>
              <a:t>49%</a:t>
            </a:r>
            <a:endParaRPr lang="en-US" sz="1900" dirty="0"/>
          </a:p>
        </p:txBody>
      </p:sp>
      <p:sp>
        <p:nvSpPr>
          <p:cNvPr id="18" name="Text 16"/>
          <p:cNvSpPr txBox="1"/>
          <p:nvPr/>
        </p:nvSpPr>
        <p:spPr>
          <a:xfrm>
            <a:off x="896112" y="5276088"/>
            <a:ext cx="4700016" cy="438912"/>
          </a:xfrm>
          <a:prstGeom prst="rect">
            <a:avLst/>
          </a:prstGeom>
          <a:noFill/>
          <a:ln/>
        </p:spPr>
        <p:txBody>
          <a:bodyPr wrap="square" lIns="0" tIns="0" rIns="0" bIns="0" rtlCol="0" anchor="t"/>
          <a:lstStyle/>
          <a:p>
            <a:pPr algn="l" indent="0" marL="0">
              <a:lnSpc>
                <a:spcPct val="110000"/>
              </a:lnSpc>
              <a:buNone/>
            </a:pPr>
            <a:r>
              <a:rPr lang="en-US" sz="1000" dirty="0">
                <a:solidFill>
                  <a:srgbClr val="9E9E9E"/>
                </a:solidFill>
                <a:latin typeface="Google Sans" pitchFamily="34" charset="0"/>
                <a:ea typeface="Google Sans" pitchFamily="34" charset="-122"/>
                <a:cs typeface="Google Sans" pitchFamily="34" charset="-120"/>
              </a:rPr>
              <a:t>of Thai players are paying users</a:t>
            </a:r>
            <a:endParaRPr lang="en-US" sz="1000" dirty="0"/>
          </a:p>
        </p:txBody>
      </p:sp>
      <p:sp>
        <p:nvSpPr>
          <p:cNvPr id="19" name="Shape 17"/>
          <p:cNvSpPr/>
          <p:nvPr/>
        </p:nvSpPr>
        <p:spPr>
          <a:xfrm>
            <a:off x="6309360" y="1874520"/>
            <a:ext cx="5242255" cy="2468880"/>
          </a:xfrm>
          <a:prstGeom prst="roundRect">
            <a:avLst>
              <a:gd name="adj" fmla="val 2222"/>
            </a:avLst>
          </a:prstGeom>
          <a:solidFill>
            <a:srgbClr val="161616"/>
          </a:solidFill>
          <a:ln w="12700">
            <a:solidFill>
              <a:srgbClr val="232323"/>
            </a:solidFill>
            <a:prstDash val="solid"/>
          </a:ln>
        </p:spPr>
      </p:sp>
      <p:sp>
        <p:nvSpPr>
          <p:cNvPr id="20" name="Shape 18"/>
          <p:cNvSpPr/>
          <p:nvPr/>
        </p:nvSpPr>
        <p:spPr>
          <a:xfrm>
            <a:off x="6565392" y="2066544"/>
            <a:ext cx="82296" cy="192024"/>
          </a:xfrm>
          <a:prstGeom prst="rect">
            <a:avLst/>
          </a:prstGeom>
          <a:solidFill>
            <a:srgbClr val="FF0033"/>
          </a:solidFill>
          <a:ln w="12700">
            <a:solidFill>
              <a:srgbClr val="FF0033"/>
            </a:solidFill>
            <a:prstDash val="solid"/>
          </a:ln>
        </p:spPr>
      </p:sp>
      <p:sp>
        <p:nvSpPr>
          <p:cNvPr id="21" name="Text 19"/>
          <p:cNvSpPr txBox="1"/>
          <p:nvPr/>
        </p:nvSpPr>
        <p:spPr>
          <a:xfrm>
            <a:off x="6739128" y="2011680"/>
            <a:ext cx="4556455" cy="256032"/>
          </a:xfrm>
          <a:prstGeom prst="rect">
            <a:avLst/>
          </a:prstGeom>
          <a:noFill/>
          <a:ln/>
        </p:spPr>
        <p:txBody>
          <a:bodyPr wrap="square" lIns="0" tIns="0" rIns="0" bIns="0" rtlCol="0" anchor="t"/>
          <a:lstStyle/>
          <a:p>
            <a:pPr algn="l" indent="0" marL="0">
              <a:buNone/>
            </a:pPr>
            <a:r>
              <a:rPr lang="en-US" sz="1300" b="1" dirty="0">
                <a:solidFill>
                  <a:srgbClr val="FFFFFF"/>
                </a:solidFill>
                <a:latin typeface="Google Sans" pitchFamily="34" charset="0"/>
                <a:ea typeface="Google Sans" pitchFamily="34" charset="-122"/>
                <a:cs typeface="Google Sans" pitchFamily="34" charset="-120"/>
              </a:rPr>
              <a:t>Thai games market value by platform</a:t>
            </a:r>
            <a:endParaRPr lang="en-US" sz="1300" dirty="0"/>
          </a:p>
        </p:txBody>
      </p:sp>
      <p:sp>
        <p:nvSpPr>
          <p:cNvPr id="22" name="Text 20"/>
          <p:cNvSpPr txBox="1"/>
          <p:nvPr/>
        </p:nvSpPr>
        <p:spPr>
          <a:xfrm>
            <a:off x="6565392" y="2359152"/>
            <a:ext cx="3632911" cy="201168"/>
          </a:xfrm>
          <a:prstGeom prst="rect">
            <a:avLst/>
          </a:prstGeom>
          <a:noFill/>
          <a:ln/>
        </p:spPr>
        <p:txBody>
          <a:bodyPr wrap="square" lIns="0" tIns="0" rIns="0" bIns="0" rtlCol="0" anchor="t"/>
          <a:lstStyle/>
          <a:p>
            <a:pPr algn="l" indent="0" marL="0">
              <a:buNone/>
            </a:pPr>
            <a:r>
              <a:rPr lang="en-US" sz="1050" dirty="0">
                <a:solidFill>
                  <a:srgbClr val="FFFFFF"/>
                </a:solidFill>
                <a:latin typeface="Google Sans" pitchFamily="34" charset="0"/>
                <a:ea typeface="Google Sans" pitchFamily="34" charset="-122"/>
                <a:cs typeface="Google Sans" pitchFamily="34" charset="-120"/>
              </a:rPr>
              <a:t>Mobile</a:t>
            </a:r>
            <a:endParaRPr lang="en-US" sz="1050" dirty="0"/>
          </a:p>
        </p:txBody>
      </p:sp>
      <p:sp>
        <p:nvSpPr>
          <p:cNvPr id="23" name="Text 21"/>
          <p:cNvSpPr txBox="1"/>
          <p:nvPr/>
        </p:nvSpPr>
        <p:spPr>
          <a:xfrm>
            <a:off x="6565392" y="2359152"/>
            <a:ext cx="4730191" cy="201168"/>
          </a:xfrm>
          <a:prstGeom prst="rect">
            <a:avLst/>
          </a:prstGeom>
          <a:noFill/>
          <a:ln/>
        </p:spPr>
        <p:txBody>
          <a:bodyPr wrap="square" lIns="0" tIns="0" rIns="0" bIns="0" rtlCol="0" anchor="t"/>
          <a:lstStyle/>
          <a:p>
            <a:pPr algn="r" indent="0" marL="0">
              <a:buNone/>
            </a:pPr>
            <a:r>
              <a:rPr lang="en-US" sz="1100" b="1" dirty="0">
                <a:solidFill>
                  <a:srgbClr val="FF0033"/>
                </a:solidFill>
                <a:latin typeface="Google Sans" pitchFamily="34" charset="0"/>
                <a:ea typeface="Google Sans" pitchFamily="34" charset="-122"/>
                <a:cs typeface="Google Sans" pitchFamily="34" charset="-120"/>
              </a:rPr>
              <a:t>58.3%</a:t>
            </a:r>
            <a:endParaRPr lang="en-US" sz="1100" dirty="0"/>
          </a:p>
        </p:txBody>
      </p:sp>
      <p:sp>
        <p:nvSpPr>
          <p:cNvPr id="24" name="Shape 22"/>
          <p:cNvSpPr/>
          <p:nvPr/>
        </p:nvSpPr>
        <p:spPr>
          <a:xfrm>
            <a:off x="6565392" y="2587752"/>
            <a:ext cx="4730191" cy="201168"/>
          </a:xfrm>
          <a:prstGeom prst="roundRect">
            <a:avLst>
              <a:gd name="adj" fmla="val 27273"/>
            </a:avLst>
          </a:prstGeom>
          <a:solidFill>
            <a:srgbClr val="1E1E1E"/>
          </a:solidFill>
          <a:ln w="12700">
            <a:solidFill>
              <a:srgbClr val="1E1E1E"/>
            </a:solidFill>
            <a:prstDash val="solid"/>
          </a:ln>
        </p:spPr>
      </p:sp>
      <p:sp>
        <p:nvSpPr>
          <p:cNvPr id="25" name="Shape 23"/>
          <p:cNvSpPr/>
          <p:nvPr/>
        </p:nvSpPr>
        <p:spPr>
          <a:xfrm>
            <a:off x="6565392" y="2587752"/>
            <a:ext cx="2757701" cy="201168"/>
          </a:xfrm>
          <a:prstGeom prst="roundRect">
            <a:avLst>
              <a:gd name="adj" fmla="val 27273"/>
            </a:avLst>
          </a:prstGeom>
          <a:solidFill>
            <a:srgbClr val="FF0033"/>
          </a:solidFill>
          <a:ln w="12700">
            <a:solidFill>
              <a:srgbClr val="FF0033"/>
            </a:solidFill>
            <a:prstDash val="solid"/>
          </a:ln>
        </p:spPr>
      </p:sp>
      <p:sp>
        <p:nvSpPr>
          <p:cNvPr id="26" name="Text 24"/>
          <p:cNvSpPr txBox="1"/>
          <p:nvPr/>
        </p:nvSpPr>
        <p:spPr>
          <a:xfrm>
            <a:off x="6565392" y="2944368"/>
            <a:ext cx="3632911" cy="201168"/>
          </a:xfrm>
          <a:prstGeom prst="rect">
            <a:avLst/>
          </a:prstGeom>
          <a:noFill/>
          <a:ln/>
        </p:spPr>
        <p:txBody>
          <a:bodyPr wrap="square" lIns="0" tIns="0" rIns="0" bIns="0" rtlCol="0" anchor="t"/>
          <a:lstStyle/>
          <a:p>
            <a:pPr algn="l" indent="0" marL="0">
              <a:buNone/>
            </a:pPr>
            <a:r>
              <a:rPr lang="en-US" sz="1050" dirty="0">
                <a:solidFill>
                  <a:srgbClr val="9E9E9E"/>
                </a:solidFill>
                <a:latin typeface="Google Sans" pitchFamily="34" charset="0"/>
                <a:ea typeface="Google Sans" pitchFamily="34" charset="-122"/>
                <a:cs typeface="Google Sans" pitchFamily="34" charset="-120"/>
              </a:rPr>
              <a:t>PC</a:t>
            </a:r>
            <a:endParaRPr lang="en-US" sz="1050" dirty="0"/>
          </a:p>
        </p:txBody>
      </p:sp>
      <p:sp>
        <p:nvSpPr>
          <p:cNvPr id="27" name="Text 25"/>
          <p:cNvSpPr txBox="1"/>
          <p:nvPr/>
        </p:nvSpPr>
        <p:spPr>
          <a:xfrm>
            <a:off x="6565392" y="2944368"/>
            <a:ext cx="4730191" cy="201168"/>
          </a:xfrm>
          <a:prstGeom prst="rect">
            <a:avLst/>
          </a:prstGeom>
          <a:noFill/>
          <a:ln/>
        </p:spPr>
        <p:txBody>
          <a:bodyPr wrap="square" lIns="0" tIns="0" rIns="0" bIns="0" rtlCol="0" anchor="t"/>
          <a:lstStyle/>
          <a:p>
            <a:pPr algn="r" indent="0" marL="0">
              <a:buNone/>
            </a:pPr>
            <a:r>
              <a:rPr lang="en-US" sz="1100" b="1" dirty="0">
                <a:solidFill>
                  <a:srgbClr val="9E9E9E"/>
                </a:solidFill>
                <a:latin typeface="Google Sans" pitchFamily="34" charset="0"/>
                <a:ea typeface="Google Sans" pitchFamily="34" charset="-122"/>
                <a:cs typeface="Google Sans" pitchFamily="34" charset="-120"/>
              </a:rPr>
              <a:t>26.4%</a:t>
            </a:r>
            <a:endParaRPr lang="en-US" sz="1100" dirty="0"/>
          </a:p>
        </p:txBody>
      </p:sp>
      <p:sp>
        <p:nvSpPr>
          <p:cNvPr id="28" name="Shape 26"/>
          <p:cNvSpPr/>
          <p:nvPr/>
        </p:nvSpPr>
        <p:spPr>
          <a:xfrm>
            <a:off x="6565392" y="3172968"/>
            <a:ext cx="4730191" cy="201168"/>
          </a:xfrm>
          <a:prstGeom prst="roundRect">
            <a:avLst>
              <a:gd name="adj" fmla="val 27273"/>
            </a:avLst>
          </a:prstGeom>
          <a:solidFill>
            <a:srgbClr val="1E1E1E"/>
          </a:solidFill>
          <a:ln w="12700">
            <a:solidFill>
              <a:srgbClr val="1E1E1E"/>
            </a:solidFill>
            <a:prstDash val="solid"/>
          </a:ln>
        </p:spPr>
      </p:sp>
      <p:sp>
        <p:nvSpPr>
          <p:cNvPr id="29" name="Shape 27"/>
          <p:cNvSpPr/>
          <p:nvPr/>
        </p:nvSpPr>
        <p:spPr>
          <a:xfrm>
            <a:off x="6565392" y="3172968"/>
            <a:ext cx="1248770" cy="201168"/>
          </a:xfrm>
          <a:prstGeom prst="roundRect">
            <a:avLst>
              <a:gd name="adj" fmla="val 27273"/>
            </a:avLst>
          </a:prstGeom>
          <a:solidFill>
            <a:srgbClr val="4A4A4A"/>
          </a:solidFill>
          <a:ln w="12700">
            <a:solidFill>
              <a:srgbClr val="4A4A4A"/>
            </a:solidFill>
            <a:prstDash val="solid"/>
          </a:ln>
        </p:spPr>
      </p:sp>
      <p:sp>
        <p:nvSpPr>
          <p:cNvPr id="30" name="Text 28"/>
          <p:cNvSpPr txBox="1"/>
          <p:nvPr/>
        </p:nvSpPr>
        <p:spPr>
          <a:xfrm>
            <a:off x="6565392" y="3529584"/>
            <a:ext cx="3632911" cy="201168"/>
          </a:xfrm>
          <a:prstGeom prst="rect">
            <a:avLst/>
          </a:prstGeom>
          <a:noFill/>
          <a:ln/>
        </p:spPr>
        <p:txBody>
          <a:bodyPr wrap="square" lIns="0" tIns="0" rIns="0" bIns="0" rtlCol="0" anchor="t"/>
          <a:lstStyle/>
          <a:p>
            <a:pPr algn="l" indent="0" marL="0">
              <a:buNone/>
            </a:pPr>
            <a:r>
              <a:rPr lang="en-US" sz="1050" dirty="0">
                <a:solidFill>
                  <a:srgbClr val="9E9E9E"/>
                </a:solidFill>
                <a:latin typeface="Google Sans" pitchFamily="34" charset="0"/>
                <a:ea typeface="Google Sans" pitchFamily="34" charset="-122"/>
                <a:cs typeface="Google Sans" pitchFamily="34" charset="-120"/>
              </a:rPr>
              <a:t>Console and handheld</a:t>
            </a:r>
            <a:endParaRPr lang="en-US" sz="1050" dirty="0"/>
          </a:p>
        </p:txBody>
      </p:sp>
      <p:sp>
        <p:nvSpPr>
          <p:cNvPr id="31" name="Text 29"/>
          <p:cNvSpPr txBox="1"/>
          <p:nvPr/>
        </p:nvSpPr>
        <p:spPr>
          <a:xfrm>
            <a:off x="6565392" y="3529584"/>
            <a:ext cx="4730191" cy="201168"/>
          </a:xfrm>
          <a:prstGeom prst="rect">
            <a:avLst/>
          </a:prstGeom>
          <a:noFill/>
          <a:ln/>
        </p:spPr>
        <p:txBody>
          <a:bodyPr wrap="square" lIns="0" tIns="0" rIns="0" bIns="0" rtlCol="0" anchor="t"/>
          <a:lstStyle/>
          <a:p>
            <a:pPr algn="r" indent="0" marL="0">
              <a:buNone/>
            </a:pPr>
            <a:r>
              <a:rPr lang="en-US" sz="1100" b="1" dirty="0">
                <a:solidFill>
                  <a:srgbClr val="9E9E9E"/>
                </a:solidFill>
                <a:latin typeface="Google Sans" pitchFamily="34" charset="0"/>
                <a:ea typeface="Google Sans" pitchFamily="34" charset="-122"/>
                <a:cs typeface="Google Sans" pitchFamily="34" charset="-120"/>
              </a:rPr>
              <a:t>15.3%</a:t>
            </a:r>
            <a:endParaRPr lang="en-US" sz="1100" dirty="0"/>
          </a:p>
        </p:txBody>
      </p:sp>
      <p:sp>
        <p:nvSpPr>
          <p:cNvPr id="32" name="Shape 30"/>
          <p:cNvSpPr/>
          <p:nvPr/>
        </p:nvSpPr>
        <p:spPr>
          <a:xfrm>
            <a:off x="6565392" y="3758184"/>
            <a:ext cx="4730191" cy="201168"/>
          </a:xfrm>
          <a:prstGeom prst="roundRect">
            <a:avLst>
              <a:gd name="adj" fmla="val 27273"/>
            </a:avLst>
          </a:prstGeom>
          <a:solidFill>
            <a:srgbClr val="1E1E1E"/>
          </a:solidFill>
          <a:ln w="12700">
            <a:solidFill>
              <a:srgbClr val="1E1E1E"/>
            </a:solidFill>
            <a:prstDash val="solid"/>
          </a:ln>
        </p:spPr>
      </p:sp>
      <p:sp>
        <p:nvSpPr>
          <p:cNvPr id="33" name="Shape 31"/>
          <p:cNvSpPr/>
          <p:nvPr/>
        </p:nvSpPr>
        <p:spPr>
          <a:xfrm>
            <a:off x="6565392" y="3758184"/>
            <a:ext cx="723719" cy="201168"/>
          </a:xfrm>
          <a:prstGeom prst="roundRect">
            <a:avLst>
              <a:gd name="adj" fmla="val 27273"/>
            </a:avLst>
          </a:prstGeom>
          <a:solidFill>
            <a:srgbClr val="3A3A3A"/>
          </a:solidFill>
          <a:ln w="12700">
            <a:solidFill>
              <a:srgbClr val="3A3A3A"/>
            </a:solidFill>
            <a:prstDash val="solid"/>
          </a:ln>
        </p:spPr>
      </p:sp>
      <p:sp>
        <p:nvSpPr>
          <p:cNvPr id="34" name="Shape 32"/>
          <p:cNvSpPr/>
          <p:nvPr/>
        </p:nvSpPr>
        <p:spPr>
          <a:xfrm>
            <a:off x="6309360" y="4617720"/>
            <a:ext cx="5242255" cy="1188720"/>
          </a:xfrm>
          <a:prstGeom prst="roundRect">
            <a:avLst>
              <a:gd name="adj" fmla="val 4615"/>
            </a:avLst>
          </a:prstGeom>
          <a:solidFill>
            <a:srgbClr val="161616"/>
          </a:solidFill>
          <a:ln w="12700">
            <a:solidFill>
              <a:srgbClr val="232323"/>
            </a:solidFill>
            <a:prstDash val="solid"/>
          </a:ln>
        </p:spPr>
      </p:sp>
      <p:sp>
        <p:nvSpPr>
          <p:cNvPr id="35" name="Shape 33"/>
          <p:cNvSpPr/>
          <p:nvPr/>
        </p:nvSpPr>
        <p:spPr>
          <a:xfrm>
            <a:off x="6565392" y="4764024"/>
            <a:ext cx="82296" cy="219456"/>
          </a:xfrm>
          <a:prstGeom prst="rect">
            <a:avLst/>
          </a:prstGeom>
          <a:solidFill>
            <a:srgbClr val="FF0033"/>
          </a:solidFill>
          <a:ln w="12700">
            <a:solidFill>
              <a:srgbClr val="FF0033"/>
            </a:solidFill>
            <a:prstDash val="solid"/>
          </a:ln>
        </p:spPr>
      </p:sp>
      <p:sp>
        <p:nvSpPr>
          <p:cNvPr id="36" name="Text 34"/>
          <p:cNvSpPr txBox="1"/>
          <p:nvPr/>
        </p:nvSpPr>
        <p:spPr>
          <a:xfrm>
            <a:off x="6739128" y="4709160"/>
            <a:ext cx="868680" cy="329184"/>
          </a:xfrm>
          <a:prstGeom prst="rect">
            <a:avLst/>
          </a:prstGeom>
          <a:noFill/>
          <a:ln/>
        </p:spPr>
        <p:txBody>
          <a:bodyPr wrap="square" lIns="0" tIns="0" rIns="0" bIns="0" rtlCol="0" anchor="ctr"/>
          <a:lstStyle/>
          <a:p>
            <a:pPr algn="l" indent="0" marL="0">
              <a:buNone/>
            </a:pPr>
            <a:r>
              <a:rPr lang="en-US" sz="1800" b="1" dirty="0">
                <a:solidFill>
                  <a:srgbClr val="FF0033"/>
                </a:solidFill>
                <a:latin typeface="Google Sans" pitchFamily="34" charset="0"/>
                <a:ea typeface="Google Sans" pitchFamily="34" charset="-122"/>
                <a:cs typeface="Google Sans" pitchFamily="34" charset="-120"/>
              </a:rPr>
              <a:t>42%</a:t>
            </a:r>
            <a:endParaRPr lang="en-US" sz="1800" dirty="0"/>
          </a:p>
        </p:txBody>
      </p:sp>
      <p:sp>
        <p:nvSpPr>
          <p:cNvPr id="37" name="Text 35"/>
          <p:cNvSpPr txBox="1"/>
          <p:nvPr/>
        </p:nvSpPr>
        <p:spPr>
          <a:xfrm>
            <a:off x="7635240" y="4709160"/>
            <a:ext cx="3660343" cy="329184"/>
          </a:xfrm>
          <a:prstGeom prst="rect">
            <a:avLst/>
          </a:prstGeom>
          <a:noFill/>
          <a:ln/>
        </p:spPr>
        <p:txBody>
          <a:bodyPr wrap="square" lIns="0" tIns="0" rIns="0" bIns="0" rtlCol="0" anchor="ctr"/>
          <a:lstStyle/>
          <a:p>
            <a:pPr algn="l" indent="0" marL="0">
              <a:buNone/>
            </a:pPr>
            <a:r>
              <a:rPr lang="en-US" sz="1050" dirty="0">
                <a:solidFill>
                  <a:srgbClr val="FFFFFF"/>
                </a:solidFill>
                <a:latin typeface="Google Sans" pitchFamily="34" charset="0"/>
                <a:ea typeface="Google Sans" pitchFamily="34" charset="-122"/>
                <a:cs typeface="Google Sans" pitchFamily="34" charset="-120"/>
              </a:rPr>
              <a:t>non-mobile, the highest of any major Southeast Asian market</a:t>
            </a:r>
            <a:endParaRPr lang="en-US" sz="1050" dirty="0"/>
          </a:p>
        </p:txBody>
      </p:sp>
      <p:sp>
        <p:nvSpPr>
          <p:cNvPr id="38" name="Text 36"/>
          <p:cNvSpPr txBox="1"/>
          <p:nvPr/>
        </p:nvSpPr>
        <p:spPr>
          <a:xfrm>
            <a:off x="6565392" y="5148072"/>
            <a:ext cx="4730191" cy="548640"/>
          </a:xfrm>
          <a:prstGeom prst="rect">
            <a:avLst/>
          </a:prstGeom>
          <a:noFill/>
          <a:ln/>
        </p:spPr>
        <p:txBody>
          <a:bodyPr wrap="square" lIns="0" tIns="0" rIns="0" bIns="0" rtlCol="0" anchor="t"/>
          <a:lstStyle/>
          <a:p>
            <a:pPr algn="l" indent="0" marL="0">
              <a:lnSpc>
                <a:spcPct val="110000"/>
              </a:lnSpc>
              <a:buNone/>
            </a:pPr>
            <a:r>
              <a:rPr lang="en-US" sz="950" dirty="0">
                <a:solidFill>
                  <a:srgbClr val="9E9E9E"/>
                </a:solidFill>
                <a:latin typeface="Google Sans" pitchFamily="34" charset="0"/>
                <a:ea typeface="Google Sans" pitchFamily="34" charset="-122"/>
                <a:cs typeface="Google Sans" pitchFamily="34" charset="-120"/>
              </a:rPr>
              <a:t>The PC and console habit traces to Thailand's internet cafe and LAN shop heritage, and those players carry higher purchasing power and lean more competitive.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566928"/>
          </a:xfrm>
          <a:prstGeom prst="rect">
            <a:avLst/>
          </a:prstGeom>
          <a:noFill/>
          <a:ln/>
        </p:spPr>
        <p:txBody>
          <a:bodyPr wrap="square" lIns="0" tIns="0" rIns="0" bIns="0" rtlCol="0" anchor="ctr"/>
          <a:lstStyle/>
          <a:p>
            <a:pPr algn="l" indent="0" marL="0">
              <a:buNone/>
            </a:pPr>
            <a:r>
              <a:rPr lang="en-US" sz="2900" b="1" dirty="0">
                <a:solidFill>
                  <a:srgbClr val="FFFFFF"/>
                </a:solidFill>
                <a:latin typeface="Google Sans" pitchFamily="34" charset="0"/>
                <a:ea typeface="Google Sans" pitchFamily="34" charset="-122"/>
                <a:cs typeface="Google Sans" pitchFamily="34" charset="-120"/>
              </a:rPr>
              <a:t>Garena owns RoV, and the creator pipeline</a:t>
            </a:r>
            <a:endParaRPr lang="en-US" sz="2900" dirty="0"/>
          </a:p>
        </p:txBody>
      </p:sp>
      <p:sp>
        <p:nvSpPr>
          <p:cNvPr id="3" name="Text 1"/>
          <p:cNvSpPr txBox="1"/>
          <p:nvPr/>
        </p:nvSpPr>
        <p:spPr>
          <a:xfrm>
            <a:off x="640080" y="1225296"/>
            <a:ext cx="10911535" cy="310896"/>
          </a:xfrm>
          <a:prstGeom prst="rect">
            <a:avLst/>
          </a:prstGeom>
          <a:noFill/>
          <a:ln/>
        </p:spPr>
        <p:txBody>
          <a:bodyPr wrap="square" lIns="0" tIns="0" rIns="0" bIns="0" rtlCol="0" anchor="ctr"/>
          <a:lstStyle/>
          <a:p>
            <a:pPr algn="l" indent="0" marL="0">
              <a:buNone/>
            </a:pPr>
            <a:r>
              <a:rPr lang="en-US" sz="1400" dirty="0">
                <a:solidFill>
                  <a:srgbClr val="9E9E9E"/>
                </a:solidFill>
                <a:latin typeface="Google Sans" pitchFamily="34" charset="0"/>
                <a:ea typeface="Google Sans" pitchFamily="34" charset="-122"/>
                <a:cs typeface="Google Sans" pitchFamily="34" charset="-120"/>
              </a:rPr>
              <a:t>the competitive picture VNG is planning into.</a:t>
            </a:r>
            <a:endParaRPr lang="en-US" sz="1400" dirty="0"/>
          </a:p>
        </p:txBody>
      </p:sp>
      <p:sp>
        <p:nvSpPr>
          <p:cNvPr id="4" name="Shape 2"/>
          <p:cNvSpPr/>
          <p:nvPr/>
        </p:nvSpPr>
        <p:spPr>
          <a:xfrm>
            <a:off x="640080" y="6163056"/>
            <a:ext cx="10911535" cy="402336"/>
          </a:xfrm>
          <a:prstGeom prst="roundRect">
            <a:avLst>
              <a:gd name="adj" fmla="val 13636"/>
            </a:avLst>
          </a:prstGeom>
          <a:solidFill>
            <a:srgbClr val="161616"/>
          </a:solidFill>
          <a:ln w="12700">
            <a:solidFill>
              <a:srgbClr val="232323"/>
            </a:solidFill>
            <a:prstDash val="solid"/>
          </a:ln>
        </p:spPr>
      </p:sp>
      <p:sp>
        <p:nvSpPr>
          <p:cNvPr id="5" name="Shape 3"/>
          <p:cNvSpPr/>
          <p:nvPr/>
        </p:nvSpPr>
        <p:spPr>
          <a:xfrm>
            <a:off x="786384" y="6263640"/>
            <a:ext cx="82296" cy="201168"/>
          </a:xfrm>
          <a:prstGeom prst="rect">
            <a:avLst/>
          </a:prstGeom>
          <a:solidFill>
            <a:srgbClr val="FF0033"/>
          </a:solidFill>
          <a:ln w="12700">
            <a:solidFill>
              <a:srgbClr val="FF0033"/>
            </a:solidFill>
            <a:prstDash val="solid"/>
          </a:ln>
        </p:spPr>
      </p:sp>
      <p:sp>
        <p:nvSpPr>
          <p:cNvPr id="6" name="Text 4"/>
          <p:cNvSpPr txBox="1"/>
          <p:nvPr/>
        </p:nvSpPr>
        <p:spPr>
          <a:xfrm>
            <a:off x="987552" y="6163056"/>
            <a:ext cx="10417759" cy="402336"/>
          </a:xfrm>
          <a:prstGeom prst="rect">
            <a:avLst/>
          </a:prstGeom>
          <a:noFill/>
          <a:ln/>
        </p:spPr>
        <p:txBody>
          <a:bodyPr wrap="square" lIns="0" tIns="0" rIns="0" bIns="0" rtlCol="0" anchor="ctr"/>
          <a:lstStyle/>
          <a:p>
            <a:pPr algn="l" indent="0" marL="0">
              <a:buNone/>
            </a:pPr>
            <a:r>
              <a:rPr lang="en-US" sz="950" dirty="0">
                <a:solidFill>
                  <a:srgbClr val="6E6E6E"/>
                </a:solidFill>
                <a:latin typeface="Google Sans" pitchFamily="34" charset="0"/>
                <a:ea typeface="Google Sans" pitchFamily="34" charset="-122"/>
                <a:cs typeface="Google Sans" pitchFamily="34" charset="-120"/>
              </a:rPr>
              <a:t>Source: Digital in Asia, July 2026. MG Crystal Trophy, April 2026. Garena RoV Thailand official Facebook, 2026.</a:t>
            </a:r>
            <a:endParaRPr lang="en-US" sz="950" dirty="0"/>
          </a:p>
        </p:txBody>
      </p:sp>
      <p:sp>
        <p:nvSpPr>
          <p:cNvPr id="7" name="Shape 5"/>
          <p:cNvSpPr/>
          <p:nvPr/>
        </p:nvSpPr>
        <p:spPr>
          <a:xfrm>
            <a:off x="640080" y="1874520"/>
            <a:ext cx="6949440" cy="3017520"/>
          </a:xfrm>
          <a:prstGeom prst="roundRect">
            <a:avLst>
              <a:gd name="adj" fmla="val 1818"/>
            </a:avLst>
          </a:prstGeom>
          <a:solidFill>
            <a:srgbClr val="161616"/>
          </a:solidFill>
          <a:ln w="12700">
            <a:solidFill>
              <a:srgbClr val="232323"/>
            </a:solidFill>
            <a:prstDash val="solid"/>
          </a:ln>
        </p:spPr>
      </p:sp>
      <p:sp>
        <p:nvSpPr>
          <p:cNvPr id="8" name="Shape 6"/>
          <p:cNvSpPr/>
          <p:nvPr/>
        </p:nvSpPr>
        <p:spPr>
          <a:xfrm>
            <a:off x="896112" y="2057400"/>
            <a:ext cx="960120" cy="256032"/>
          </a:xfrm>
          <a:prstGeom prst="roundRect">
            <a:avLst>
              <a:gd name="adj" fmla="val 21429"/>
            </a:avLst>
          </a:prstGeom>
          <a:solidFill>
            <a:srgbClr val="202020"/>
          </a:solidFill>
          <a:ln w="12700">
            <a:solidFill>
              <a:srgbClr val="2E2E2E"/>
            </a:solidFill>
            <a:prstDash val="solid"/>
          </a:ln>
        </p:spPr>
      </p:sp>
      <p:sp>
        <p:nvSpPr>
          <p:cNvPr id="9" name="Text 7"/>
          <p:cNvSpPr txBox="1"/>
          <p:nvPr/>
        </p:nvSpPr>
        <p:spPr>
          <a:xfrm>
            <a:off x="896112" y="2057400"/>
            <a:ext cx="960120" cy="256032"/>
          </a:xfrm>
          <a:prstGeom prst="rect">
            <a:avLst/>
          </a:prstGeom>
          <a:noFill/>
          <a:ln/>
        </p:spPr>
        <p:txBody>
          <a:bodyPr wrap="square" lIns="0" tIns="0" rIns="0" bIns="0" rtlCol="0" anchor="ctr"/>
          <a:lstStyle/>
          <a:p>
            <a:pPr algn="ctr" indent="0" marL="0">
              <a:buNone/>
            </a:pPr>
            <a:r>
              <a:rPr lang="en-US" sz="900" b="1" dirty="0">
                <a:solidFill>
                  <a:srgbClr val="8A8A8A"/>
                </a:solidFill>
                <a:latin typeface="Google Sans" pitchFamily="34" charset="0"/>
                <a:ea typeface="Google Sans" pitchFamily="34" charset="-122"/>
                <a:cs typeface="Google Sans" pitchFamily="34" charset="-120"/>
              </a:rPr>
              <a:t>Competitor</a:t>
            </a:r>
            <a:endParaRPr lang="en-US" sz="900" dirty="0"/>
          </a:p>
        </p:txBody>
      </p:sp>
      <p:sp>
        <p:nvSpPr>
          <p:cNvPr id="10" name="Shape 8"/>
          <p:cNvSpPr/>
          <p:nvPr/>
        </p:nvSpPr>
        <p:spPr>
          <a:xfrm>
            <a:off x="896112" y="2523744"/>
            <a:ext cx="82296" cy="192024"/>
          </a:xfrm>
          <a:prstGeom prst="rect">
            <a:avLst/>
          </a:prstGeom>
          <a:solidFill>
            <a:srgbClr val="4A4A4A"/>
          </a:solidFill>
          <a:ln w="12700">
            <a:solidFill>
              <a:srgbClr val="4A4A4A"/>
            </a:solidFill>
            <a:prstDash val="solid"/>
          </a:ln>
        </p:spPr>
      </p:sp>
      <p:sp>
        <p:nvSpPr>
          <p:cNvPr id="11" name="Text 9"/>
          <p:cNvSpPr txBox="1"/>
          <p:nvPr/>
        </p:nvSpPr>
        <p:spPr>
          <a:xfrm>
            <a:off x="1069848" y="2468880"/>
            <a:ext cx="6263640" cy="237744"/>
          </a:xfrm>
          <a:prstGeom prst="rect">
            <a:avLst/>
          </a:prstGeom>
          <a:noFill/>
          <a:ln/>
        </p:spPr>
        <p:txBody>
          <a:bodyPr wrap="square" lIns="0" tIns="0" rIns="0" bIns="0" rtlCol="0" anchor="t"/>
          <a:lstStyle/>
          <a:p>
            <a:pPr algn="l" indent="0" marL="0">
              <a:buNone/>
            </a:pPr>
            <a:r>
              <a:rPr lang="en-US" sz="1300" b="1" dirty="0">
                <a:solidFill>
                  <a:srgbClr val="FFFFFF"/>
                </a:solidFill>
                <a:latin typeface="Google Sans" pitchFamily="34" charset="0"/>
                <a:ea typeface="Google Sans" pitchFamily="34" charset="-122"/>
                <a:cs typeface="Google Sans" pitchFamily="34" charset="-120"/>
              </a:rPr>
              <a:t>Arena of Valor, known locally as RoV</a:t>
            </a:r>
            <a:endParaRPr lang="en-US" sz="1300" dirty="0"/>
          </a:p>
        </p:txBody>
      </p:sp>
      <p:sp>
        <p:nvSpPr>
          <p:cNvPr id="12" name="Text 10"/>
          <p:cNvSpPr txBox="1"/>
          <p:nvPr/>
        </p:nvSpPr>
        <p:spPr>
          <a:xfrm>
            <a:off x="896112" y="2743200"/>
            <a:ext cx="6437376" cy="493776"/>
          </a:xfrm>
          <a:prstGeom prst="rect">
            <a:avLst/>
          </a:prstGeom>
          <a:noFill/>
          <a:ln/>
        </p:spPr>
        <p:txBody>
          <a:bodyPr wrap="square" lIns="0" tIns="0" rIns="0" bIns="0" rtlCol="0" anchor="t"/>
          <a:lstStyle/>
          <a:p>
            <a:pPr algn="l" indent="0" marL="0">
              <a:lnSpc>
                <a:spcPct val="112000"/>
              </a:lnSpc>
              <a:buNone/>
            </a:pPr>
            <a:r>
              <a:rPr lang="en-US" sz="1000" dirty="0">
                <a:solidFill>
                  <a:srgbClr val="9E9E9E"/>
                </a:solidFill>
                <a:latin typeface="Google Sans" pitchFamily="34" charset="0"/>
                <a:ea typeface="Google Sans" pitchFamily="34" charset="-122"/>
                <a:cs typeface="Google Sans" pitchFamily="34" charset="-120"/>
              </a:rPr>
              <a:t>Published by Garena and culturally embedded in Thailand in a way it is not anywhere else in the region, anchored by a national pro league running since 2018. Most of Southeast Asia crowns Mobile Legends. Thailand belongs to RoV.</a:t>
            </a:r>
            <a:endParaRPr lang="en-US" sz="1000" dirty="0"/>
          </a:p>
        </p:txBody>
      </p:sp>
      <p:sp>
        <p:nvSpPr>
          <p:cNvPr id="13" name="Shape 11"/>
          <p:cNvSpPr/>
          <p:nvPr/>
        </p:nvSpPr>
        <p:spPr>
          <a:xfrm>
            <a:off x="896112" y="3438144"/>
            <a:ext cx="82296" cy="192024"/>
          </a:xfrm>
          <a:prstGeom prst="rect">
            <a:avLst/>
          </a:prstGeom>
          <a:solidFill>
            <a:srgbClr val="4A4A4A"/>
          </a:solidFill>
          <a:ln w="12700">
            <a:solidFill>
              <a:srgbClr val="4A4A4A"/>
            </a:solidFill>
            <a:prstDash val="solid"/>
          </a:ln>
        </p:spPr>
      </p:sp>
      <p:sp>
        <p:nvSpPr>
          <p:cNvPr id="14" name="Text 12"/>
          <p:cNvSpPr txBox="1"/>
          <p:nvPr/>
        </p:nvSpPr>
        <p:spPr>
          <a:xfrm>
            <a:off x="1069848" y="3383280"/>
            <a:ext cx="6263640" cy="237744"/>
          </a:xfrm>
          <a:prstGeom prst="rect">
            <a:avLst/>
          </a:prstGeom>
          <a:noFill/>
          <a:ln/>
        </p:spPr>
        <p:txBody>
          <a:bodyPr wrap="square" lIns="0" tIns="0" rIns="0" bIns="0" rtlCol="0" anchor="t"/>
          <a:lstStyle/>
          <a:p>
            <a:pPr algn="l" indent="0" marL="0">
              <a:buNone/>
            </a:pPr>
            <a:r>
              <a:rPr lang="en-US" sz="1300" b="1" dirty="0">
                <a:solidFill>
                  <a:srgbClr val="FFFFFF"/>
                </a:solidFill>
                <a:latin typeface="Google Sans" pitchFamily="34" charset="0"/>
                <a:ea typeface="Google Sans" pitchFamily="34" charset="-122"/>
                <a:cs typeface="Google Sans" pitchFamily="34" charset="-120"/>
              </a:rPr>
              <a:t>A 3-title publishing position</a:t>
            </a:r>
            <a:endParaRPr lang="en-US" sz="1300" dirty="0"/>
          </a:p>
        </p:txBody>
      </p:sp>
      <p:sp>
        <p:nvSpPr>
          <p:cNvPr id="15" name="Text 13"/>
          <p:cNvSpPr txBox="1"/>
          <p:nvPr/>
        </p:nvSpPr>
        <p:spPr>
          <a:xfrm>
            <a:off x="896112" y="3657600"/>
            <a:ext cx="6437376" cy="219456"/>
          </a:xfrm>
          <a:prstGeom prst="rect">
            <a:avLst/>
          </a:prstGeom>
          <a:noFill/>
          <a:ln/>
        </p:spPr>
        <p:txBody>
          <a:bodyPr wrap="square" lIns="0" tIns="0" rIns="0" bIns="0" rtlCol="0" anchor="t"/>
          <a:lstStyle/>
          <a:p>
            <a:pPr algn="l" indent="0" marL="0">
              <a:lnSpc>
                <a:spcPct val="112000"/>
              </a:lnSpc>
              <a:buNone/>
            </a:pPr>
            <a:r>
              <a:rPr lang="en-US" sz="1000" dirty="0">
                <a:solidFill>
                  <a:srgbClr val="9E9E9E"/>
                </a:solidFill>
                <a:latin typeface="Google Sans" pitchFamily="34" charset="0"/>
                <a:ea typeface="Google Sans" pitchFamily="34" charset="-122"/>
                <a:cs typeface="Google Sans" pitchFamily="34" charset="-120"/>
              </a:rPr>
              <a:t>Garena also publishes Free Fire and Call of Duty Mobile and runs the flagship league.</a:t>
            </a:r>
            <a:endParaRPr lang="en-US" sz="1000" dirty="0"/>
          </a:p>
        </p:txBody>
      </p:sp>
      <p:sp>
        <p:nvSpPr>
          <p:cNvPr id="16" name="Shape 14"/>
          <p:cNvSpPr/>
          <p:nvPr/>
        </p:nvSpPr>
        <p:spPr>
          <a:xfrm>
            <a:off x="896112" y="4078224"/>
            <a:ext cx="82296" cy="192024"/>
          </a:xfrm>
          <a:prstGeom prst="rect">
            <a:avLst/>
          </a:prstGeom>
          <a:solidFill>
            <a:srgbClr val="4A4A4A"/>
          </a:solidFill>
          <a:ln w="12700">
            <a:solidFill>
              <a:srgbClr val="4A4A4A"/>
            </a:solidFill>
            <a:prstDash val="solid"/>
          </a:ln>
        </p:spPr>
      </p:sp>
      <p:sp>
        <p:nvSpPr>
          <p:cNvPr id="17" name="Text 15"/>
          <p:cNvSpPr txBox="1"/>
          <p:nvPr/>
        </p:nvSpPr>
        <p:spPr>
          <a:xfrm>
            <a:off x="1069848" y="4023360"/>
            <a:ext cx="6263640" cy="237744"/>
          </a:xfrm>
          <a:prstGeom prst="rect">
            <a:avLst/>
          </a:prstGeom>
          <a:noFill/>
          <a:ln/>
        </p:spPr>
        <p:txBody>
          <a:bodyPr wrap="square" lIns="0" tIns="0" rIns="0" bIns="0" rtlCol="0" anchor="t"/>
          <a:lstStyle/>
          <a:p>
            <a:pPr algn="l" indent="0" marL="0">
              <a:buNone/>
            </a:pPr>
            <a:r>
              <a:rPr lang="en-US" sz="1300" b="1" dirty="0">
                <a:solidFill>
                  <a:srgbClr val="FFFFFF"/>
                </a:solidFill>
                <a:latin typeface="Google Sans" pitchFamily="34" charset="0"/>
                <a:ea typeface="Google Sans" pitchFamily="34" charset="-122"/>
                <a:cs typeface="Google Sans" pitchFamily="34" charset="-120"/>
              </a:rPr>
              <a:t>An owned creator pipeline, not campaign bookings</a:t>
            </a:r>
            <a:endParaRPr lang="en-US" sz="1300" dirty="0"/>
          </a:p>
        </p:txBody>
      </p:sp>
      <p:sp>
        <p:nvSpPr>
          <p:cNvPr id="18" name="Text 16"/>
          <p:cNvSpPr txBox="1"/>
          <p:nvPr/>
        </p:nvSpPr>
        <p:spPr>
          <a:xfrm>
            <a:off x="896112" y="4297680"/>
            <a:ext cx="6437376" cy="365760"/>
          </a:xfrm>
          <a:prstGeom prst="rect">
            <a:avLst/>
          </a:prstGeom>
          <a:noFill/>
          <a:ln/>
        </p:spPr>
        <p:txBody>
          <a:bodyPr wrap="square" lIns="0" tIns="0" rIns="0" bIns="0" rtlCol="0" anchor="t"/>
          <a:lstStyle/>
          <a:p>
            <a:pPr algn="l" indent="0" marL="0">
              <a:lnSpc>
                <a:spcPct val="112000"/>
              </a:lnSpc>
              <a:buNone/>
            </a:pPr>
            <a:r>
              <a:rPr lang="en-US" sz="1000" dirty="0">
                <a:solidFill>
                  <a:srgbClr val="9E9E9E"/>
                </a:solidFill>
                <a:latin typeface="Google Sans" pitchFamily="34" charset="0"/>
                <a:ea typeface="Google Sans" pitchFamily="34" charset="-122"/>
                <a:cs typeface="Google Sans" pitchFamily="34" charset="-120"/>
              </a:rPr>
              <a:t>Garena runs its own RoV Creator Club and a Creator Next Gen recruitment programme, building an owned creator pipeline rather than booking campaign by campaign.</a:t>
            </a:r>
            <a:endParaRPr lang="en-US" sz="1000" dirty="0"/>
          </a:p>
        </p:txBody>
      </p:sp>
      <p:sp>
        <p:nvSpPr>
          <p:cNvPr id="19" name="Shape 17"/>
          <p:cNvSpPr/>
          <p:nvPr/>
        </p:nvSpPr>
        <p:spPr>
          <a:xfrm>
            <a:off x="7863840" y="1874520"/>
            <a:ext cx="3687775" cy="1389888"/>
          </a:xfrm>
          <a:prstGeom prst="roundRect">
            <a:avLst>
              <a:gd name="adj" fmla="val 3947"/>
            </a:avLst>
          </a:prstGeom>
          <a:solidFill>
            <a:srgbClr val="161616"/>
          </a:solidFill>
          <a:ln w="12700">
            <a:solidFill>
              <a:srgbClr val="232323"/>
            </a:solidFill>
            <a:prstDash val="solid"/>
          </a:ln>
        </p:spPr>
      </p:sp>
      <p:sp>
        <p:nvSpPr>
          <p:cNvPr id="20" name="Shape 18"/>
          <p:cNvSpPr/>
          <p:nvPr/>
        </p:nvSpPr>
        <p:spPr>
          <a:xfrm>
            <a:off x="8119872" y="2121408"/>
            <a:ext cx="82296" cy="219456"/>
          </a:xfrm>
          <a:prstGeom prst="rect">
            <a:avLst/>
          </a:prstGeom>
          <a:solidFill>
            <a:srgbClr val="4A4A4A"/>
          </a:solidFill>
          <a:ln w="12700">
            <a:solidFill>
              <a:srgbClr val="4A4A4A"/>
            </a:solidFill>
            <a:prstDash val="solid"/>
          </a:ln>
        </p:spPr>
      </p:sp>
      <p:sp>
        <p:nvSpPr>
          <p:cNvPr id="21" name="Text 19"/>
          <p:cNvSpPr txBox="1"/>
          <p:nvPr/>
        </p:nvSpPr>
        <p:spPr>
          <a:xfrm>
            <a:off x="8293608" y="2039112"/>
            <a:ext cx="3001975"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Google Sans" pitchFamily="34" charset="0"/>
                <a:ea typeface="Google Sans" pitchFamily="34" charset="-122"/>
                <a:cs typeface="Google Sans" pitchFamily="34" charset="-120"/>
              </a:rPr>
              <a:t>278,951</a:t>
            </a:r>
            <a:endParaRPr lang="en-US" sz="2000" dirty="0"/>
          </a:p>
        </p:txBody>
      </p:sp>
      <p:sp>
        <p:nvSpPr>
          <p:cNvPr id="22" name="Text 20"/>
          <p:cNvSpPr txBox="1"/>
          <p:nvPr/>
        </p:nvSpPr>
        <p:spPr>
          <a:xfrm>
            <a:off x="8119872" y="2478024"/>
            <a:ext cx="3175711" cy="365760"/>
          </a:xfrm>
          <a:prstGeom prst="rect">
            <a:avLst/>
          </a:prstGeom>
          <a:noFill/>
          <a:ln/>
        </p:spPr>
        <p:txBody>
          <a:bodyPr wrap="square" lIns="0" tIns="0" rIns="0" bIns="0" rtlCol="0" anchor="t"/>
          <a:lstStyle/>
          <a:p>
            <a:pPr algn="l" indent="0" marL="0">
              <a:lnSpc>
                <a:spcPct val="110000"/>
              </a:lnSpc>
              <a:buNone/>
            </a:pPr>
            <a:r>
              <a:rPr lang="en-US" sz="1000" dirty="0">
                <a:solidFill>
                  <a:srgbClr val="9E9E9E"/>
                </a:solidFill>
                <a:latin typeface="Google Sans" pitchFamily="34" charset="0"/>
                <a:ea typeface="Google Sans" pitchFamily="34" charset="-122"/>
                <a:cs typeface="Google Sans" pitchFamily="34" charset="-120"/>
              </a:rPr>
              <a:t>peak concurrent viewers</a:t>
            </a:r>
            <a:endParaRPr lang="en-US" sz="1000" dirty="0"/>
          </a:p>
        </p:txBody>
      </p:sp>
      <p:sp>
        <p:nvSpPr>
          <p:cNvPr id="23" name="Text 21"/>
          <p:cNvSpPr txBox="1"/>
          <p:nvPr/>
        </p:nvSpPr>
        <p:spPr>
          <a:xfrm>
            <a:off x="8119872" y="2898648"/>
            <a:ext cx="3175711" cy="310896"/>
          </a:xfrm>
          <a:prstGeom prst="rect">
            <a:avLst/>
          </a:prstGeom>
          <a:noFill/>
          <a:ln/>
        </p:spPr>
        <p:txBody>
          <a:bodyPr wrap="square" lIns="0" tIns="0" rIns="0" bIns="0" rtlCol="0" anchor="t"/>
          <a:lstStyle/>
          <a:p>
            <a:pPr algn="l" indent="0" marL="0">
              <a:lnSpc>
                <a:spcPct val="105000"/>
              </a:lnSpc>
              <a:buNone/>
            </a:pPr>
            <a:r>
              <a:rPr lang="en-US" sz="950" dirty="0">
                <a:solidFill>
                  <a:srgbClr val="8A8A8A"/>
                </a:solidFill>
                <a:latin typeface="Google Sans" pitchFamily="34" charset="0"/>
                <a:ea typeface="Google Sans" pitchFamily="34" charset="-122"/>
                <a:cs typeface="Google Sans" pitchFamily="34" charset="-120"/>
              </a:rPr>
              <a:t>RoV Pro League 2025 Winter grand final, 26 October 2025, BITEC Bangna</a:t>
            </a:r>
            <a:endParaRPr lang="en-US" sz="950" dirty="0"/>
          </a:p>
        </p:txBody>
      </p:sp>
      <p:sp>
        <p:nvSpPr>
          <p:cNvPr id="24" name="Shape 22"/>
          <p:cNvSpPr/>
          <p:nvPr/>
        </p:nvSpPr>
        <p:spPr>
          <a:xfrm>
            <a:off x="7863840" y="3502152"/>
            <a:ext cx="3687775" cy="1389888"/>
          </a:xfrm>
          <a:prstGeom prst="roundRect">
            <a:avLst>
              <a:gd name="adj" fmla="val 3947"/>
            </a:avLst>
          </a:prstGeom>
          <a:solidFill>
            <a:srgbClr val="161616"/>
          </a:solidFill>
          <a:ln w="12700">
            <a:solidFill>
              <a:srgbClr val="232323"/>
            </a:solidFill>
            <a:prstDash val="solid"/>
          </a:ln>
        </p:spPr>
      </p:sp>
      <p:sp>
        <p:nvSpPr>
          <p:cNvPr id="25" name="Shape 23"/>
          <p:cNvSpPr/>
          <p:nvPr/>
        </p:nvSpPr>
        <p:spPr>
          <a:xfrm>
            <a:off x="8119872" y="3749040"/>
            <a:ext cx="82296" cy="219456"/>
          </a:xfrm>
          <a:prstGeom prst="rect">
            <a:avLst/>
          </a:prstGeom>
          <a:solidFill>
            <a:srgbClr val="4A4A4A"/>
          </a:solidFill>
          <a:ln w="12700">
            <a:solidFill>
              <a:srgbClr val="4A4A4A"/>
            </a:solidFill>
            <a:prstDash val="solid"/>
          </a:ln>
        </p:spPr>
      </p:sp>
      <p:sp>
        <p:nvSpPr>
          <p:cNvPr id="26" name="Text 24"/>
          <p:cNvSpPr txBox="1"/>
          <p:nvPr/>
        </p:nvSpPr>
        <p:spPr>
          <a:xfrm>
            <a:off x="8293608" y="3666744"/>
            <a:ext cx="3001975" cy="384048"/>
          </a:xfrm>
          <a:prstGeom prst="rect">
            <a:avLst/>
          </a:prstGeom>
          <a:noFill/>
          <a:ln/>
        </p:spPr>
        <p:txBody>
          <a:bodyPr wrap="square" lIns="0" tIns="0" rIns="0" bIns="0" rtlCol="0" anchor="ctr"/>
          <a:lstStyle/>
          <a:p>
            <a:pPr algn="l" indent="0" marL="0">
              <a:buNone/>
            </a:pPr>
            <a:r>
              <a:rPr lang="en-US" sz="2000" b="1" dirty="0">
                <a:solidFill>
                  <a:srgbClr val="FFFFFF"/>
                </a:solidFill>
                <a:latin typeface="Google Sans" pitchFamily="34" charset="0"/>
                <a:ea typeface="Google Sans" pitchFamily="34" charset="-122"/>
                <a:cs typeface="Google Sans" pitchFamily="34" charset="-120"/>
              </a:rPr>
              <a:t>742,342</a:t>
            </a:r>
            <a:endParaRPr lang="en-US" sz="2000" dirty="0"/>
          </a:p>
        </p:txBody>
      </p:sp>
      <p:sp>
        <p:nvSpPr>
          <p:cNvPr id="27" name="Text 25"/>
          <p:cNvSpPr txBox="1"/>
          <p:nvPr/>
        </p:nvSpPr>
        <p:spPr>
          <a:xfrm>
            <a:off x="8119872" y="4105656"/>
            <a:ext cx="3175711" cy="365760"/>
          </a:xfrm>
          <a:prstGeom prst="rect">
            <a:avLst/>
          </a:prstGeom>
          <a:noFill/>
          <a:ln/>
        </p:spPr>
        <p:txBody>
          <a:bodyPr wrap="square" lIns="0" tIns="0" rIns="0" bIns="0" rtlCol="0" anchor="t"/>
          <a:lstStyle/>
          <a:p>
            <a:pPr algn="l" indent="0" marL="0">
              <a:lnSpc>
                <a:spcPct val="110000"/>
              </a:lnSpc>
              <a:buNone/>
            </a:pPr>
            <a:r>
              <a:rPr lang="en-US" sz="1000" dirty="0">
                <a:solidFill>
                  <a:srgbClr val="9E9E9E"/>
                </a:solidFill>
                <a:latin typeface="Google Sans" pitchFamily="34" charset="0"/>
                <a:ea typeface="Google Sans" pitchFamily="34" charset="-122"/>
                <a:cs typeface="Google Sans" pitchFamily="34" charset="-120"/>
              </a:rPr>
              <a:t>peak concurrent viewers and over 21 million hours watched</a:t>
            </a:r>
            <a:endParaRPr lang="en-US" sz="1000" dirty="0"/>
          </a:p>
        </p:txBody>
      </p:sp>
      <p:sp>
        <p:nvSpPr>
          <p:cNvPr id="28" name="Text 26"/>
          <p:cNvSpPr txBox="1"/>
          <p:nvPr/>
        </p:nvSpPr>
        <p:spPr>
          <a:xfrm>
            <a:off x="8119872" y="4526280"/>
            <a:ext cx="3175711" cy="310896"/>
          </a:xfrm>
          <a:prstGeom prst="rect">
            <a:avLst/>
          </a:prstGeom>
          <a:noFill/>
          <a:ln/>
        </p:spPr>
        <p:txBody>
          <a:bodyPr wrap="square" lIns="0" tIns="0" rIns="0" bIns="0" rtlCol="0" anchor="t"/>
          <a:lstStyle/>
          <a:p>
            <a:pPr algn="l" indent="0" marL="0">
              <a:lnSpc>
                <a:spcPct val="105000"/>
              </a:lnSpc>
              <a:buNone/>
            </a:pPr>
            <a:r>
              <a:rPr lang="en-US" sz="950" dirty="0">
                <a:solidFill>
                  <a:srgbClr val="8A8A8A"/>
                </a:solidFill>
                <a:latin typeface="Google Sans" pitchFamily="34" charset="0"/>
                <a:ea typeface="Google Sans" pitchFamily="34" charset="-122"/>
                <a:cs typeface="Google Sans" pitchFamily="34" charset="-120"/>
              </a:rPr>
              <a:t>AIC 2025</a:t>
            </a:r>
            <a:endParaRPr lang="en-US" sz="950" dirty="0"/>
          </a:p>
        </p:txBody>
      </p:sp>
      <p:sp>
        <p:nvSpPr>
          <p:cNvPr id="29" name="Shape 27"/>
          <p:cNvSpPr/>
          <p:nvPr/>
        </p:nvSpPr>
        <p:spPr>
          <a:xfrm>
            <a:off x="640080" y="5166360"/>
            <a:ext cx="10911535" cy="722376"/>
          </a:xfrm>
          <a:prstGeom prst="roundRect">
            <a:avLst>
              <a:gd name="adj" fmla="val 7595"/>
            </a:avLst>
          </a:prstGeom>
          <a:solidFill>
            <a:srgbClr val="161616"/>
          </a:solidFill>
          <a:ln w="12700">
            <a:solidFill>
              <a:srgbClr val="232323"/>
            </a:solidFill>
            <a:prstDash val="solid"/>
          </a:ln>
        </p:spPr>
      </p:sp>
      <p:sp>
        <p:nvSpPr>
          <p:cNvPr id="30" name="Shape 28"/>
          <p:cNvSpPr/>
          <p:nvPr/>
        </p:nvSpPr>
        <p:spPr>
          <a:xfrm>
            <a:off x="896112" y="5422392"/>
            <a:ext cx="82296" cy="219456"/>
          </a:xfrm>
          <a:prstGeom prst="rect">
            <a:avLst/>
          </a:prstGeom>
          <a:solidFill>
            <a:srgbClr val="FF0033"/>
          </a:solidFill>
          <a:ln w="12700">
            <a:solidFill>
              <a:srgbClr val="FF0033"/>
            </a:solidFill>
            <a:prstDash val="solid"/>
          </a:ln>
        </p:spPr>
      </p:sp>
      <p:sp>
        <p:nvSpPr>
          <p:cNvPr id="31" name="Text 29"/>
          <p:cNvSpPr txBox="1"/>
          <p:nvPr/>
        </p:nvSpPr>
        <p:spPr>
          <a:xfrm>
            <a:off x="1069848" y="5257800"/>
            <a:ext cx="10225735" cy="539496"/>
          </a:xfrm>
          <a:prstGeom prst="rect">
            <a:avLst/>
          </a:prstGeom>
          <a:noFill/>
          <a:ln/>
        </p:spPr>
        <p:txBody>
          <a:bodyPr wrap="square" lIns="0" tIns="0" rIns="0" bIns="0" rtlCol="0" anchor="ctr"/>
          <a:lstStyle/>
          <a:p>
            <a:pPr algn="l" indent="0" marL="0">
              <a:lnSpc>
                <a:spcPct val="110000"/>
              </a:lnSpc>
              <a:buNone/>
            </a:pPr>
            <a:r>
              <a:rPr lang="en-US" sz="1150" b="1" dirty="0">
                <a:solidFill>
                  <a:srgbClr val="FF0033"/>
                </a:solidFill>
                <a:latin typeface="Google Sans" pitchFamily="34" charset="0"/>
                <a:ea typeface="Google Sans" pitchFamily="34" charset="-122"/>
                <a:cs typeface="Google Sans" pitchFamily="34" charset="-120"/>
              </a:rPr>
              <a:t>RoV culture cannot be rented. A Thai creator strategy for VNG has to be built on genres and creators Garena does not already own, and on relationships locked early enough that Garena's pipeline does not absorb them first.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566928"/>
          </a:xfrm>
          <a:prstGeom prst="rect">
            <a:avLst/>
          </a:prstGeom>
          <a:noFill/>
          <a:ln/>
        </p:spPr>
        <p:txBody>
          <a:bodyPr wrap="square" lIns="0" tIns="0" rIns="0" bIns="0" rtlCol="0" anchor="ctr"/>
          <a:lstStyle/>
          <a:p>
            <a:pPr algn="l" indent="0" marL="0">
              <a:buNone/>
            </a:pPr>
            <a:r>
              <a:rPr lang="en-US" sz="2900" b="1" dirty="0">
                <a:solidFill>
                  <a:srgbClr val="FFFFFF"/>
                </a:solidFill>
                <a:latin typeface="Google Sans" pitchFamily="34" charset="0"/>
                <a:ea typeface="Google Sans" pitchFamily="34" charset="-122"/>
                <a:cs typeface="Google Sans" pitchFamily="34" charset="-120"/>
              </a:rPr>
              <a:t>VNG's slate is aimed at the money, not the noise</a:t>
            </a:r>
            <a:endParaRPr lang="en-US" sz="2900" dirty="0"/>
          </a:p>
        </p:txBody>
      </p:sp>
      <p:sp>
        <p:nvSpPr>
          <p:cNvPr id="3" name="Text 1"/>
          <p:cNvSpPr txBox="1"/>
          <p:nvPr/>
        </p:nvSpPr>
        <p:spPr>
          <a:xfrm>
            <a:off x="640080" y="1225296"/>
            <a:ext cx="10911535" cy="310896"/>
          </a:xfrm>
          <a:prstGeom prst="rect">
            <a:avLst/>
          </a:prstGeom>
          <a:noFill/>
          <a:ln/>
        </p:spPr>
        <p:txBody>
          <a:bodyPr wrap="square" lIns="0" tIns="0" rIns="0" bIns="0" rtlCol="0" anchor="ctr"/>
          <a:lstStyle/>
          <a:p>
            <a:pPr algn="l" indent="0" marL="0">
              <a:buNone/>
            </a:pPr>
            <a:r>
              <a:rPr lang="en-US" sz="1400" dirty="0">
                <a:solidFill>
                  <a:srgbClr val="9E9E9E"/>
                </a:solidFill>
                <a:latin typeface="Google Sans" pitchFamily="34" charset="0"/>
                <a:ea typeface="Google Sans" pitchFamily="34" charset="-122"/>
                <a:cs typeface="Google Sans" pitchFamily="34" charset="-120"/>
              </a:rPr>
              <a:t>Thailand's download charts and its revenue charts are different charts.</a:t>
            </a:r>
            <a:endParaRPr lang="en-US" sz="1400" dirty="0"/>
          </a:p>
        </p:txBody>
      </p:sp>
      <p:sp>
        <p:nvSpPr>
          <p:cNvPr id="4" name="Shape 2"/>
          <p:cNvSpPr/>
          <p:nvPr/>
        </p:nvSpPr>
        <p:spPr>
          <a:xfrm>
            <a:off x="640080" y="6163056"/>
            <a:ext cx="10911535" cy="402336"/>
          </a:xfrm>
          <a:prstGeom prst="roundRect">
            <a:avLst>
              <a:gd name="adj" fmla="val 13636"/>
            </a:avLst>
          </a:prstGeom>
          <a:solidFill>
            <a:srgbClr val="161616"/>
          </a:solidFill>
          <a:ln w="12700">
            <a:solidFill>
              <a:srgbClr val="232323"/>
            </a:solidFill>
            <a:prstDash val="solid"/>
          </a:ln>
        </p:spPr>
      </p:sp>
      <p:sp>
        <p:nvSpPr>
          <p:cNvPr id="5" name="Shape 3"/>
          <p:cNvSpPr/>
          <p:nvPr/>
        </p:nvSpPr>
        <p:spPr>
          <a:xfrm>
            <a:off x="786384" y="6263640"/>
            <a:ext cx="82296" cy="201168"/>
          </a:xfrm>
          <a:prstGeom prst="rect">
            <a:avLst/>
          </a:prstGeom>
          <a:solidFill>
            <a:srgbClr val="FF0033"/>
          </a:solidFill>
          <a:ln w="12700">
            <a:solidFill>
              <a:srgbClr val="FF0033"/>
            </a:solidFill>
            <a:prstDash val="solid"/>
          </a:ln>
        </p:spPr>
      </p:sp>
      <p:sp>
        <p:nvSpPr>
          <p:cNvPr id="6" name="Text 4"/>
          <p:cNvSpPr txBox="1"/>
          <p:nvPr/>
        </p:nvSpPr>
        <p:spPr>
          <a:xfrm>
            <a:off x="987552" y="6163056"/>
            <a:ext cx="10417759" cy="402336"/>
          </a:xfrm>
          <a:prstGeom prst="rect">
            <a:avLst/>
          </a:prstGeom>
          <a:noFill/>
          <a:ln/>
        </p:spPr>
        <p:txBody>
          <a:bodyPr wrap="square" lIns="0" tIns="0" rIns="0" bIns="0" rtlCol="0" anchor="ctr"/>
          <a:lstStyle/>
          <a:p>
            <a:pPr algn="l" indent="0" marL="0">
              <a:buNone/>
            </a:pPr>
            <a:r>
              <a:rPr lang="en-US" sz="950" dirty="0">
                <a:solidFill>
                  <a:srgbClr val="6E6E6E"/>
                </a:solidFill>
                <a:latin typeface="Google Sans" pitchFamily="34" charset="0"/>
                <a:ea typeface="Google Sans" pitchFamily="34" charset="-122"/>
                <a:cs typeface="Google Sans" pitchFamily="34" charset="-120"/>
              </a:rPr>
              <a:t>Source: Sensor Tower via Digital in Asia, July 2026. VNGGames via Online Station, 15 October 2025. NCSOFT newsroom, 2024 and 2025.</a:t>
            </a:r>
            <a:endParaRPr lang="en-US" sz="950" dirty="0"/>
          </a:p>
        </p:txBody>
      </p:sp>
      <p:sp>
        <p:nvSpPr>
          <p:cNvPr id="7" name="Shape 5"/>
          <p:cNvSpPr/>
          <p:nvPr/>
        </p:nvSpPr>
        <p:spPr>
          <a:xfrm>
            <a:off x="640080" y="1874520"/>
            <a:ext cx="5318608" cy="1508760"/>
          </a:xfrm>
          <a:prstGeom prst="roundRect">
            <a:avLst>
              <a:gd name="adj" fmla="val 3636"/>
            </a:avLst>
          </a:prstGeom>
          <a:solidFill>
            <a:srgbClr val="161616"/>
          </a:solidFill>
          <a:ln w="12700">
            <a:solidFill>
              <a:srgbClr val="232323"/>
            </a:solidFill>
            <a:prstDash val="solid"/>
          </a:ln>
        </p:spPr>
      </p:sp>
      <p:sp>
        <p:nvSpPr>
          <p:cNvPr id="8" name="Shape 6"/>
          <p:cNvSpPr/>
          <p:nvPr/>
        </p:nvSpPr>
        <p:spPr>
          <a:xfrm>
            <a:off x="896112" y="2066544"/>
            <a:ext cx="82296" cy="192024"/>
          </a:xfrm>
          <a:prstGeom prst="rect">
            <a:avLst/>
          </a:prstGeom>
          <a:solidFill>
            <a:srgbClr val="4A4A4A"/>
          </a:solidFill>
          <a:ln w="12700">
            <a:solidFill>
              <a:srgbClr val="4A4A4A"/>
            </a:solidFill>
            <a:prstDash val="solid"/>
          </a:ln>
        </p:spPr>
      </p:sp>
      <p:sp>
        <p:nvSpPr>
          <p:cNvPr id="9" name="Text 7"/>
          <p:cNvSpPr txBox="1"/>
          <p:nvPr/>
        </p:nvSpPr>
        <p:spPr>
          <a:xfrm>
            <a:off x="1069848" y="2011680"/>
            <a:ext cx="4632808" cy="256032"/>
          </a:xfrm>
          <a:prstGeom prst="rect">
            <a:avLst/>
          </a:prstGeom>
          <a:noFill/>
          <a:ln/>
        </p:spPr>
        <p:txBody>
          <a:bodyPr wrap="square" lIns="0" tIns="0" rIns="0" bIns="0" rtlCol="0" anchor="t"/>
          <a:lstStyle/>
          <a:p>
            <a:pPr algn="l" indent="0" marL="0">
              <a:buNone/>
            </a:pPr>
            <a:r>
              <a:rPr lang="en-US" sz="1300" b="1" dirty="0">
                <a:solidFill>
                  <a:srgbClr val="FFFFFF"/>
                </a:solidFill>
                <a:latin typeface="Google Sans" pitchFamily="34" charset="0"/>
                <a:ea typeface="Google Sans" pitchFamily="34" charset="-122"/>
                <a:cs typeface="Google Sans" pitchFamily="34" charset="-120"/>
              </a:rPr>
              <a:t>Culture and downloads</a:t>
            </a:r>
            <a:endParaRPr lang="en-US" sz="1300" dirty="0"/>
          </a:p>
        </p:txBody>
      </p:sp>
      <p:sp>
        <p:nvSpPr>
          <p:cNvPr id="10" name="Text 8"/>
          <p:cNvSpPr txBox="1"/>
          <p:nvPr/>
        </p:nvSpPr>
        <p:spPr>
          <a:xfrm>
            <a:off x="896112" y="2286000"/>
            <a:ext cx="4806544" cy="201168"/>
          </a:xfrm>
          <a:prstGeom prst="rect">
            <a:avLst/>
          </a:prstGeom>
          <a:noFill/>
          <a:ln/>
        </p:spPr>
        <p:txBody>
          <a:bodyPr wrap="square" lIns="0" tIns="0" rIns="0" bIns="0" rtlCol="0" anchor="t"/>
          <a:lstStyle/>
          <a:p>
            <a:pPr algn="l" indent="0" marL="0">
              <a:buNone/>
            </a:pPr>
            <a:r>
              <a:rPr lang="en-US" sz="950" dirty="0">
                <a:solidFill>
                  <a:srgbClr val="8A8A8A"/>
                </a:solidFill>
                <a:latin typeface="Google Sans" pitchFamily="34" charset="0"/>
                <a:ea typeface="Google Sans" pitchFamily="34" charset="-122"/>
                <a:cs typeface="Google Sans" pitchFamily="34" charset="-120"/>
              </a:rPr>
              <a:t>Garena territory. High download volume.</a:t>
            </a:r>
            <a:endParaRPr lang="en-US" sz="950" dirty="0"/>
          </a:p>
        </p:txBody>
      </p:sp>
      <p:sp>
        <p:nvSpPr>
          <p:cNvPr id="11" name="Shape 9"/>
          <p:cNvSpPr/>
          <p:nvPr/>
        </p:nvSpPr>
        <p:spPr>
          <a:xfrm>
            <a:off x="896112" y="2523744"/>
            <a:ext cx="1516837" cy="310896"/>
          </a:xfrm>
          <a:prstGeom prst="roundRect">
            <a:avLst>
              <a:gd name="adj" fmla="val 17647"/>
            </a:avLst>
          </a:prstGeom>
          <a:solidFill>
            <a:srgbClr val="202020"/>
          </a:solidFill>
          <a:ln w="12700">
            <a:solidFill>
              <a:srgbClr val="2E2E2E"/>
            </a:solidFill>
            <a:prstDash val="solid"/>
          </a:ln>
        </p:spPr>
      </p:sp>
      <p:sp>
        <p:nvSpPr>
          <p:cNvPr id="12" name="Text 10"/>
          <p:cNvSpPr txBox="1"/>
          <p:nvPr/>
        </p:nvSpPr>
        <p:spPr>
          <a:xfrm>
            <a:off x="896112" y="2523744"/>
            <a:ext cx="1516837" cy="310896"/>
          </a:xfrm>
          <a:prstGeom prst="rect">
            <a:avLst/>
          </a:prstGeom>
          <a:noFill/>
          <a:ln/>
        </p:spPr>
        <p:txBody>
          <a:bodyPr wrap="square" lIns="0" tIns="0" rIns="0" bIns="0" rtlCol="0" anchor="ctr"/>
          <a:lstStyle/>
          <a:p>
            <a:pPr algn="ctr" indent="0" marL="0">
              <a:buNone/>
            </a:pPr>
            <a:r>
              <a:rPr lang="en-US" sz="950" b="1" dirty="0">
                <a:solidFill>
                  <a:srgbClr val="8A8A8A"/>
                </a:solidFill>
                <a:latin typeface="Google Sans" pitchFamily="34" charset="0"/>
                <a:ea typeface="Google Sans" pitchFamily="34" charset="-122"/>
                <a:cs typeface="Google Sans" pitchFamily="34" charset="-120"/>
              </a:rPr>
              <a:t>RoV</a:t>
            </a:r>
            <a:endParaRPr lang="en-US" sz="950" dirty="0"/>
          </a:p>
        </p:txBody>
      </p:sp>
      <p:sp>
        <p:nvSpPr>
          <p:cNvPr id="13" name="Shape 11"/>
          <p:cNvSpPr/>
          <p:nvPr/>
        </p:nvSpPr>
        <p:spPr>
          <a:xfrm>
            <a:off x="2540965" y="2523744"/>
            <a:ext cx="1516837" cy="310896"/>
          </a:xfrm>
          <a:prstGeom prst="roundRect">
            <a:avLst>
              <a:gd name="adj" fmla="val 17647"/>
            </a:avLst>
          </a:prstGeom>
          <a:solidFill>
            <a:srgbClr val="202020"/>
          </a:solidFill>
          <a:ln w="12700">
            <a:solidFill>
              <a:srgbClr val="2E2E2E"/>
            </a:solidFill>
            <a:prstDash val="solid"/>
          </a:ln>
        </p:spPr>
      </p:sp>
      <p:sp>
        <p:nvSpPr>
          <p:cNvPr id="14" name="Text 12"/>
          <p:cNvSpPr txBox="1"/>
          <p:nvPr/>
        </p:nvSpPr>
        <p:spPr>
          <a:xfrm>
            <a:off x="2540965" y="2523744"/>
            <a:ext cx="1516837" cy="310896"/>
          </a:xfrm>
          <a:prstGeom prst="rect">
            <a:avLst/>
          </a:prstGeom>
          <a:noFill/>
          <a:ln/>
        </p:spPr>
        <p:txBody>
          <a:bodyPr wrap="square" lIns="0" tIns="0" rIns="0" bIns="0" rtlCol="0" anchor="ctr"/>
          <a:lstStyle/>
          <a:p>
            <a:pPr algn="ctr" indent="0" marL="0">
              <a:buNone/>
            </a:pPr>
            <a:r>
              <a:rPr lang="en-US" sz="950" b="1" dirty="0">
                <a:solidFill>
                  <a:srgbClr val="8A8A8A"/>
                </a:solidFill>
                <a:latin typeface="Google Sans" pitchFamily="34" charset="0"/>
                <a:ea typeface="Google Sans" pitchFamily="34" charset="-122"/>
                <a:cs typeface="Google Sans" pitchFamily="34" charset="-120"/>
              </a:rPr>
              <a:t>Free Fire</a:t>
            </a:r>
            <a:endParaRPr lang="en-US" sz="950" dirty="0"/>
          </a:p>
        </p:txBody>
      </p:sp>
      <p:sp>
        <p:nvSpPr>
          <p:cNvPr id="15" name="Shape 13"/>
          <p:cNvSpPr/>
          <p:nvPr/>
        </p:nvSpPr>
        <p:spPr>
          <a:xfrm>
            <a:off x="4185818" y="2523744"/>
            <a:ext cx="1516837" cy="310896"/>
          </a:xfrm>
          <a:prstGeom prst="roundRect">
            <a:avLst>
              <a:gd name="adj" fmla="val 17647"/>
            </a:avLst>
          </a:prstGeom>
          <a:solidFill>
            <a:srgbClr val="202020"/>
          </a:solidFill>
          <a:ln w="12700">
            <a:solidFill>
              <a:srgbClr val="2E2E2E"/>
            </a:solidFill>
            <a:prstDash val="solid"/>
          </a:ln>
        </p:spPr>
      </p:sp>
      <p:sp>
        <p:nvSpPr>
          <p:cNvPr id="16" name="Text 14"/>
          <p:cNvSpPr txBox="1"/>
          <p:nvPr/>
        </p:nvSpPr>
        <p:spPr>
          <a:xfrm>
            <a:off x="4185818" y="2523744"/>
            <a:ext cx="1516837" cy="310896"/>
          </a:xfrm>
          <a:prstGeom prst="rect">
            <a:avLst/>
          </a:prstGeom>
          <a:noFill/>
          <a:ln/>
        </p:spPr>
        <p:txBody>
          <a:bodyPr wrap="square" lIns="0" tIns="0" rIns="0" bIns="0" rtlCol="0" anchor="ctr"/>
          <a:lstStyle/>
          <a:p>
            <a:pPr algn="ctr" indent="0" marL="0">
              <a:buNone/>
            </a:pPr>
            <a:r>
              <a:rPr lang="en-US" sz="950" b="1" dirty="0">
                <a:solidFill>
                  <a:srgbClr val="8A8A8A"/>
                </a:solidFill>
                <a:latin typeface="Google Sans" pitchFamily="34" charset="0"/>
                <a:ea typeface="Google Sans" pitchFamily="34" charset="-122"/>
                <a:cs typeface="Google Sans" pitchFamily="34" charset="-120"/>
              </a:rPr>
              <a:t>Mobile Legends</a:t>
            </a:r>
            <a:endParaRPr lang="en-US" sz="950" dirty="0"/>
          </a:p>
        </p:txBody>
      </p:sp>
      <p:sp>
        <p:nvSpPr>
          <p:cNvPr id="17" name="Shape 15"/>
          <p:cNvSpPr/>
          <p:nvPr/>
        </p:nvSpPr>
        <p:spPr>
          <a:xfrm>
            <a:off x="896112" y="2907792"/>
            <a:ext cx="1516837" cy="310896"/>
          </a:xfrm>
          <a:prstGeom prst="roundRect">
            <a:avLst>
              <a:gd name="adj" fmla="val 17647"/>
            </a:avLst>
          </a:prstGeom>
          <a:solidFill>
            <a:srgbClr val="202020"/>
          </a:solidFill>
          <a:ln w="12700">
            <a:solidFill>
              <a:srgbClr val="2E2E2E"/>
            </a:solidFill>
            <a:prstDash val="solid"/>
          </a:ln>
        </p:spPr>
      </p:sp>
      <p:sp>
        <p:nvSpPr>
          <p:cNvPr id="18" name="Text 16"/>
          <p:cNvSpPr txBox="1"/>
          <p:nvPr/>
        </p:nvSpPr>
        <p:spPr>
          <a:xfrm>
            <a:off x="896112" y="2907792"/>
            <a:ext cx="1516837" cy="310896"/>
          </a:xfrm>
          <a:prstGeom prst="rect">
            <a:avLst/>
          </a:prstGeom>
          <a:noFill/>
          <a:ln/>
        </p:spPr>
        <p:txBody>
          <a:bodyPr wrap="square" lIns="0" tIns="0" rIns="0" bIns="0" rtlCol="0" anchor="ctr"/>
          <a:lstStyle/>
          <a:p>
            <a:pPr algn="ctr" indent="0" marL="0">
              <a:buNone/>
            </a:pPr>
            <a:r>
              <a:rPr lang="en-US" sz="950" b="1" dirty="0">
                <a:solidFill>
                  <a:srgbClr val="8A8A8A"/>
                </a:solidFill>
                <a:latin typeface="Google Sans" pitchFamily="34" charset="0"/>
                <a:ea typeface="Google Sans" pitchFamily="34" charset="-122"/>
                <a:cs typeface="Google Sans" pitchFamily="34" charset="-120"/>
              </a:rPr>
              <a:t>PUBG Mobile</a:t>
            </a:r>
            <a:endParaRPr lang="en-US" sz="950" dirty="0"/>
          </a:p>
        </p:txBody>
      </p:sp>
      <p:sp>
        <p:nvSpPr>
          <p:cNvPr id="19" name="Shape 17"/>
          <p:cNvSpPr/>
          <p:nvPr/>
        </p:nvSpPr>
        <p:spPr>
          <a:xfrm>
            <a:off x="2540965" y="2907792"/>
            <a:ext cx="1516837" cy="310896"/>
          </a:xfrm>
          <a:prstGeom prst="roundRect">
            <a:avLst>
              <a:gd name="adj" fmla="val 17647"/>
            </a:avLst>
          </a:prstGeom>
          <a:solidFill>
            <a:srgbClr val="202020"/>
          </a:solidFill>
          <a:ln w="12700">
            <a:solidFill>
              <a:srgbClr val="2E2E2E"/>
            </a:solidFill>
            <a:prstDash val="solid"/>
          </a:ln>
        </p:spPr>
      </p:sp>
      <p:sp>
        <p:nvSpPr>
          <p:cNvPr id="20" name="Text 18"/>
          <p:cNvSpPr txBox="1"/>
          <p:nvPr/>
        </p:nvSpPr>
        <p:spPr>
          <a:xfrm>
            <a:off x="2540965" y="2907792"/>
            <a:ext cx="1516837" cy="310896"/>
          </a:xfrm>
          <a:prstGeom prst="rect">
            <a:avLst/>
          </a:prstGeom>
          <a:noFill/>
          <a:ln/>
        </p:spPr>
        <p:txBody>
          <a:bodyPr wrap="square" lIns="0" tIns="0" rIns="0" bIns="0" rtlCol="0" anchor="ctr"/>
          <a:lstStyle/>
          <a:p>
            <a:pPr algn="ctr" indent="0" marL="0">
              <a:buNone/>
            </a:pPr>
            <a:r>
              <a:rPr lang="en-US" sz="950" b="1" dirty="0">
                <a:solidFill>
                  <a:srgbClr val="8A8A8A"/>
                </a:solidFill>
                <a:latin typeface="Google Sans" pitchFamily="34" charset="0"/>
                <a:ea typeface="Google Sans" pitchFamily="34" charset="-122"/>
                <a:cs typeface="Google Sans" pitchFamily="34" charset="-120"/>
              </a:rPr>
              <a:t>Roblox</a:t>
            </a:r>
            <a:endParaRPr lang="en-US" sz="950" dirty="0"/>
          </a:p>
        </p:txBody>
      </p:sp>
      <p:sp>
        <p:nvSpPr>
          <p:cNvPr id="21" name="Shape 19"/>
          <p:cNvSpPr/>
          <p:nvPr/>
        </p:nvSpPr>
        <p:spPr>
          <a:xfrm>
            <a:off x="6233008" y="1874520"/>
            <a:ext cx="5318608" cy="1508760"/>
          </a:xfrm>
          <a:prstGeom prst="roundRect">
            <a:avLst>
              <a:gd name="adj" fmla="val 3636"/>
            </a:avLst>
          </a:prstGeom>
          <a:solidFill>
            <a:srgbClr val="161616"/>
          </a:solidFill>
          <a:ln w="12700">
            <a:solidFill>
              <a:srgbClr val="232323"/>
            </a:solidFill>
            <a:prstDash val="solid"/>
          </a:ln>
        </p:spPr>
      </p:sp>
      <p:sp>
        <p:nvSpPr>
          <p:cNvPr id="22" name="Shape 20"/>
          <p:cNvSpPr/>
          <p:nvPr/>
        </p:nvSpPr>
        <p:spPr>
          <a:xfrm>
            <a:off x="6489040" y="2066544"/>
            <a:ext cx="82296" cy="192024"/>
          </a:xfrm>
          <a:prstGeom prst="rect">
            <a:avLst/>
          </a:prstGeom>
          <a:solidFill>
            <a:srgbClr val="FF0033"/>
          </a:solidFill>
          <a:ln w="12700">
            <a:solidFill>
              <a:srgbClr val="FF0033"/>
            </a:solidFill>
            <a:prstDash val="solid"/>
          </a:ln>
        </p:spPr>
      </p:sp>
      <p:sp>
        <p:nvSpPr>
          <p:cNvPr id="23" name="Text 21"/>
          <p:cNvSpPr txBox="1"/>
          <p:nvPr/>
        </p:nvSpPr>
        <p:spPr>
          <a:xfrm>
            <a:off x="6662776" y="2011680"/>
            <a:ext cx="4632808" cy="256032"/>
          </a:xfrm>
          <a:prstGeom prst="rect">
            <a:avLst/>
          </a:prstGeom>
          <a:noFill/>
          <a:ln/>
        </p:spPr>
        <p:txBody>
          <a:bodyPr wrap="square" lIns="0" tIns="0" rIns="0" bIns="0" rtlCol="0" anchor="t"/>
          <a:lstStyle/>
          <a:p>
            <a:pPr algn="l" indent="0" marL="0">
              <a:buNone/>
            </a:pPr>
            <a:r>
              <a:rPr lang="en-US" sz="1300" b="1" dirty="0">
                <a:solidFill>
                  <a:srgbClr val="FFFFFF"/>
                </a:solidFill>
                <a:latin typeface="Google Sans" pitchFamily="34" charset="0"/>
                <a:ea typeface="Google Sans" pitchFamily="34" charset="-122"/>
                <a:cs typeface="Google Sans" pitchFamily="34" charset="-120"/>
              </a:rPr>
              <a:t>Revenue leaders</a:t>
            </a:r>
            <a:endParaRPr lang="en-US" sz="1300" dirty="0"/>
          </a:p>
        </p:txBody>
      </p:sp>
      <p:sp>
        <p:nvSpPr>
          <p:cNvPr id="24" name="Text 22"/>
          <p:cNvSpPr txBox="1"/>
          <p:nvPr/>
        </p:nvSpPr>
        <p:spPr>
          <a:xfrm>
            <a:off x="6489040" y="2286000"/>
            <a:ext cx="4806544" cy="201168"/>
          </a:xfrm>
          <a:prstGeom prst="rect">
            <a:avLst/>
          </a:prstGeom>
          <a:noFill/>
          <a:ln/>
        </p:spPr>
        <p:txBody>
          <a:bodyPr wrap="square" lIns="0" tIns="0" rIns="0" bIns="0" rtlCol="0" anchor="t"/>
          <a:lstStyle/>
          <a:p>
            <a:pPr algn="l" indent="0" marL="0">
              <a:buNone/>
            </a:pPr>
            <a:r>
              <a:rPr lang="en-US" sz="950" dirty="0">
                <a:solidFill>
                  <a:srgbClr val="9E9E9E"/>
                </a:solidFill>
                <a:latin typeface="Google Sans" pitchFamily="34" charset="0"/>
                <a:ea typeface="Google Sans" pitchFamily="34" charset="-122"/>
                <a:cs typeface="Google Sans" pitchFamily="34" charset="-120"/>
              </a:rPr>
              <a:t>Where Thai spending concentrates.</a:t>
            </a:r>
            <a:endParaRPr lang="en-US" sz="950" dirty="0"/>
          </a:p>
        </p:txBody>
      </p:sp>
      <p:sp>
        <p:nvSpPr>
          <p:cNvPr id="25" name="Shape 23"/>
          <p:cNvSpPr/>
          <p:nvPr/>
        </p:nvSpPr>
        <p:spPr>
          <a:xfrm>
            <a:off x="6489040" y="2523744"/>
            <a:ext cx="1516837" cy="310896"/>
          </a:xfrm>
          <a:prstGeom prst="roundRect">
            <a:avLst>
              <a:gd name="adj" fmla="val 17647"/>
            </a:avLst>
          </a:prstGeom>
          <a:solidFill>
            <a:srgbClr val="FF0033"/>
          </a:solidFill>
          <a:ln w="12700">
            <a:solidFill>
              <a:srgbClr val="FF0033"/>
            </a:solidFill>
            <a:prstDash val="solid"/>
          </a:ln>
        </p:spPr>
      </p:sp>
      <p:sp>
        <p:nvSpPr>
          <p:cNvPr id="26" name="Text 24"/>
          <p:cNvSpPr txBox="1"/>
          <p:nvPr/>
        </p:nvSpPr>
        <p:spPr>
          <a:xfrm>
            <a:off x="6489040" y="2523744"/>
            <a:ext cx="1516837"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Google Sans" pitchFamily="34" charset="0"/>
                <a:ea typeface="Google Sans" pitchFamily="34" charset="-122"/>
                <a:cs typeface="Google Sans" pitchFamily="34" charset="-120"/>
              </a:rPr>
              <a:t>Realistic sports games</a:t>
            </a:r>
            <a:endParaRPr lang="en-US" sz="950" dirty="0"/>
          </a:p>
        </p:txBody>
      </p:sp>
      <p:sp>
        <p:nvSpPr>
          <p:cNvPr id="27" name="Shape 25"/>
          <p:cNvSpPr/>
          <p:nvPr/>
        </p:nvSpPr>
        <p:spPr>
          <a:xfrm>
            <a:off x="8133893" y="2523744"/>
            <a:ext cx="1516837" cy="310896"/>
          </a:xfrm>
          <a:prstGeom prst="roundRect">
            <a:avLst>
              <a:gd name="adj" fmla="val 17647"/>
            </a:avLst>
          </a:prstGeom>
          <a:solidFill>
            <a:srgbClr val="C40028"/>
          </a:solidFill>
          <a:ln w="12700">
            <a:solidFill>
              <a:srgbClr val="C40028"/>
            </a:solidFill>
            <a:prstDash val="solid"/>
          </a:ln>
        </p:spPr>
      </p:sp>
      <p:sp>
        <p:nvSpPr>
          <p:cNvPr id="28" name="Text 26"/>
          <p:cNvSpPr txBox="1"/>
          <p:nvPr/>
        </p:nvSpPr>
        <p:spPr>
          <a:xfrm>
            <a:off x="8133893" y="2523744"/>
            <a:ext cx="1516837"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Google Sans" pitchFamily="34" charset="0"/>
                <a:ea typeface="Google Sans" pitchFamily="34" charset="-122"/>
                <a:cs typeface="Google Sans" pitchFamily="34" charset="-120"/>
              </a:rPr>
              <a:t>MMORPGs</a:t>
            </a:r>
            <a:endParaRPr lang="en-US" sz="950" dirty="0"/>
          </a:p>
        </p:txBody>
      </p:sp>
      <p:sp>
        <p:nvSpPr>
          <p:cNvPr id="29" name="Shape 27"/>
          <p:cNvSpPr/>
          <p:nvPr/>
        </p:nvSpPr>
        <p:spPr>
          <a:xfrm>
            <a:off x="9778746" y="2523744"/>
            <a:ext cx="1516837" cy="310896"/>
          </a:xfrm>
          <a:prstGeom prst="roundRect">
            <a:avLst>
              <a:gd name="adj" fmla="val 17647"/>
            </a:avLst>
          </a:prstGeom>
          <a:solidFill>
            <a:srgbClr val="8A001C"/>
          </a:solidFill>
          <a:ln w="12700">
            <a:solidFill>
              <a:srgbClr val="8A001C"/>
            </a:solidFill>
            <a:prstDash val="solid"/>
          </a:ln>
        </p:spPr>
      </p:sp>
      <p:sp>
        <p:nvSpPr>
          <p:cNvPr id="30" name="Text 28"/>
          <p:cNvSpPr txBox="1"/>
          <p:nvPr/>
        </p:nvSpPr>
        <p:spPr>
          <a:xfrm>
            <a:off x="9778746" y="2523744"/>
            <a:ext cx="1516837"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Google Sans" pitchFamily="34" charset="0"/>
                <a:ea typeface="Google Sans" pitchFamily="34" charset="-122"/>
                <a:cs typeface="Google Sans" pitchFamily="34" charset="-120"/>
              </a:rPr>
              <a:t>4X strategy</a:t>
            </a:r>
            <a:endParaRPr lang="en-US" sz="950" dirty="0"/>
          </a:p>
        </p:txBody>
      </p:sp>
      <p:sp>
        <p:nvSpPr>
          <p:cNvPr id="31" name="Text 29"/>
          <p:cNvSpPr txBox="1"/>
          <p:nvPr/>
        </p:nvSpPr>
        <p:spPr>
          <a:xfrm>
            <a:off x="6489040" y="2962656"/>
            <a:ext cx="4806544" cy="201168"/>
          </a:xfrm>
          <a:prstGeom prst="rect">
            <a:avLst/>
          </a:prstGeom>
          <a:noFill/>
          <a:ln/>
        </p:spPr>
        <p:txBody>
          <a:bodyPr wrap="square" lIns="0" tIns="0" rIns="0" bIns="0" rtlCol="0" anchor="t"/>
          <a:lstStyle/>
          <a:p>
            <a:pPr algn="l" indent="0" marL="0">
              <a:buNone/>
            </a:pPr>
            <a:r>
              <a:rPr lang="en-US" sz="950" dirty="0">
                <a:solidFill>
                  <a:srgbClr val="9E9E9E"/>
                </a:solidFill>
                <a:latin typeface="Google Sans" pitchFamily="34" charset="0"/>
                <a:ea typeface="Google Sans" pitchFamily="34" charset="-122"/>
                <a:cs typeface="Google Sans" pitchFamily="34" charset="-120"/>
              </a:rPr>
              <a:t>VNG's Thai roster already sits in this column.</a:t>
            </a:r>
            <a:endParaRPr lang="en-US" sz="950" dirty="0"/>
          </a:p>
        </p:txBody>
      </p:sp>
      <p:sp>
        <p:nvSpPr>
          <p:cNvPr id="32" name="Shape 30"/>
          <p:cNvSpPr/>
          <p:nvPr/>
        </p:nvSpPr>
        <p:spPr>
          <a:xfrm>
            <a:off x="640080" y="3694176"/>
            <a:ext cx="82296" cy="192024"/>
          </a:xfrm>
          <a:prstGeom prst="rect">
            <a:avLst/>
          </a:prstGeom>
          <a:solidFill>
            <a:srgbClr val="FF0033"/>
          </a:solidFill>
          <a:ln w="12700">
            <a:solidFill>
              <a:srgbClr val="FF0033"/>
            </a:solidFill>
            <a:prstDash val="solid"/>
          </a:ln>
        </p:spPr>
      </p:sp>
      <p:sp>
        <p:nvSpPr>
          <p:cNvPr id="33" name="Text 31"/>
          <p:cNvSpPr txBox="1"/>
          <p:nvPr/>
        </p:nvSpPr>
        <p:spPr>
          <a:xfrm>
            <a:off x="813816" y="3657600"/>
            <a:ext cx="10737799" cy="237744"/>
          </a:xfrm>
          <a:prstGeom prst="rect">
            <a:avLst/>
          </a:prstGeom>
          <a:noFill/>
          <a:ln/>
        </p:spPr>
        <p:txBody>
          <a:bodyPr wrap="square" lIns="0" tIns="0" rIns="0" bIns="0" rtlCol="0" anchor="t"/>
          <a:lstStyle/>
          <a:p>
            <a:pPr algn="l" indent="0" marL="0">
              <a:buNone/>
            </a:pPr>
            <a:r>
              <a:rPr lang="en-US" sz="1250" b="1" dirty="0">
                <a:solidFill>
                  <a:srgbClr val="FFFFFF"/>
                </a:solidFill>
                <a:latin typeface="Google Sans" pitchFamily="34" charset="0"/>
                <a:ea typeface="Google Sans" pitchFamily="34" charset="-122"/>
                <a:cs typeface="Google Sans" pitchFamily="34" charset="-120"/>
              </a:rPr>
              <a:t>VNG's current Thailand roster, mapped to the revenue side</a:t>
            </a:r>
            <a:endParaRPr lang="en-US" sz="1250" dirty="0"/>
          </a:p>
        </p:txBody>
      </p:sp>
      <p:sp>
        <p:nvSpPr>
          <p:cNvPr id="34" name="Shape 32"/>
          <p:cNvSpPr/>
          <p:nvPr/>
        </p:nvSpPr>
        <p:spPr>
          <a:xfrm>
            <a:off x="640080" y="3968496"/>
            <a:ext cx="1999427" cy="1078992"/>
          </a:xfrm>
          <a:prstGeom prst="roundRect">
            <a:avLst>
              <a:gd name="adj" fmla="val 5085"/>
            </a:avLst>
          </a:prstGeom>
          <a:solidFill>
            <a:srgbClr val="161616"/>
          </a:solidFill>
          <a:ln w="12700">
            <a:solidFill>
              <a:srgbClr val="232323"/>
            </a:solidFill>
            <a:prstDash val="solid"/>
          </a:ln>
        </p:spPr>
      </p:sp>
      <p:sp>
        <p:nvSpPr>
          <p:cNvPr id="35" name="Shape 33"/>
          <p:cNvSpPr/>
          <p:nvPr/>
        </p:nvSpPr>
        <p:spPr>
          <a:xfrm>
            <a:off x="822960" y="4096512"/>
            <a:ext cx="82296" cy="182880"/>
          </a:xfrm>
          <a:prstGeom prst="rect">
            <a:avLst/>
          </a:prstGeom>
          <a:solidFill>
            <a:srgbClr val="FF0033"/>
          </a:solidFill>
          <a:ln w="12700">
            <a:solidFill>
              <a:srgbClr val="FF0033"/>
            </a:solidFill>
            <a:prstDash val="solid"/>
          </a:ln>
        </p:spPr>
      </p:sp>
      <p:sp>
        <p:nvSpPr>
          <p:cNvPr id="36" name="Text 34"/>
          <p:cNvSpPr txBox="1"/>
          <p:nvPr/>
        </p:nvSpPr>
        <p:spPr>
          <a:xfrm>
            <a:off x="822960" y="4279392"/>
            <a:ext cx="1633667" cy="237744"/>
          </a:xfrm>
          <a:prstGeom prst="rect">
            <a:avLst/>
          </a:prstGeom>
          <a:noFill/>
          <a:ln/>
        </p:spPr>
        <p:txBody>
          <a:bodyPr wrap="square" lIns="0" tIns="0" rIns="0" bIns="0" rtlCol="0" anchor="t"/>
          <a:lstStyle/>
          <a:p>
            <a:pPr algn="l" indent="0" marL="0">
              <a:buNone/>
            </a:pPr>
            <a:r>
              <a:rPr lang="en-US" sz="1100" b="1" dirty="0">
                <a:solidFill>
                  <a:srgbClr val="FFFFFF"/>
                </a:solidFill>
                <a:latin typeface="Google Sans" pitchFamily="34" charset="0"/>
                <a:ea typeface="Google Sans" pitchFamily="34" charset="-122"/>
                <a:cs typeface="Google Sans" pitchFamily="34" charset="-120"/>
              </a:rPr>
              <a:t>Lineage2M</a:t>
            </a:r>
            <a:endParaRPr lang="en-US" sz="1100" dirty="0"/>
          </a:p>
        </p:txBody>
      </p:sp>
      <p:sp>
        <p:nvSpPr>
          <p:cNvPr id="37" name="Text 35"/>
          <p:cNvSpPr txBox="1"/>
          <p:nvPr/>
        </p:nvSpPr>
        <p:spPr>
          <a:xfrm>
            <a:off x="822960" y="4517136"/>
            <a:ext cx="1633667" cy="201168"/>
          </a:xfrm>
          <a:prstGeom prst="rect">
            <a:avLst/>
          </a:prstGeom>
          <a:noFill/>
          <a:ln/>
        </p:spPr>
        <p:txBody>
          <a:bodyPr wrap="square" lIns="0" tIns="0" rIns="0" bIns="0" rtlCol="0" anchor="t"/>
          <a:lstStyle/>
          <a:p>
            <a:pPr algn="l" indent="0" marL="0">
              <a:buNone/>
            </a:pPr>
            <a:r>
              <a:rPr lang="en-US" sz="950" dirty="0">
                <a:solidFill>
                  <a:srgbClr val="FF0033"/>
                </a:solidFill>
                <a:latin typeface="Google Sans" pitchFamily="34" charset="0"/>
                <a:ea typeface="Google Sans" pitchFamily="34" charset="-122"/>
                <a:cs typeface="Google Sans" pitchFamily="34" charset="-120"/>
              </a:rPr>
              <a:t>MMORPG</a:t>
            </a:r>
            <a:endParaRPr lang="en-US" sz="950" dirty="0"/>
          </a:p>
        </p:txBody>
      </p:sp>
      <p:sp>
        <p:nvSpPr>
          <p:cNvPr id="38" name="Text 36"/>
          <p:cNvSpPr txBox="1"/>
          <p:nvPr/>
        </p:nvSpPr>
        <p:spPr>
          <a:xfrm>
            <a:off x="822960" y="4700016"/>
            <a:ext cx="1633667" cy="292608"/>
          </a:xfrm>
          <a:prstGeom prst="rect">
            <a:avLst/>
          </a:prstGeom>
          <a:noFill/>
          <a:ln/>
        </p:spPr>
        <p:txBody>
          <a:bodyPr wrap="square" lIns="0" tIns="0" rIns="0" bIns="0" rtlCol="0" anchor="t"/>
          <a:lstStyle/>
          <a:p>
            <a:pPr algn="l" indent="0" marL="0">
              <a:lnSpc>
                <a:spcPct val="105000"/>
              </a:lnSpc>
              <a:buNone/>
            </a:pPr>
            <a:r>
              <a:rPr lang="en-US" sz="850" dirty="0">
                <a:solidFill>
                  <a:srgbClr val="8A8A8A"/>
                </a:solidFill>
                <a:latin typeface="Google Sans" pitchFamily="34" charset="0"/>
                <a:ea typeface="Google Sans" pitchFamily="34" charset="-122"/>
                <a:cs typeface="Google Sans" pitchFamily="34" charset="-120"/>
              </a:rPr>
              <a:t>via NCV Games, the joint venture with NCSOFT</a:t>
            </a:r>
            <a:endParaRPr lang="en-US" sz="850" dirty="0"/>
          </a:p>
        </p:txBody>
      </p:sp>
      <p:sp>
        <p:nvSpPr>
          <p:cNvPr id="39" name="Shape 37"/>
          <p:cNvSpPr/>
          <p:nvPr/>
        </p:nvSpPr>
        <p:spPr>
          <a:xfrm>
            <a:off x="2868107" y="3968496"/>
            <a:ext cx="1999427" cy="1078992"/>
          </a:xfrm>
          <a:prstGeom prst="roundRect">
            <a:avLst>
              <a:gd name="adj" fmla="val 5085"/>
            </a:avLst>
          </a:prstGeom>
          <a:solidFill>
            <a:srgbClr val="161616"/>
          </a:solidFill>
          <a:ln w="12700">
            <a:solidFill>
              <a:srgbClr val="232323"/>
            </a:solidFill>
            <a:prstDash val="solid"/>
          </a:ln>
        </p:spPr>
      </p:sp>
      <p:sp>
        <p:nvSpPr>
          <p:cNvPr id="40" name="Shape 38"/>
          <p:cNvSpPr/>
          <p:nvPr/>
        </p:nvSpPr>
        <p:spPr>
          <a:xfrm>
            <a:off x="3050987" y="4096512"/>
            <a:ext cx="82296" cy="182880"/>
          </a:xfrm>
          <a:prstGeom prst="rect">
            <a:avLst/>
          </a:prstGeom>
          <a:solidFill>
            <a:srgbClr val="FF0033"/>
          </a:solidFill>
          <a:ln w="12700">
            <a:solidFill>
              <a:srgbClr val="FF0033"/>
            </a:solidFill>
            <a:prstDash val="solid"/>
          </a:ln>
        </p:spPr>
      </p:sp>
      <p:sp>
        <p:nvSpPr>
          <p:cNvPr id="41" name="Text 39"/>
          <p:cNvSpPr txBox="1"/>
          <p:nvPr/>
        </p:nvSpPr>
        <p:spPr>
          <a:xfrm>
            <a:off x="3050987" y="4279392"/>
            <a:ext cx="1633667" cy="237744"/>
          </a:xfrm>
          <a:prstGeom prst="rect">
            <a:avLst/>
          </a:prstGeom>
          <a:noFill/>
          <a:ln/>
        </p:spPr>
        <p:txBody>
          <a:bodyPr wrap="square" lIns="0" tIns="0" rIns="0" bIns="0" rtlCol="0" anchor="t"/>
          <a:lstStyle/>
          <a:p>
            <a:pPr algn="l" indent="0" marL="0">
              <a:buNone/>
            </a:pPr>
            <a:r>
              <a:rPr lang="en-US" sz="1100" b="1" dirty="0">
                <a:solidFill>
                  <a:srgbClr val="FFFFFF"/>
                </a:solidFill>
                <a:latin typeface="Google Sans" pitchFamily="34" charset="0"/>
                <a:ea typeface="Google Sans" pitchFamily="34" charset="-122"/>
                <a:cs typeface="Google Sans" pitchFamily="34" charset="-120"/>
              </a:rPr>
              <a:t>Revelation M</a:t>
            </a:r>
            <a:endParaRPr lang="en-US" sz="1100" dirty="0"/>
          </a:p>
        </p:txBody>
      </p:sp>
      <p:sp>
        <p:nvSpPr>
          <p:cNvPr id="42" name="Text 40"/>
          <p:cNvSpPr txBox="1"/>
          <p:nvPr/>
        </p:nvSpPr>
        <p:spPr>
          <a:xfrm>
            <a:off x="3050987" y="4517136"/>
            <a:ext cx="1633667" cy="201168"/>
          </a:xfrm>
          <a:prstGeom prst="rect">
            <a:avLst/>
          </a:prstGeom>
          <a:noFill/>
          <a:ln/>
        </p:spPr>
        <p:txBody>
          <a:bodyPr wrap="square" lIns="0" tIns="0" rIns="0" bIns="0" rtlCol="0" anchor="t"/>
          <a:lstStyle/>
          <a:p>
            <a:pPr algn="l" indent="0" marL="0">
              <a:buNone/>
            </a:pPr>
            <a:r>
              <a:rPr lang="en-US" sz="950" dirty="0">
                <a:solidFill>
                  <a:srgbClr val="FF0033"/>
                </a:solidFill>
                <a:latin typeface="Google Sans" pitchFamily="34" charset="0"/>
                <a:ea typeface="Google Sans" pitchFamily="34" charset="-122"/>
                <a:cs typeface="Google Sans" pitchFamily="34" charset="-120"/>
              </a:rPr>
              <a:t>MMORPG</a:t>
            </a:r>
            <a:endParaRPr lang="en-US" sz="950" dirty="0"/>
          </a:p>
        </p:txBody>
      </p:sp>
      <p:sp>
        <p:nvSpPr>
          <p:cNvPr id="43" name="Text 41"/>
          <p:cNvSpPr txBox="1"/>
          <p:nvPr/>
        </p:nvSpPr>
        <p:spPr>
          <a:xfrm>
            <a:off x="3050987" y="4700016"/>
            <a:ext cx="1633667" cy="292608"/>
          </a:xfrm>
          <a:prstGeom prst="rect">
            <a:avLst/>
          </a:prstGeom>
          <a:noFill/>
          <a:ln/>
        </p:spPr>
        <p:txBody>
          <a:bodyPr wrap="square" lIns="0" tIns="0" rIns="0" bIns="0" rtlCol="0" anchor="t"/>
          <a:lstStyle/>
          <a:p>
            <a:pPr algn="l" indent="0" marL="0">
              <a:lnSpc>
                <a:spcPct val="105000"/>
              </a:lnSpc>
              <a:buNone/>
            </a:pPr>
            <a:r>
              <a:rPr lang="en-US" sz="850" dirty="0">
                <a:solidFill>
                  <a:srgbClr val="8A8A8A"/>
                </a:solidFill>
                <a:latin typeface="Google Sans" pitchFamily="34" charset="0"/>
                <a:ea typeface="Google Sans" pitchFamily="34" charset="-122"/>
                <a:cs typeface="Google Sans" pitchFamily="34" charset="-120"/>
              </a:rPr>
              <a:t>live with local payment promotions</a:t>
            </a:r>
            <a:endParaRPr lang="en-US" sz="850" dirty="0"/>
          </a:p>
        </p:txBody>
      </p:sp>
      <p:sp>
        <p:nvSpPr>
          <p:cNvPr id="44" name="Shape 42"/>
          <p:cNvSpPr/>
          <p:nvPr/>
        </p:nvSpPr>
        <p:spPr>
          <a:xfrm>
            <a:off x="5096134" y="3968496"/>
            <a:ext cx="1999427" cy="1078992"/>
          </a:xfrm>
          <a:prstGeom prst="roundRect">
            <a:avLst>
              <a:gd name="adj" fmla="val 5085"/>
            </a:avLst>
          </a:prstGeom>
          <a:solidFill>
            <a:srgbClr val="161616"/>
          </a:solidFill>
          <a:ln w="12700">
            <a:solidFill>
              <a:srgbClr val="232323"/>
            </a:solidFill>
            <a:prstDash val="solid"/>
          </a:ln>
        </p:spPr>
      </p:sp>
      <p:sp>
        <p:nvSpPr>
          <p:cNvPr id="45" name="Shape 43"/>
          <p:cNvSpPr/>
          <p:nvPr/>
        </p:nvSpPr>
        <p:spPr>
          <a:xfrm>
            <a:off x="5279014" y="4096512"/>
            <a:ext cx="82296" cy="182880"/>
          </a:xfrm>
          <a:prstGeom prst="rect">
            <a:avLst/>
          </a:prstGeom>
          <a:solidFill>
            <a:srgbClr val="FF0033"/>
          </a:solidFill>
          <a:ln w="12700">
            <a:solidFill>
              <a:srgbClr val="FF0033"/>
            </a:solidFill>
            <a:prstDash val="solid"/>
          </a:ln>
        </p:spPr>
      </p:sp>
      <p:sp>
        <p:nvSpPr>
          <p:cNvPr id="46" name="Text 44"/>
          <p:cNvSpPr txBox="1"/>
          <p:nvPr/>
        </p:nvSpPr>
        <p:spPr>
          <a:xfrm>
            <a:off x="5279014" y="4279392"/>
            <a:ext cx="1633667" cy="237744"/>
          </a:xfrm>
          <a:prstGeom prst="rect">
            <a:avLst/>
          </a:prstGeom>
          <a:noFill/>
          <a:ln/>
        </p:spPr>
        <p:txBody>
          <a:bodyPr wrap="square" lIns="0" tIns="0" rIns="0" bIns="0" rtlCol="0" anchor="t"/>
          <a:lstStyle/>
          <a:p>
            <a:pPr algn="l" indent="0" marL="0">
              <a:buNone/>
            </a:pPr>
            <a:r>
              <a:rPr lang="en-US" sz="1100" b="1" dirty="0">
                <a:solidFill>
                  <a:srgbClr val="FFFFFF"/>
                </a:solidFill>
                <a:latin typeface="Google Sans" pitchFamily="34" charset="0"/>
                <a:ea typeface="Google Sans" pitchFamily="34" charset="-122"/>
                <a:cs typeface="Google Sans" pitchFamily="34" charset="-120"/>
              </a:rPr>
              <a:t>Perfect World Mobile</a:t>
            </a:r>
            <a:endParaRPr lang="en-US" sz="1100" dirty="0"/>
          </a:p>
        </p:txBody>
      </p:sp>
      <p:sp>
        <p:nvSpPr>
          <p:cNvPr id="47" name="Text 45"/>
          <p:cNvSpPr txBox="1"/>
          <p:nvPr/>
        </p:nvSpPr>
        <p:spPr>
          <a:xfrm>
            <a:off x="5279014" y="4517136"/>
            <a:ext cx="1633667" cy="201168"/>
          </a:xfrm>
          <a:prstGeom prst="rect">
            <a:avLst/>
          </a:prstGeom>
          <a:noFill/>
          <a:ln/>
        </p:spPr>
        <p:txBody>
          <a:bodyPr wrap="square" lIns="0" tIns="0" rIns="0" bIns="0" rtlCol="0" anchor="t"/>
          <a:lstStyle/>
          <a:p>
            <a:pPr algn="l" indent="0" marL="0">
              <a:buNone/>
            </a:pPr>
            <a:r>
              <a:rPr lang="en-US" sz="950" dirty="0">
                <a:solidFill>
                  <a:srgbClr val="FF0033"/>
                </a:solidFill>
                <a:latin typeface="Google Sans" pitchFamily="34" charset="0"/>
                <a:ea typeface="Google Sans" pitchFamily="34" charset="-122"/>
                <a:cs typeface="Google Sans" pitchFamily="34" charset="-120"/>
              </a:rPr>
              <a:t>MMORPG</a:t>
            </a:r>
            <a:endParaRPr lang="en-US" sz="950" dirty="0"/>
          </a:p>
        </p:txBody>
      </p:sp>
      <p:sp>
        <p:nvSpPr>
          <p:cNvPr id="48" name="Text 46"/>
          <p:cNvSpPr txBox="1"/>
          <p:nvPr/>
        </p:nvSpPr>
        <p:spPr>
          <a:xfrm>
            <a:off x="5279014" y="4700016"/>
            <a:ext cx="1633667" cy="292608"/>
          </a:xfrm>
          <a:prstGeom prst="rect">
            <a:avLst/>
          </a:prstGeom>
          <a:noFill/>
          <a:ln/>
        </p:spPr>
        <p:txBody>
          <a:bodyPr wrap="square" lIns="0" tIns="0" rIns="0" bIns="0" rtlCol="0" anchor="t"/>
          <a:lstStyle/>
          <a:p>
            <a:pPr algn="l" indent="0" marL="0">
              <a:lnSpc>
                <a:spcPct val="105000"/>
              </a:lnSpc>
              <a:buNone/>
            </a:pPr>
            <a:r>
              <a:rPr lang="en-US" sz="850" dirty="0">
                <a:solidFill>
                  <a:srgbClr val="8A8A8A"/>
                </a:solidFill>
                <a:latin typeface="Google Sans" pitchFamily="34" charset="0"/>
                <a:ea typeface="Google Sans" pitchFamily="34" charset="-122"/>
                <a:cs typeface="Google Sans" pitchFamily="34" charset="-120"/>
              </a:rPr>
              <a:t>long-running MMORPG IP</a:t>
            </a:r>
            <a:endParaRPr lang="en-US" sz="850" dirty="0"/>
          </a:p>
        </p:txBody>
      </p:sp>
      <p:sp>
        <p:nvSpPr>
          <p:cNvPr id="49" name="Shape 47"/>
          <p:cNvSpPr/>
          <p:nvPr/>
        </p:nvSpPr>
        <p:spPr>
          <a:xfrm>
            <a:off x="7324161" y="3968496"/>
            <a:ext cx="1999427" cy="1078992"/>
          </a:xfrm>
          <a:prstGeom prst="roundRect">
            <a:avLst>
              <a:gd name="adj" fmla="val 5085"/>
            </a:avLst>
          </a:prstGeom>
          <a:solidFill>
            <a:srgbClr val="161616"/>
          </a:solidFill>
          <a:ln w="12700">
            <a:solidFill>
              <a:srgbClr val="232323"/>
            </a:solidFill>
            <a:prstDash val="solid"/>
          </a:ln>
        </p:spPr>
      </p:sp>
      <p:sp>
        <p:nvSpPr>
          <p:cNvPr id="50" name="Shape 48"/>
          <p:cNvSpPr/>
          <p:nvPr/>
        </p:nvSpPr>
        <p:spPr>
          <a:xfrm>
            <a:off x="7507041" y="4096512"/>
            <a:ext cx="82296" cy="182880"/>
          </a:xfrm>
          <a:prstGeom prst="rect">
            <a:avLst/>
          </a:prstGeom>
          <a:solidFill>
            <a:srgbClr val="FF0033"/>
          </a:solidFill>
          <a:ln w="12700">
            <a:solidFill>
              <a:srgbClr val="FF0033"/>
            </a:solidFill>
            <a:prstDash val="solid"/>
          </a:ln>
        </p:spPr>
      </p:sp>
      <p:sp>
        <p:nvSpPr>
          <p:cNvPr id="51" name="Text 49"/>
          <p:cNvSpPr txBox="1"/>
          <p:nvPr/>
        </p:nvSpPr>
        <p:spPr>
          <a:xfrm>
            <a:off x="7507041" y="4279392"/>
            <a:ext cx="1633667" cy="237744"/>
          </a:xfrm>
          <a:prstGeom prst="rect">
            <a:avLst/>
          </a:prstGeom>
          <a:noFill/>
          <a:ln/>
        </p:spPr>
        <p:txBody>
          <a:bodyPr wrap="square" lIns="0" tIns="0" rIns="0" bIns="0" rtlCol="0" anchor="t"/>
          <a:lstStyle/>
          <a:p>
            <a:pPr algn="l" indent="0" marL="0">
              <a:buNone/>
            </a:pPr>
            <a:r>
              <a:rPr lang="en-US" sz="1100" b="1" dirty="0">
                <a:solidFill>
                  <a:srgbClr val="FFFFFF"/>
                </a:solidFill>
                <a:latin typeface="Google Sans" pitchFamily="34" charset="0"/>
                <a:ea typeface="Google Sans" pitchFamily="34" charset="-122"/>
                <a:cs typeface="Google Sans" pitchFamily="34" charset="-120"/>
              </a:rPr>
              <a:t>Metal Slug: Awakening</a:t>
            </a:r>
            <a:endParaRPr lang="en-US" sz="1100" dirty="0"/>
          </a:p>
        </p:txBody>
      </p:sp>
      <p:sp>
        <p:nvSpPr>
          <p:cNvPr id="52" name="Text 50"/>
          <p:cNvSpPr txBox="1"/>
          <p:nvPr/>
        </p:nvSpPr>
        <p:spPr>
          <a:xfrm>
            <a:off x="7507041" y="4517136"/>
            <a:ext cx="1633667" cy="201168"/>
          </a:xfrm>
          <a:prstGeom prst="rect">
            <a:avLst/>
          </a:prstGeom>
          <a:noFill/>
          <a:ln/>
        </p:spPr>
        <p:txBody>
          <a:bodyPr wrap="square" lIns="0" tIns="0" rIns="0" bIns="0" rtlCol="0" anchor="t"/>
          <a:lstStyle/>
          <a:p>
            <a:pPr algn="l" indent="0" marL="0">
              <a:buNone/>
            </a:pPr>
            <a:r>
              <a:rPr lang="en-US" sz="950" dirty="0">
                <a:solidFill>
                  <a:srgbClr val="FF0033"/>
                </a:solidFill>
                <a:latin typeface="Google Sans" pitchFamily="34" charset="0"/>
                <a:ea typeface="Google Sans" pitchFamily="34" charset="-122"/>
                <a:cs typeface="Google Sans" pitchFamily="34" charset="-120"/>
              </a:rPr>
              <a:t>Arcade shooter</a:t>
            </a:r>
            <a:endParaRPr lang="en-US" sz="950" dirty="0"/>
          </a:p>
        </p:txBody>
      </p:sp>
      <p:sp>
        <p:nvSpPr>
          <p:cNvPr id="53" name="Text 51"/>
          <p:cNvSpPr txBox="1"/>
          <p:nvPr/>
        </p:nvSpPr>
        <p:spPr>
          <a:xfrm>
            <a:off x="7507041" y="4700016"/>
            <a:ext cx="1633667" cy="292608"/>
          </a:xfrm>
          <a:prstGeom prst="rect">
            <a:avLst/>
          </a:prstGeom>
          <a:noFill/>
          <a:ln/>
        </p:spPr>
        <p:txBody>
          <a:bodyPr wrap="square" lIns="0" tIns="0" rIns="0" bIns="0" rtlCol="0" anchor="t"/>
          <a:lstStyle/>
          <a:p>
            <a:pPr algn="l" indent="0" marL="0">
              <a:lnSpc>
                <a:spcPct val="105000"/>
              </a:lnSpc>
              <a:buNone/>
            </a:pPr>
            <a:r>
              <a:rPr lang="en-US" sz="850" dirty="0">
                <a:solidFill>
                  <a:srgbClr val="8A8A8A"/>
                </a:solidFill>
                <a:latin typeface="Google Sans" pitchFamily="34" charset="0"/>
                <a:ea typeface="Google Sans" pitchFamily="34" charset="-122"/>
                <a:cs typeface="Google Sans" pitchFamily="34" charset="-120"/>
              </a:rPr>
              <a:t>launch funnel ran across 9 markets</a:t>
            </a:r>
            <a:endParaRPr lang="en-US" sz="850" dirty="0"/>
          </a:p>
        </p:txBody>
      </p:sp>
      <p:sp>
        <p:nvSpPr>
          <p:cNvPr id="54" name="Shape 52"/>
          <p:cNvSpPr/>
          <p:nvPr/>
        </p:nvSpPr>
        <p:spPr>
          <a:xfrm>
            <a:off x="9552188" y="3968496"/>
            <a:ext cx="1999427" cy="1078992"/>
          </a:xfrm>
          <a:prstGeom prst="roundRect">
            <a:avLst>
              <a:gd name="adj" fmla="val 5085"/>
            </a:avLst>
          </a:prstGeom>
          <a:solidFill>
            <a:srgbClr val="161616"/>
          </a:solidFill>
          <a:ln w="12700">
            <a:solidFill>
              <a:srgbClr val="232323"/>
            </a:solidFill>
            <a:prstDash val="solid"/>
          </a:ln>
        </p:spPr>
      </p:sp>
      <p:sp>
        <p:nvSpPr>
          <p:cNvPr id="55" name="Shape 53"/>
          <p:cNvSpPr/>
          <p:nvPr/>
        </p:nvSpPr>
        <p:spPr>
          <a:xfrm>
            <a:off x="9735068" y="4096512"/>
            <a:ext cx="82296" cy="182880"/>
          </a:xfrm>
          <a:prstGeom prst="rect">
            <a:avLst/>
          </a:prstGeom>
          <a:solidFill>
            <a:srgbClr val="FF0033"/>
          </a:solidFill>
          <a:ln w="12700">
            <a:solidFill>
              <a:srgbClr val="FF0033"/>
            </a:solidFill>
            <a:prstDash val="solid"/>
          </a:ln>
        </p:spPr>
      </p:sp>
      <p:sp>
        <p:nvSpPr>
          <p:cNvPr id="56" name="Text 54"/>
          <p:cNvSpPr txBox="1"/>
          <p:nvPr/>
        </p:nvSpPr>
        <p:spPr>
          <a:xfrm>
            <a:off x="9735068" y="4279392"/>
            <a:ext cx="1633667" cy="237744"/>
          </a:xfrm>
          <a:prstGeom prst="rect">
            <a:avLst/>
          </a:prstGeom>
          <a:noFill/>
          <a:ln/>
        </p:spPr>
        <p:txBody>
          <a:bodyPr wrap="square" lIns="0" tIns="0" rIns="0" bIns="0" rtlCol="0" anchor="t"/>
          <a:lstStyle/>
          <a:p>
            <a:pPr algn="l" indent="0" marL="0">
              <a:buNone/>
            </a:pPr>
            <a:r>
              <a:rPr lang="en-US" sz="1100" b="1" dirty="0">
                <a:solidFill>
                  <a:srgbClr val="FFFFFF"/>
                </a:solidFill>
                <a:latin typeface="Google Sans" pitchFamily="34" charset="0"/>
                <a:ea typeface="Google Sans" pitchFamily="34" charset="-122"/>
                <a:cs typeface="Google Sans" pitchFamily="34" charset="-120"/>
              </a:rPr>
              <a:t>DDTank Origin</a:t>
            </a:r>
            <a:endParaRPr lang="en-US" sz="1100" dirty="0"/>
          </a:p>
        </p:txBody>
      </p:sp>
      <p:sp>
        <p:nvSpPr>
          <p:cNvPr id="57" name="Text 55"/>
          <p:cNvSpPr txBox="1"/>
          <p:nvPr/>
        </p:nvSpPr>
        <p:spPr>
          <a:xfrm>
            <a:off x="9735068" y="4517136"/>
            <a:ext cx="1633667" cy="201168"/>
          </a:xfrm>
          <a:prstGeom prst="rect">
            <a:avLst/>
          </a:prstGeom>
          <a:noFill/>
          <a:ln/>
        </p:spPr>
        <p:txBody>
          <a:bodyPr wrap="square" lIns="0" tIns="0" rIns="0" bIns="0" rtlCol="0" anchor="t"/>
          <a:lstStyle/>
          <a:p>
            <a:pPr algn="l" indent="0" marL="0">
              <a:buNone/>
            </a:pPr>
            <a:r>
              <a:rPr lang="en-US" sz="950" dirty="0">
                <a:solidFill>
                  <a:srgbClr val="FF0033"/>
                </a:solidFill>
                <a:latin typeface="Google Sans" pitchFamily="34" charset="0"/>
                <a:ea typeface="Google Sans" pitchFamily="34" charset="-122"/>
                <a:cs typeface="Google Sans" pitchFamily="34" charset="-120"/>
              </a:rPr>
              <a:t>Casual</a:t>
            </a:r>
            <a:endParaRPr lang="en-US" sz="950" dirty="0"/>
          </a:p>
        </p:txBody>
      </p:sp>
      <p:sp>
        <p:nvSpPr>
          <p:cNvPr id="58" name="Text 56"/>
          <p:cNvSpPr txBox="1"/>
          <p:nvPr/>
        </p:nvSpPr>
        <p:spPr>
          <a:xfrm>
            <a:off x="9735068" y="4700016"/>
            <a:ext cx="1633667" cy="292608"/>
          </a:xfrm>
          <a:prstGeom prst="rect">
            <a:avLst/>
          </a:prstGeom>
          <a:noFill/>
          <a:ln/>
        </p:spPr>
        <p:txBody>
          <a:bodyPr wrap="square" lIns="0" tIns="0" rIns="0" bIns="0" rtlCol="0" anchor="t"/>
          <a:lstStyle/>
          <a:p>
            <a:pPr algn="l" indent="0" marL="0">
              <a:lnSpc>
                <a:spcPct val="105000"/>
              </a:lnSpc>
              <a:buNone/>
            </a:pPr>
            <a:r>
              <a:rPr lang="en-US" sz="850" dirty="0">
                <a:solidFill>
                  <a:srgbClr val="8A8A8A"/>
                </a:solidFill>
                <a:latin typeface="Google Sans" pitchFamily="34" charset="0"/>
                <a:ea typeface="Google Sans" pitchFamily="34" charset="-122"/>
                <a:cs typeface="Google Sans" pitchFamily="34" charset="-120"/>
              </a:rPr>
              <a:t>turn-based shooter</a:t>
            </a:r>
            <a:endParaRPr lang="en-US" sz="850" dirty="0"/>
          </a:p>
        </p:txBody>
      </p:sp>
      <p:sp>
        <p:nvSpPr>
          <p:cNvPr id="59" name="Shape 57"/>
          <p:cNvSpPr/>
          <p:nvPr/>
        </p:nvSpPr>
        <p:spPr>
          <a:xfrm>
            <a:off x="640080" y="5321808"/>
            <a:ext cx="10911535" cy="566928"/>
          </a:xfrm>
          <a:prstGeom prst="roundRect">
            <a:avLst>
              <a:gd name="adj" fmla="val 9677"/>
            </a:avLst>
          </a:prstGeom>
          <a:solidFill>
            <a:srgbClr val="161616"/>
          </a:solidFill>
          <a:ln w="12700">
            <a:solidFill>
              <a:srgbClr val="232323"/>
            </a:solidFill>
            <a:prstDash val="solid"/>
          </a:ln>
        </p:spPr>
      </p:sp>
      <p:sp>
        <p:nvSpPr>
          <p:cNvPr id="60" name="Shape 58"/>
          <p:cNvSpPr/>
          <p:nvPr/>
        </p:nvSpPr>
        <p:spPr>
          <a:xfrm>
            <a:off x="896112" y="5504688"/>
            <a:ext cx="82296" cy="201168"/>
          </a:xfrm>
          <a:prstGeom prst="rect">
            <a:avLst/>
          </a:prstGeom>
          <a:solidFill>
            <a:srgbClr val="FF0033"/>
          </a:solidFill>
          <a:ln w="12700">
            <a:solidFill>
              <a:srgbClr val="FF0033"/>
            </a:solidFill>
            <a:prstDash val="solid"/>
          </a:ln>
        </p:spPr>
      </p:sp>
      <p:sp>
        <p:nvSpPr>
          <p:cNvPr id="61" name="Text 59"/>
          <p:cNvSpPr txBox="1"/>
          <p:nvPr/>
        </p:nvSpPr>
        <p:spPr>
          <a:xfrm>
            <a:off x="1069848" y="5404104"/>
            <a:ext cx="10225735" cy="402336"/>
          </a:xfrm>
          <a:prstGeom prst="rect">
            <a:avLst/>
          </a:prstGeom>
          <a:noFill/>
          <a:ln/>
        </p:spPr>
        <p:txBody>
          <a:bodyPr wrap="square" lIns="0" tIns="0" rIns="0" bIns="0" rtlCol="0" anchor="ctr"/>
          <a:lstStyle/>
          <a:p>
            <a:pPr algn="l" indent="0" marL="0">
              <a:lnSpc>
                <a:spcPct val="110000"/>
              </a:lnSpc>
              <a:buNone/>
            </a:pPr>
            <a:r>
              <a:rPr lang="en-US" sz="1100" b="1" dirty="0">
                <a:solidFill>
                  <a:srgbClr val="FFFFFF"/>
                </a:solidFill>
                <a:latin typeface="Google Sans" pitchFamily="34" charset="0"/>
                <a:ea typeface="Google Sans" pitchFamily="34" charset="-122"/>
                <a:cs typeface="Google Sans" pitchFamily="34" charset="-120"/>
              </a:rPr>
              <a:t>VNG's slate sits on the revenue side of the Thai market, not the download side. That audience is older, higher-spending and more PC-native, and it is reached by depth of content, not volume of clips.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566928"/>
          </a:xfrm>
          <a:prstGeom prst="rect">
            <a:avLst/>
          </a:prstGeom>
          <a:noFill/>
          <a:ln/>
        </p:spPr>
        <p:txBody>
          <a:bodyPr wrap="square" lIns="0" tIns="0" rIns="0" bIns="0" rtlCol="0" anchor="ctr"/>
          <a:lstStyle/>
          <a:p>
            <a:pPr algn="l" indent="0" marL="0">
              <a:buNone/>
            </a:pPr>
            <a:r>
              <a:rPr lang="en-US" sz="2900" b="1" dirty="0">
                <a:solidFill>
                  <a:srgbClr val="FFFFFF"/>
                </a:solidFill>
                <a:latin typeface="Google Sans" pitchFamily="34" charset="0"/>
                <a:ea typeface="Google Sans" pitchFamily="34" charset="-122"/>
                <a:cs typeface="Google Sans" pitchFamily="34" charset="-120"/>
              </a:rPr>
              <a:t>The Thai creator map</a:t>
            </a:r>
            <a:endParaRPr lang="en-US" sz="2900" dirty="0"/>
          </a:p>
        </p:txBody>
      </p:sp>
      <p:sp>
        <p:nvSpPr>
          <p:cNvPr id="3" name="Text 1"/>
          <p:cNvSpPr txBox="1"/>
          <p:nvPr/>
        </p:nvSpPr>
        <p:spPr>
          <a:xfrm>
            <a:off x="640080" y="1225296"/>
            <a:ext cx="10911535" cy="310896"/>
          </a:xfrm>
          <a:prstGeom prst="rect">
            <a:avLst/>
          </a:prstGeom>
          <a:noFill/>
          <a:ln/>
        </p:spPr>
        <p:txBody>
          <a:bodyPr wrap="square" lIns="0" tIns="0" rIns="0" bIns="0" rtlCol="0" anchor="ctr"/>
          <a:lstStyle/>
          <a:p>
            <a:pPr algn="l" indent="0" marL="0">
              <a:buNone/>
            </a:pPr>
            <a:r>
              <a:rPr lang="en-US" sz="1400" dirty="0">
                <a:solidFill>
                  <a:srgbClr val="9E9E9E"/>
                </a:solidFill>
                <a:latin typeface="Google Sans" pitchFamily="34" charset="0"/>
                <a:ea typeface="Google Sans" pitchFamily="34" charset="-122"/>
                <a:cs typeface="Google Sans" pitchFamily="34" charset="-120"/>
              </a:rPr>
              <a:t>the top 100 Thai gaming channels hold roughly 323 million combined subscribers and 96 billion combined views.</a:t>
            </a:r>
            <a:endParaRPr lang="en-US" sz="1400" dirty="0"/>
          </a:p>
        </p:txBody>
      </p:sp>
      <p:sp>
        <p:nvSpPr>
          <p:cNvPr id="4" name="Shape 2"/>
          <p:cNvSpPr/>
          <p:nvPr/>
        </p:nvSpPr>
        <p:spPr>
          <a:xfrm>
            <a:off x="640080" y="6163056"/>
            <a:ext cx="10911535" cy="402336"/>
          </a:xfrm>
          <a:prstGeom prst="roundRect">
            <a:avLst>
              <a:gd name="adj" fmla="val 13636"/>
            </a:avLst>
          </a:prstGeom>
          <a:solidFill>
            <a:srgbClr val="161616"/>
          </a:solidFill>
          <a:ln w="12700">
            <a:solidFill>
              <a:srgbClr val="232323"/>
            </a:solidFill>
            <a:prstDash val="solid"/>
          </a:ln>
        </p:spPr>
      </p:sp>
      <p:sp>
        <p:nvSpPr>
          <p:cNvPr id="5" name="Shape 3"/>
          <p:cNvSpPr/>
          <p:nvPr/>
        </p:nvSpPr>
        <p:spPr>
          <a:xfrm>
            <a:off x="786384" y="6263640"/>
            <a:ext cx="82296" cy="201168"/>
          </a:xfrm>
          <a:prstGeom prst="rect">
            <a:avLst/>
          </a:prstGeom>
          <a:solidFill>
            <a:srgbClr val="FF0033"/>
          </a:solidFill>
          <a:ln w="12700">
            <a:solidFill>
              <a:srgbClr val="FF0033"/>
            </a:solidFill>
            <a:prstDash val="solid"/>
          </a:ln>
        </p:spPr>
      </p:sp>
      <p:sp>
        <p:nvSpPr>
          <p:cNvPr id="6" name="Text 4"/>
          <p:cNvSpPr txBox="1"/>
          <p:nvPr/>
        </p:nvSpPr>
        <p:spPr>
          <a:xfrm>
            <a:off x="987552" y="6163056"/>
            <a:ext cx="10417759" cy="402336"/>
          </a:xfrm>
          <a:prstGeom prst="rect">
            <a:avLst/>
          </a:prstGeom>
          <a:noFill/>
          <a:ln/>
        </p:spPr>
        <p:txBody>
          <a:bodyPr wrap="square" lIns="0" tIns="0" rIns="0" bIns="0" rtlCol="0" anchor="ctr"/>
          <a:lstStyle/>
          <a:p>
            <a:pPr algn="l" indent="0" marL="0">
              <a:buNone/>
            </a:pPr>
            <a:r>
              <a:rPr lang="en-US" sz="950" dirty="0">
                <a:solidFill>
                  <a:srgbClr val="6E6E6E"/>
                </a:solidFill>
                <a:latin typeface="Google Sans" pitchFamily="34" charset="0"/>
                <a:ea typeface="Google Sans" pitchFamily="34" charset="-122"/>
                <a:cs typeface="Google Sans" pitchFamily="34" charset="-120"/>
              </a:rPr>
              <a:t>Source: Communitrics, July 2026. Favikon, 2026. Wikipedia, 2026. Subscriber counts are reliable. Lifetime view totals are third-party estimates.</a:t>
            </a:r>
            <a:endParaRPr lang="en-US" sz="950" dirty="0"/>
          </a:p>
        </p:txBody>
      </p:sp>
      <p:sp>
        <p:nvSpPr>
          <p:cNvPr id="7" name="Shape 5"/>
          <p:cNvSpPr/>
          <p:nvPr/>
        </p:nvSpPr>
        <p:spPr>
          <a:xfrm>
            <a:off x="640080" y="1874520"/>
            <a:ext cx="6949440" cy="2880360"/>
          </a:xfrm>
          <a:prstGeom prst="roundRect">
            <a:avLst>
              <a:gd name="adj" fmla="val 1905"/>
            </a:avLst>
          </a:prstGeom>
          <a:solidFill>
            <a:srgbClr val="161616"/>
          </a:solidFill>
          <a:ln w="12700">
            <a:solidFill>
              <a:srgbClr val="232323"/>
            </a:solidFill>
            <a:prstDash val="solid"/>
          </a:ln>
        </p:spPr>
      </p:sp>
      <p:sp>
        <p:nvSpPr>
          <p:cNvPr id="8" name="Shape 6"/>
          <p:cNvSpPr/>
          <p:nvPr/>
        </p:nvSpPr>
        <p:spPr>
          <a:xfrm>
            <a:off x="896112" y="2066544"/>
            <a:ext cx="82296" cy="192024"/>
          </a:xfrm>
          <a:prstGeom prst="rect">
            <a:avLst/>
          </a:prstGeom>
          <a:solidFill>
            <a:srgbClr val="FF0033"/>
          </a:solidFill>
          <a:ln w="12700">
            <a:solidFill>
              <a:srgbClr val="FF0033"/>
            </a:solidFill>
            <a:prstDash val="solid"/>
          </a:ln>
        </p:spPr>
      </p:sp>
      <p:sp>
        <p:nvSpPr>
          <p:cNvPr id="9" name="Text 7"/>
          <p:cNvSpPr txBox="1"/>
          <p:nvPr/>
        </p:nvSpPr>
        <p:spPr>
          <a:xfrm>
            <a:off x="1069848" y="2011680"/>
            <a:ext cx="3840480" cy="256032"/>
          </a:xfrm>
          <a:prstGeom prst="rect">
            <a:avLst/>
          </a:prstGeom>
          <a:noFill/>
          <a:ln/>
        </p:spPr>
        <p:txBody>
          <a:bodyPr wrap="square" lIns="0" tIns="0" rIns="0" bIns="0" rtlCol="0" anchor="t"/>
          <a:lstStyle/>
          <a:p>
            <a:pPr algn="l" indent="0" marL="0">
              <a:buNone/>
            </a:pPr>
            <a:r>
              <a:rPr lang="en-US" sz="1300" b="1" dirty="0">
                <a:solidFill>
                  <a:srgbClr val="FFFFFF"/>
                </a:solidFill>
                <a:latin typeface="Google Sans" pitchFamily="34" charset="0"/>
                <a:ea typeface="Google Sans" pitchFamily="34" charset="-122"/>
                <a:cs typeface="Google Sans" pitchFamily="34" charset="-120"/>
              </a:rPr>
              <a:t>Top channels by subscribers</a:t>
            </a:r>
            <a:endParaRPr lang="en-US" sz="1300" dirty="0"/>
          </a:p>
        </p:txBody>
      </p:sp>
      <p:sp>
        <p:nvSpPr>
          <p:cNvPr id="10" name="Shape 8"/>
          <p:cNvSpPr/>
          <p:nvPr/>
        </p:nvSpPr>
        <p:spPr>
          <a:xfrm>
            <a:off x="5943600" y="2029968"/>
            <a:ext cx="1389888" cy="219456"/>
          </a:xfrm>
          <a:prstGeom prst="roundRect">
            <a:avLst>
              <a:gd name="adj" fmla="val 25000"/>
            </a:avLst>
          </a:prstGeom>
          <a:solidFill>
            <a:srgbClr val="202020"/>
          </a:solidFill>
          <a:ln w="12700">
            <a:solidFill>
              <a:srgbClr val="2E2E2E"/>
            </a:solidFill>
            <a:prstDash val="solid"/>
          </a:ln>
        </p:spPr>
      </p:sp>
      <p:sp>
        <p:nvSpPr>
          <p:cNvPr id="11" name="Text 9"/>
          <p:cNvSpPr txBox="1"/>
          <p:nvPr/>
        </p:nvSpPr>
        <p:spPr>
          <a:xfrm>
            <a:off x="5943600" y="2029968"/>
            <a:ext cx="1389888" cy="219456"/>
          </a:xfrm>
          <a:prstGeom prst="rect">
            <a:avLst/>
          </a:prstGeom>
          <a:noFill/>
          <a:ln/>
        </p:spPr>
        <p:txBody>
          <a:bodyPr wrap="square" lIns="0" tIns="0" rIns="0" bIns="0" rtlCol="0" anchor="ctr"/>
          <a:lstStyle/>
          <a:p>
            <a:pPr algn="ctr" indent="0" marL="0">
              <a:buNone/>
            </a:pPr>
            <a:r>
              <a:rPr lang="en-US" sz="800" b="1" dirty="0">
                <a:solidFill>
                  <a:srgbClr val="8A8A8A"/>
                </a:solidFill>
                <a:latin typeface="Google Sans" pitchFamily="34" charset="0"/>
                <a:ea typeface="Google Sans" pitchFamily="34" charset="-122"/>
                <a:cs typeface="Google Sans" pitchFamily="34" charset="-120"/>
              </a:rPr>
              <a:t>third-party estimate</a:t>
            </a:r>
            <a:endParaRPr lang="en-US" sz="800" dirty="0"/>
          </a:p>
        </p:txBody>
      </p:sp>
      <p:sp>
        <p:nvSpPr>
          <p:cNvPr id="12" name="Shape 10"/>
          <p:cNvSpPr/>
          <p:nvPr/>
        </p:nvSpPr>
        <p:spPr>
          <a:xfrm>
            <a:off x="896112" y="2377440"/>
            <a:ext cx="2331720" cy="384048"/>
          </a:xfrm>
          <a:prstGeom prst="roundRect">
            <a:avLst>
              <a:gd name="adj" fmla="val 14286"/>
            </a:avLst>
          </a:prstGeom>
          <a:solidFill>
            <a:srgbClr val="FF0033"/>
          </a:solidFill>
          <a:ln w="12700">
            <a:solidFill>
              <a:srgbClr val="FF0033"/>
            </a:solidFill>
            <a:prstDash val="solid"/>
          </a:ln>
        </p:spPr>
      </p:sp>
      <p:sp>
        <p:nvSpPr>
          <p:cNvPr id="13" name="Text 11"/>
          <p:cNvSpPr txBox="1"/>
          <p:nvPr/>
        </p:nvSpPr>
        <p:spPr>
          <a:xfrm>
            <a:off x="896112" y="2377440"/>
            <a:ext cx="2331720"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Google Sans" pitchFamily="34" charset="0"/>
                <a:ea typeface="Google Sans" pitchFamily="34" charset="-122"/>
                <a:cs typeface="Google Sans" pitchFamily="34" charset="-120"/>
              </a:rPr>
              <a:t>zbing z.   21.9M</a:t>
            </a:r>
            <a:endParaRPr lang="en-US" sz="1150" dirty="0"/>
          </a:p>
        </p:txBody>
      </p:sp>
      <p:sp>
        <p:nvSpPr>
          <p:cNvPr id="14" name="Text 12"/>
          <p:cNvSpPr txBox="1"/>
          <p:nvPr/>
        </p:nvSpPr>
        <p:spPr>
          <a:xfrm>
            <a:off x="3410712" y="2377440"/>
            <a:ext cx="3922776" cy="384048"/>
          </a:xfrm>
          <a:prstGeom prst="rect">
            <a:avLst/>
          </a:prstGeom>
          <a:noFill/>
          <a:ln/>
        </p:spPr>
        <p:txBody>
          <a:bodyPr wrap="square" lIns="0" tIns="0" rIns="0" bIns="0" rtlCol="0" anchor="ctr"/>
          <a:lstStyle/>
          <a:p>
            <a:pPr algn="l" indent="0" marL="0">
              <a:lnSpc>
                <a:spcPct val="105000"/>
              </a:lnSpc>
              <a:buNone/>
            </a:pPr>
            <a:r>
              <a:rPr lang="en-US" sz="950" dirty="0">
                <a:solidFill>
                  <a:srgbClr val="9E9E9E"/>
                </a:solidFill>
                <a:latin typeface="Google Sans" pitchFamily="34" charset="0"/>
                <a:ea typeface="Google Sans" pitchFamily="34" charset="-122"/>
                <a:cs typeface="Google Sans" pitchFamily="34" charset="-120"/>
              </a:rPr>
              <a:t>roughly 13 billion lifetime views. Variety and livestream, started on horror games and Ark.</a:t>
            </a:r>
            <a:endParaRPr lang="en-US" sz="950" dirty="0"/>
          </a:p>
        </p:txBody>
      </p:sp>
      <p:sp>
        <p:nvSpPr>
          <p:cNvPr id="15" name="Shape 13"/>
          <p:cNvSpPr/>
          <p:nvPr/>
        </p:nvSpPr>
        <p:spPr>
          <a:xfrm>
            <a:off x="896112" y="2889504"/>
            <a:ext cx="2060448" cy="347472"/>
          </a:xfrm>
          <a:prstGeom prst="roundRect">
            <a:avLst>
              <a:gd name="adj" fmla="val 15789"/>
            </a:avLst>
          </a:prstGeom>
          <a:solidFill>
            <a:srgbClr val="C40028"/>
          </a:solidFill>
          <a:ln w="12700">
            <a:solidFill>
              <a:srgbClr val="C40028"/>
            </a:solidFill>
            <a:prstDash val="solid"/>
          </a:ln>
        </p:spPr>
      </p:sp>
      <p:sp>
        <p:nvSpPr>
          <p:cNvPr id="16" name="Text 14"/>
          <p:cNvSpPr txBox="1"/>
          <p:nvPr/>
        </p:nvSpPr>
        <p:spPr>
          <a:xfrm>
            <a:off x="896112" y="2889504"/>
            <a:ext cx="206044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Google Sans" pitchFamily="34" charset="0"/>
                <a:ea typeface="Google Sans" pitchFamily="34" charset="-122"/>
                <a:cs typeface="Google Sans" pitchFamily="34" charset="-120"/>
              </a:rPr>
              <a:t>RUOK   10.7M</a:t>
            </a:r>
            <a:endParaRPr lang="en-US" sz="1000" dirty="0"/>
          </a:p>
        </p:txBody>
      </p:sp>
      <p:sp>
        <p:nvSpPr>
          <p:cNvPr id="17" name="Shape 15"/>
          <p:cNvSpPr/>
          <p:nvPr/>
        </p:nvSpPr>
        <p:spPr>
          <a:xfrm>
            <a:off x="3084576" y="2889504"/>
            <a:ext cx="2060448" cy="347472"/>
          </a:xfrm>
          <a:prstGeom prst="roundRect">
            <a:avLst>
              <a:gd name="adj" fmla="val 15789"/>
            </a:avLst>
          </a:prstGeom>
          <a:solidFill>
            <a:srgbClr val="C40028"/>
          </a:solidFill>
          <a:ln w="12700">
            <a:solidFill>
              <a:srgbClr val="C40028"/>
            </a:solidFill>
            <a:prstDash val="solid"/>
          </a:ln>
        </p:spPr>
      </p:sp>
      <p:sp>
        <p:nvSpPr>
          <p:cNvPr id="18" name="Text 16"/>
          <p:cNvSpPr txBox="1"/>
          <p:nvPr/>
        </p:nvSpPr>
        <p:spPr>
          <a:xfrm>
            <a:off x="3084576" y="2889504"/>
            <a:ext cx="206044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Google Sans" pitchFamily="34" charset="0"/>
                <a:ea typeface="Google Sans" pitchFamily="34" charset="-122"/>
                <a:cs typeface="Google Sans" pitchFamily="34" charset="-120"/>
              </a:rPr>
              <a:t>HEARTROCKER   9.6M</a:t>
            </a:r>
            <a:endParaRPr lang="en-US" sz="1000" dirty="0"/>
          </a:p>
        </p:txBody>
      </p:sp>
      <p:sp>
        <p:nvSpPr>
          <p:cNvPr id="19" name="Shape 17"/>
          <p:cNvSpPr/>
          <p:nvPr/>
        </p:nvSpPr>
        <p:spPr>
          <a:xfrm>
            <a:off x="5273040" y="2889504"/>
            <a:ext cx="2060448" cy="347472"/>
          </a:xfrm>
          <a:prstGeom prst="roundRect">
            <a:avLst>
              <a:gd name="adj" fmla="val 15789"/>
            </a:avLst>
          </a:prstGeom>
          <a:solidFill>
            <a:srgbClr val="C40028"/>
          </a:solidFill>
          <a:ln w="12700">
            <a:solidFill>
              <a:srgbClr val="C40028"/>
            </a:solidFill>
            <a:prstDash val="solid"/>
          </a:ln>
        </p:spPr>
      </p:sp>
      <p:sp>
        <p:nvSpPr>
          <p:cNvPr id="20" name="Text 18"/>
          <p:cNvSpPr txBox="1"/>
          <p:nvPr/>
        </p:nvSpPr>
        <p:spPr>
          <a:xfrm>
            <a:off x="5273040" y="2889504"/>
            <a:ext cx="206044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Google Sans" pitchFamily="34" charset="0"/>
                <a:ea typeface="Google Sans" pitchFamily="34" charset="-122"/>
                <a:cs typeface="Google Sans" pitchFamily="34" charset="-120"/>
              </a:rPr>
              <a:t>PojzPlaza   9.6M</a:t>
            </a:r>
            <a:endParaRPr lang="en-US" sz="1000" dirty="0"/>
          </a:p>
        </p:txBody>
      </p:sp>
      <p:sp>
        <p:nvSpPr>
          <p:cNvPr id="21" name="Text 19"/>
          <p:cNvSpPr txBox="1"/>
          <p:nvPr/>
        </p:nvSpPr>
        <p:spPr>
          <a:xfrm>
            <a:off x="896112" y="3310128"/>
            <a:ext cx="6437376" cy="201168"/>
          </a:xfrm>
          <a:prstGeom prst="rect">
            <a:avLst/>
          </a:prstGeom>
          <a:noFill/>
          <a:ln/>
        </p:spPr>
        <p:txBody>
          <a:bodyPr wrap="square" lIns="0" tIns="0" rIns="0" bIns="0" rtlCol="0" anchor="t"/>
          <a:lstStyle/>
          <a:p>
            <a:pPr algn="l" indent="0" marL="0">
              <a:buNone/>
            </a:pPr>
            <a:r>
              <a:rPr lang="en-US" sz="900" dirty="0">
                <a:solidFill>
                  <a:srgbClr val="8A8A8A"/>
                </a:solidFill>
                <a:latin typeface="Google Sans" pitchFamily="34" charset="0"/>
                <a:ea typeface="Google Sans" pitchFamily="34" charset="-122"/>
                <a:cs typeface="Google Sans" pitchFamily="34" charset="-120"/>
              </a:rPr>
              <a:t>RUOK about 730 million views, a Free Fire specialist. HEARTROCKER about 4.1 billion views. PojzPlaza about 2.6 billion.</a:t>
            </a:r>
            <a:endParaRPr lang="en-US" sz="900" dirty="0"/>
          </a:p>
        </p:txBody>
      </p:sp>
      <p:sp>
        <p:nvSpPr>
          <p:cNvPr id="22" name="Shape 20"/>
          <p:cNvSpPr/>
          <p:nvPr/>
        </p:nvSpPr>
        <p:spPr>
          <a:xfrm>
            <a:off x="896112" y="3566160"/>
            <a:ext cx="1513332" cy="347472"/>
          </a:xfrm>
          <a:prstGeom prst="roundRect">
            <a:avLst>
              <a:gd name="adj" fmla="val 15789"/>
            </a:avLst>
          </a:prstGeom>
          <a:solidFill>
            <a:srgbClr val="8A001C"/>
          </a:solidFill>
          <a:ln w="12700">
            <a:solidFill>
              <a:srgbClr val="8A001C"/>
            </a:solidFill>
            <a:prstDash val="solid"/>
          </a:ln>
        </p:spPr>
      </p:sp>
      <p:sp>
        <p:nvSpPr>
          <p:cNvPr id="23" name="Text 21"/>
          <p:cNvSpPr txBox="1"/>
          <p:nvPr/>
        </p:nvSpPr>
        <p:spPr>
          <a:xfrm>
            <a:off x="896112" y="3566160"/>
            <a:ext cx="1513332"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Google Sans" pitchFamily="34" charset="0"/>
                <a:ea typeface="Google Sans" pitchFamily="34" charset="-122"/>
                <a:cs typeface="Google Sans" pitchFamily="34" charset="-120"/>
              </a:rPr>
              <a:t>PRIMKUNG   8.7M</a:t>
            </a:r>
            <a:endParaRPr lang="en-US" sz="950" dirty="0"/>
          </a:p>
        </p:txBody>
      </p:sp>
      <p:sp>
        <p:nvSpPr>
          <p:cNvPr id="24" name="Shape 22"/>
          <p:cNvSpPr/>
          <p:nvPr/>
        </p:nvSpPr>
        <p:spPr>
          <a:xfrm>
            <a:off x="2537460" y="3566160"/>
            <a:ext cx="1513332" cy="347472"/>
          </a:xfrm>
          <a:prstGeom prst="roundRect">
            <a:avLst>
              <a:gd name="adj" fmla="val 15789"/>
            </a:avLst>
          </a:prstGeom>
          <a:solidFill>
            <a:srgbClr val="8A001C"/>
          </a:solidFill>
          <a:ln w="12700">
            <a:solidFill>
              <a:srgbClr val="8A001C"/>
            </a:solidFill>
            <a:prstDash val="solid"/>
          </a:ln>
        </p:spPr>
      </p:sp>
      <p:sp>
        <p:nvSpPr>
          <p:cNvPr id="25" name="Text 23"/>
          <p:cNvSpPr txBox="1"/>
          <p:nvPr/>
        </p:nvSpPr>
        <p:spPr>
          <a:xfrm>
            <a:off x="2537460" y="3566160"/>
            <a:ext cx="1513332"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Google Sans" pitchFamily="34" charset="0"/>
                <a:ea typeface="Google Sans" pitchFamily="34" charset="-122"/>
                <a:cs typeface="Google Sans" pitchFamily="34" charset="-120"/>
              </a:rPr>
              <a:t>Ananped   8.4M</a:t>
            </a:r>
            <a:endParaRPr lang="en-US" sz="950" dirty="0"/>
          </a:p>
        </p:txBody>
      </p:sp>
      <p:sp>
        <p:nvSpPr>
          <p:cNvPr id="26" name="Shape 24"/>
          <p:cNvSpPr/>
          <p:nvPr/>
        </p:nvSpPr>
        <p:spPr>
          <a:xfrm>
            <a:off x="4178808" y="3566160"/>
            <a:ext cx="1513332" cy="347472"/>
          </a:xfrm>
          <a:prstGeom prst="roundRect">
            <a:avLst>
              <a:gd name="adj" fmla="val 15789"/>
            </a:avLst>
          </a:prstGeom>
          <a:solidFill>
            <a:srgbClr val="8A001C"/>
          </a:solidFill>
          <a:ln w="12700">
            <a:solidFill>
              <a:srgbClr val="8A001C"/>
            </a:solidFill>
            <a:prstDash val="solid"/>
          </a:ln>
        </p:spPr>
      </p:sp>
      <p:sp>
        <p:nvSpPr>
          <p:cNvPr id="27" name="Text 25"/>
          <p:cNvSpPr txBox="1"/>
          <p:nvPr/>
        </p:nvSpPr>
        <p:spPr>
          <a:xfrm>
            <a:off x="4178808" y="3566160"/>
            <a:ext cx="1513332"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Google Sans" pitchFamily="34" charset="0"/>
                <a:ea typeface="Google Sans" pitchFamily="34" charset="-122"/>
                <a:cs typeface="Google Sans" pitchFamily="34" charset="-120"/>
              </a:rPr>
              <a:t>LowGrade   8.3M</a:t>
            </a:r>
            <a:endParaRPr lang="en-US" sz="950" dirty="0"/>
          </a:p>
        </p:txBody>
      </p:sp>
      <p:sp>
        <p:nvSpPr>
          <p:cNvPr id="28" name="Shape 26"/>
          <p:cNvSpPr/>
          <p:nvPr/>
        </p:nvSpPr>
        <p:spPr>
          <a:xfrm>
            <a:off x="5820156" y="3566160"/>
            <a:ext cx="1513332" cy="347472"/>
          </a:xfrm>
          <a:prstGeom prst="roundRect">
            <a:avLst>
              <a:gd name="adj" fmla="val 15789"/>
            </a:avLst>
          </a:prstGeom>
          <a:solidFill>
            <a:srgbClr val="8A001C"/>
          </a:solidFill>
          <a:ln w="12700">
            <a:solidFill>
              <a:srgbClr val="8A001C"/>
            </a:solidFill>
            <a:prstDash val="solid"/>
          </a:ln>
        </p:spPr>
      </p:sp>
      <p:sp>
        <p:nvSpPr>
          <p:cNvPr id="29" name="Text 27"/>
          <p:cNvSpPr txBox="1"/>
          <p:nvPr/>
        </p:nvSpPr>
        <p:spPr>
          <a:xfrm>
            <a:off x="5820156" y="3566160"/>
            <a:ext cx="1513332" cy="347472"/>
          </a:xfrm>
          <a:prstGeom prst="rect">
            <a:avLst/>
          </a:prstGeom>
          <a:noFill/>
          <a:ln/>
        </p:spPr>
        <p:txBody>
          <a:bodyPr wrap="square" lIns="0" tIns="0" rIns="0" bIns="0" rtlCol="0" anchor="ctr"/>
          <a:lstStyle/>
          <a:p>
            <a:pPr algn="ctr" indent="0" marL="0">
              <a:buNone/>
            </a:pPr>
            <a:r>
              <a:rPr lang="en-US" sz="950" b="1" dirty="0">
                <a:solidFill>
                  <a:srgbClr val="FFFFFF"/>
                </a:solidFill>
                <a:latin typeface="Google Sans" pitchFamily="34" charset="0"/>
                <a:ea typeface="Google Sans" pitchFamily="34" charset="-122"/>
                <a:cs typeface="Google Sans" pitchFamily="34" charset="-120"/>
              </a:rPr>
              <a:t>CGGG   8.0M</a:t>
            </a:r>
            <a:endParaRPr lang="en-US" sz="950" dirty="0"/>
          </a:p>
        </p:txBody>
      </p:sp>
      <p:sp>
        <p:nvSpPr>
          <p:cNvPr id="30" name="Shape 28"/>
          <p:cNvSpPr/>
          <p:nvPr/>
        </p:nvSpPr>
        <p:spPr>
          <a:xfrm>
            <a:off x="896112" y="4005072"/>
            <a:ext cx="2060448" cy="347472"/>
          </a:xfrm>
          <a:prstGeom prst="roundRect">
            <a:avLst>
              <a:gd name="adj" fmla="val 15789"/>
            </a:avLst>
          </a:prstGeom>
          <a:solidFill>
            <a:srgbClr val="5C0014"/>
          </a:solidFill>
          <a:ln w="12700">
            <a:solidFill>
              <a:srgbClr val="5C0014"/>
            </a:solidFill>
            <a:prstDash val="solid"/>
          </a:ln>
        </p:spPr>
      </p:sp>
      <p:sp>
        <p:nvSpPr>
          <p:cNvPr id="31" name="Text 29"/>
          <p:cNvSpPr txBox="1"/>
          <p:nvPr/>
        </p:nvSpPr>
        <p:spPr>
          <a:xfrm>
            <a:off x="896112" y="4005072"/>
            <a:ext cx="206044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Google Sans" pitchFamily="34" charset="0"/>
                <a:ea typeface="Google Sans" pitchFamily="34" charset="-122"/>
                <a:cs typeface="Google Sans" pitchFamily="34" charset="-120"/>
              </a:rPr>
              <a:t>KRK Channel   6.7M</a:t>
            </a:r>
            <a:endParaRPr lang="en-US" sz="1000" dirty="0"/>
          </a:p>
        </p:txBody>
      </p:sp>
      <p:sp>
        <p:nvSpPr>
          <p:cNvPr id="32" name="Shape 30"/>
          <p:cNvSpPr/>
          <p:nvPr/>
        </p:nvSpPr>
        <p:spPr>
          <a:xfrm>
            <a:off x="3084576" y="4005072"/>
            <a:ext cx="2060448" cy="347472"/>
          </a:xfrm>
          <a:prstGeom prst="roundRect">
            <a:avLst>
              <a:gd name="adj" fmla="val 15789"/>
            </a:avLst>
          </a:prstGeom>
          <a:solidFill>
            <a:srgbClr val="5C0014"/>
          </a:solidFill>
          <a:ln w="12700">
            <a:solidFill>
              <a:srgbClr val="5C0014"/>
            </a:solidFill>
            <a:prstDash val="solid"/>
          </a:ln>
        </p:spPr>
      </p:sp>
      <p:sp>
        <p:nvSpPr>
          <p:cNvPr id="33" name="Text 31"/>
          <p:cNvSpPr txBox="1"/>
          <p:nvPr/>
        </p:nvSpPr>
        <p:spPr>
          <a:xfrm>
            <a:off x="3084576" y="4005072"/>
            <a:ext cx="2060448"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Google Sans" pitchFamily="34" charset="0"/>
                <a:ea typeface="Google Sans" pitchFamily="34" charset="-122"/>
                <a:cs typeface="Google Sans" pitchFamily="34" charset="-120"/>
              </a:rPr>
              <a:t>SkizzTV   6.4M</a:t>
            </a:r>
            <a:endParaRPr lang="en-US" sz="1000" dirty="0"/>
          </a:p>
        </p:txBody>
      </p:sp>
      <p:sp>
        <p:nvSpPr>
          <p:cNvPr id="34" name="Text 32"/>
          <p:cNvSpPr txBox="1"/>
          <p:nvPr/>
        </p:nvSpPr>
        <p:spPr>
          <a:xfrm>
            <a:off x="896112" y="4425696"/>
            <a:ext cx="6437376" cy="292608"/>
          </a:xfrm>
          <a:prstGeom prst="rect">
            <a:avLst/>
          </a:prstGeom>
          <a:noFill/>
          <a:ln/>
        </p:spPr>
        <p:txBody>
          <a:bodyPr wrap="square" lIns="0" tIns="0" rIns="0" bIns="0" rtlCol="0" anchor="t"/>
          <a:lstStyle/>
          <a:p>
            <a:pPr algn="l" indent="0" marL="0">
              <a:lnSpc>
                <a:spcPct val="105000"/>
              </a:lnSpc>
              <a:buNone/>
            </a:pPr>
            <a:r>
              <a:rPr lang="en-US" sz="900" dirty="0">
                <a:solidFill>
                  <a:srgbClr val="8A8A8A"/>
                </a:solidFill>
                <a:latin typeface="Google Sans" pitchFamily="34" charset="0"/>
                <a:ea typeface="Google Sans" pitchFamily="34" charset="-122"/>
                <a:cs typeface="Google Sans" pitchFamily="34" charset="-120"/>
              </a:rPr>
              <a:t>PRIMKUNG, Ananped, LowGrade, KRK Channel and SkizzTV each sit between 1.3 and 2.6 billion lifetime views. CGGG about 870 million.</a:t>
            </a:r>
            <a:endParaRPr lang="en-US" sz="900" dirty="0"/>
          </a:p>
        </p:txBody>
      </p:sp>
      <p:sp>
        <p:nvSpPr>
          <p:cNvPr id="35" name="Shape 33"/>
          <p:cNvSpPr/>
          <p:nvPr/>
        </p:nvSpPr>
        <p:spPr>
          <a:xfrm>
            <a:off x="7863840" y="1874520"/>
            <a:ext cx="3687775" cy="2880360"/>
          </a:xfrm>
          <a:prstGeom prst="roundRect">
            <a:avLst>
              <a:gd name="adj" fmla="val 1905"/>
            </a:avLst>
          </a:prstGeom>
          <a:solidFill>
            <a:srgbClr val="161616"/>
          </a:solidFill>
          <a:ln w="12700">
            <a:solidFill>
              <a:srgbClr val="232323"/>
            </a:solidFill>
            <a:prstDash val="solid"/>
          </a:ln>
        </p:spPr>
      </p:sp>
      <p:sp>
        <p:nvSpPr>
          <p:cNvPr id="36" name="Shape 34"/>
          <p:cNvSpPr/>
          <p:nvPr/>
        </p:nvSpPr>
        <p:spPr>
          <a:xfrm>
            <a:off x="8119872" y="2066544"/>
            <a:ext cx="82296" cy="192024"/>
          </a:xfrm>
          <a:prstGeom prst="rect">
            <a:avLst/>
          </a:prstGeom>
          <a:solidFill>
            <a:srgbClr val="4A4A4A"/>
          </a:solidFill>
          <a:ln w="12700">
            <a:solidFill>
              <a:srgbClr val="4A4A4A"/>
            </a:solidFill>
            <a:prstDash val="solid"/>
          </a:ln>
        </p:spPr>
      </p:sp>
      <p:sp>
        <p:nvSpPr>
          <p:cNvPr id="37" name="Text 35"/>
          <p:cNvSpPr txBox="1"/>
          <p:nvPr/>
        </p:nvSpPr>
        <p:spPr>
          <a:xfrm>
            <a:off x="8293608" y="2011680"/>
            <a:ext cx="3001975" cy="256032"/>
          </a:xfrm>
          <a:prstGeom prst="rect">
            <a:avLst/>
          </a:prstGeom>
          <a:noFill/>
          <a:ln/>
        </p:spPr>
        <p:txBody>
          <a:bodyPr wrap="square" lIns="0" tIns="0" rIns="0" bIns="0" rtlCol="0" anchor="t"/>
          <a:lstStyle/>
          <a:p>
            <a:pPr algn="l" indent="0" marL="0">
              <a:buNone/>
            </a:pPr>
            <a:r>
              <a:rPr lang="en-US" sz="1300" b="1" dirty="0">
                <a:solidFill>
                  <a:srgbClr val="FFFFFF"/>
                </a:solidFill>
                <a:latin typeface="Google Sans" pitchFamily="34" charset="0"/>
                <a:ea typeface="Google Sans" pitchFamily="34" charset="-122"/>
                <a:cs typeface="Google Sans" pitchFamily="34" charset="-120"/>
              </a:rPr>
              <a:t>Conflict flags</a:t>
            </a:r>
            <a:endParaRPr lang="en-US" sz="1300" dirty="0"/>
          </a:p>
        </p:txBody>
      </p:sp>
      <p:sp>
        <p:nvSpPr>
          <p:cNvPr id="38" name="Shape 36"/>
          <p:cNvSpPr/>
          <p:nvPr/>
        </p:nvSpPr>
        <p:spPr>
          <a:xfrm>
            <a:off x="8119872" y="2432304"/>
            <a:ext cx="82296" cy="192024"/>
          </a:xfrm>
          <a:prstGeom prst="rect">
            <a:avLst/>
          </a:prstGeom>
          <a:solidFill>
            <a:srgbClr val="4A4A4A"/>
          </a:solidFill>
          <a:ln w="12700">
            <a:solidFill>
              <a:srgbClr val="4A4A4A"/>
            </a:solidFill>
            <a:prstDash val="solid"/>
          </a:ln>
        </p:spPr>
      </p:sp>
      <p:sp>
        <p:nvSpPr>
          <p:cNvPr id="39" name="Text 37"/>
          <p:cNvSpPr txBox="1"/>
          <p:nvPr/>
        </p:nvSpPr>
        <p:spPr>
          <a:xfrm>
            <a:off x="8293608" y="2377440"/>
            <a:ext cx="3001975" cy="237744"/>
          </a:xfrm>
          <a:prstGeom prst="rect">
            <a:avLst/>
          </a:prstGeom>
          <a:noFill/>
          <a:ln/>
        </p:spPr>
        <p:txBody>
          <a:bodyPr wrap="square" lIns="0" tIns="0" rIns="0" bIns="0" rtlCol="0" anchor="t"/>
          <a:lstStyle/>
          <a:p>
            <a:pPr algn="l" indent="0" marL="0">
              <a:buNone/>
            </a:pPr>
            <a:r>
              <a:rPr lang="en-US" sz="1150" b="1" dirty="0">
                <a:solidFill>
                  <a:srgbClr val="FFFFFF"/>
                </a:solidFill>
                <a:latin typeface="Google Sans" pitchFamily="34" charset="0"/>
                <a:ea typeface="Google Sans" pitchFamily="34" charset="-122"/>
                <a:cs typeface="Google Sans" pitchFamily="34" charset="-120"/>
              </a:rPr>
              <a:t>RUOK</a:t>
            </a:r>
            <a:endParaRPr lang="en-US" sz="1150" dirty="0"/>
          </a:p>
        </p:txBody>
      </p:sp>
      <p:sp>
        <p:nvSpPr>
          <p:cNvPr id="40" name="Text 38"/>
          <p:cNvSpPr txBox="1"/>
          <p:nvPr/>
        </p:nvSpPr>
        <p:spPr>
          <a:xfrm>
            <a:off x="8119872" y="2651760"/>
            <a:ext cx="3175711" cy="566928"/>
          </a:xfrm>
          <a:prstGeom prst="rect">
            <a:avLst/>
          </a:prstGeom>
          <a:noFill/>
          <a:ln/>
        </p:spPr>
        <p:txBody>
          <a:bodyPr wrap="square" lIns="0" tIns="0" rIns="0" bIns="0" rtlCol="0" anchor="t"/>
          <a:lstStyle/>
          <a:p>
            <a:pPr algn="l" indent="0" marL="0">
              <a:lnSpc>
                <a:spcPct val="112000"/>
              </a:lnSpc>
              <a:buNone/>
            </a:pPr>
            <a:r>
              <a:rPr lang="en-US" sz="950" dirty="0">
                <a:solidFill>
                  <a:srgbClr val="8A8A8A"/>
                </a:solidFill>
                <a:latin typeface="Google Sans" pitchFamily="34" charset="0"/>
                <a:ea typeface="Google Sans" pitchFamily="34" charset="-122"/>
                <a:cs typeface="Google Sans" pitchFamily="34" charset="-120"/>
              </a:rPr>
              <a:t>Free Fire, a Garena title. Title conflict.</a:t>
            </a:r>
            <a:endParaRPr lang="en-US" sz="950" dirty="0"/>
          </a:p>
        </p:txBody>
      </p:sp>
      <p:sp>
        <p:nvSpPr>
          <p:cNvPr id="41" name="Shape 39"/>
          <p:cNvSpPr/>
          <p:nvPr/>
        </p:nvSpPr>
        <p:spPr>
          <a:xfrm>
            <a:off x="8119872" y="3072384"/>
            <a:ext cx="82296" cy="192024"/>
          </a:xfrm>
          <a:prstGeom prst="rect">
            <a:avLst/>
          </a:prstGeom>
          <a:solidFill>
            <a:srgbClr val="4A4A4A"/>
          </a:solidFill>
          <a:ln w="12700">
            <a:solidFill>
              <a:srgbClr val="4A4A4A"/>
            </a:solidFill>
            <a:prstDash val="solid"/>
          </a:ln>
        </p:spPr>
      </p:sp>
      <p:sp>
        <p:nvSpPr>
          <p:cNvPr id="42" name="Text 40"/>
          <p:cNvSpPr txBox="1"/>
          <p:nvPr/>
        </p:nvSpPr>
        <p:spPr>
          <a:xfrm>
            <a:off x="8293608" y="3017520"/>
            <a:ext cx="3001975" cy="237744"/>
          </a:xfrm>
          <a:prstGeom prst="rect">
            <a:avLst/>
          </a:prstGeom>
          <a:noFill/>
          <a:ln/>
        </p:spPr>
        <p:txBody>
          <a:bodyPr wrap="square" lIns="0" tIns="0" rIns="0" bIns="0" rtlCol="0" anchor="t"/>
          <a:lstStyle/>
          <a:p>
            <a:pPr algn="l" indent="0" marL="0">
              <a:buNone/>
            </a:pPr>
            <a:r>
              <a:rPr lang="en-US" sz="1150" b="1" dirty="0">
                <a:solidFill>
                  <a:srgbClr val="FFFFFF"/>
                </a:solidFill>
                <a:latin typeface="Google Sans" pitchFamily="34" charset="0"/>
                <a:ea typeface="Google Sans" pitchFamily="34" charset="-122"/>
                <a:cs typeface="Google Sans" pitchFamily="34" charset="-120"/>
              </a:rPr>
              <a:t>กายหงิด</a:t>
            </a:r>
            <a:endParaRPr lang="en-US" sz="1150" dirty="0"/>
          </a:p>
        </p:txBody>
      </p:sp>
      <p:sp>
        <p:nvSpPr>
          <p:cNvPr id="43" name="Text 41"/>
          <p:cNvSpPr txBox="1"/>
          <p:nvPr/>
        </p:nvSpPr>
        <p:spPr>
          <a:xfrm>
            <a:off x="8119872" y="3291840"/>
            <a:ext cx="3175711" cy="566928"/>
          </a:xfrm>
          <a:prstGeom prst="rect">
            <a:avLst/>
          </a:prstGeom>
          <a:noFill/>
          <a:ln/>
        </p:spPr>
        <p:txBody>
          <a:bodyPr wrap="square" lIns="0" tIns="0" rIns="0" bIns="0" rtlCol="0" anchor="t"/>
          <a:lstStyle/>
          <a:p>
            <a:pPr algn="l" indent="0" marL="0">
              <a:lnSpc>
                <a:spcPct val="112000"/>
              </a:lnSpc>
              <a:buNone/>
            </a:pPr>
            <a:r>
              <a:rPr lang="en-US" sz="950" dirty="0">
                <a:solidFill>
                  <a:srgbClr val="8A8A8A"/>
                </a:solidFill>
                <a:latin typeface="Google Sans" pitchFamily="34" charset="0"/>
                <a:ea typeface="Google Sans" pitchFamily="34" charset="-122"/>
                <a:cs typeface="Google Sans" pitchFamily="34" charset="-120"/>
              </a:rPr>
              <a:t>RoV, a Garena title, but already worked a VNG joint-venture launch. Manageable conflict.</a:t>
            </a:r>
            <a:endParaRPr lang="en-US" sz="950" dirty="0"/>
          </a:p>
        </p:txBody>
      </p:sp>
      <p:sp>
        <p:nvSpPr>
          <p:cNvPr id="44" name="Shape 42"/>
          <p:cNvSpPr/>
          <p:nvPr/>
        </p:nvSpPr>
        <p:spPr>
          <a:xfrm>
            <a:off x="8119872" y="3877056"/>
            <a:ext cx="82296" cy="192024"/>
          </a:xfrm>
          <a:prstGeom prst="rect">
            <a:avLst/>
          </a:prstGeom>
          <a:solidFill>
            <a:srgbClr val="4A4A4A"/>
          </a:solidFill>
          <a:ln w="12700">
            <a:solidFill>
              <a:srgbClr val="4A4A4A"/>
            </a:solidFill>
            <a:prstDash val="solid"/>
          </a:ln>
        </p:spPr>
      </p:sp>
      <p:sp>
        <p:nvSpPr>
          <p:cNvPr id="45" name="Text 43"/>
          <p:cNvSpPr txBox="1"/>
          <p:nvPr/>
        </p:nvSpPr>
        <p:spPr>
          <a:xfrm>
            <a:off x="8293608" y="3822192"/>
            <a:ext cx="3001975" cy="237744"/>
          </a:xfrm>
          <a:prstGeom prst="rect">
            <a:avLst/>
          </a:prstGeom>
          <a:noFill/>
          <a:ln/>
        </p:spPr>
        <p:txBody>
          <a:bodyPr wrap="square" lIns="0" tIns="0" rIns="0" bIns="0" rtlCol="0" anchor="t"/>
          <a:lstStyle/>
          <a:p>
            <a:pPr algn="l" indent="0" marL="0">
              <a:buNone/>
            </a:pPr>
            <a:r>
              <a:rPr lang="en-US" sz="1150" b="1" dirty="0">
                <a:solidFill>
                  <a:srgbClr val="FFFFFF"/>
                </a:solidFill>
                <a:latin typeface="Google Sans" pitchFamily="34" charset="0"/>
                <a:ea typeface="Google Sans" pitchFamily="34" charset="-122"/>
                <a:cs typeface="Google Sans" pitchFamily="34" charset="-120"/>
              </a:rPr>
              <a:t>zbing z.</a:t>
            </a:r>
            <a:endParaRPr lang="en-US" sz="1150" dirty="0"/>
          </a:p>
        </p:txBody>
      </p:sp>
      <p:sp>
        <p:nvSpPr>
          <p:cNvPr id="46" name="Text 44"/>
          <p:cNvSpPr txBox="1"/>
          <p:nvPr/>
        </p:nvSpPr>
        <p:spPr>
          <a:xfrm>
            <a:off x="8119872" y="4096512"/>
            <a:ext cx="3175711" cy="566928"/>
          </a:xfrm>
          <a:prstGeom prst="rect">
            <a:avLst/>
          </a:prstGeom>
          <a:noFill/>
          <a:ln/>
        </p:spPr>
        <p:txBody>
          <a:bodyPr wrap="square" lIns="0" tIns="0" rIns="0" bIns="0" rtlCol="0" anchor="t"/>
          <a:lstStyle/>
          <a:p>
            <a:pPr algn="l" indent="0" marL="0">
              <a:lnSpc>
                <a:spcPct val="112000"/>
              </a:lnSpc>
              <a:buNone/>
            </a:pPr>
            <a:r>
              <a:rPr lang="en-US" sz="950" dirty="0">
                <a:solidFill>
                  <a:srgbClr val="8A8A8A"/>
                </a:solidFill>
                <a:latin typeface="Google Sans" pitchFamily="34" charset="0"/>
                <a:ea typeface="Google Sans" pitchFamily="34" charset="-122"/>
                <a:cs typeface="Google Sans" pitchFamily="34" charset="-120"/>
              </a:rPr>
              <a:t>Variety, no single-title conflict. Sits with Online Station, under True Visions Group, so an MCN commercial layer applies.</a:t>
            </a:r>
            <a:endParaRPr lang="en-US" sz="950" dirty="0"/>
          </a:p>
        </p:txBody>
      </p:sp>
      <p:sp>
        <p:nvSpPr>
          <p:cNvPr id="47" name="Shape 45"/>
          <p:cNvSpPr/>
          <p:nvPr/>
        </p:nvSpPr>
        <p:spPr>
          <a:xfrm>
            <a:off x="640080" y="5029200"/>
            <a:ext cx="6949440" cy="859536"/>
          </a:xfrm>
          <a:prstGeom prst="roundRect">
            <a:avLst>
              <a:gd name="adj" fmla="val 6383"/>
            </a:avLst>
          </a:prstGeom>
          <a:solidFill>
            <a:srgbClr val="161616"/>
          </a:solidFill>
          <a:ln w="12700">
            <a:solidFill>
              <a:srgbClr val="232323"/>
            </a:solidFill>
            <a:prstDash val="solid"/>
          </a:ln>
        </p:spPr>
      </p:sp>
      <p:sp>
        <p:nvSpPr>
          <p:cNvPr id="48" name="Shape 46"/>
          <p:cNvSpPr/>
          <p:nvPr/>
        </p:nvSpPr>
        <p:spPr>
          <a:xfrm>
            <a:off x="896112" y="5157216"/>
            <a:ext cx="82296" cy="201168"/>
          </a:xfrm>
          <a:prstGeom prst="rect">
            <a:avLst/>
          </a:prstGeom>
          <a:solidFill>
            <a:srgbClr val="FF0033"/>
          </a:solidFill>
          <a:ln w="12700">
            <a:solidFill>
              <a:srgbClr val="FF0033"/>
            </a:solidFill>
            <a:prstDash val="solid"/>
          </a:ln>
        </p:spPr>
      </p:sp>
      <p:sp>
        <p:nvSpPr>
          <p:cNvPr id="49" name="Text 47"/>
          <p:cNvSpPr txBox="1"/>
          <p:nvPr/>
        </p:nvSpPr>
        <p:spPr>
          <a:xfrm>
            <a:off x="1069848" y="5138928"/>
            <a:ext cx="6263640" cy="640080"/>
          </a:xfrm>
          <a:prstGeom prst="rect">
            <a:avLst/>
          </a:prstGeom>
          <a:noFill/>
          <a:ln/>
        </p:spPr>
        <p:txBody>
          <a:bodyPr wrap="square" lIns="0" tIns="0" rIns="0" bIns="0" rtlCol="0" anchor="t"/>
          <a:lstStyle/>
          <a:p>
            <a:pPr algn="l" indent="0" marL="0">
              <a:lnSpc>
                <a:spcPct val="112000"/>
              </a:lnSpc>
              <a:buNone/>
            </a:pPr>
            <a:r>
              <a:rPr lang="en-US" sz="1050" dirty="0">
                <a:solidFill>
                  <a:srgbClr val="FFFFFF"/>
                </a:solidFill>
                <a:latin typeface="Google Sans" pitchFamily="34" charset="0"/>
                <a:ea typeface="Google Sans" pitchFamily="34" charset="-122"/>
                <a:cs typeface="Google Sans" pitchFamily="34" charset="-120"/>
              </a:rPr>
              <a:t>zbing z. started livestreaming in April 2014, reached 1 million subscribers in 2 years and passed 10 million in 2019, the first Thai gaming livestream channel to do it. A woman holds the top of the gaming category in this market.</a:t>
            </a:r>
            <a:endParaRPr lang="en-US" sz="1050" dirty="0"/>
          </a:p>
        </p:txBody>
      </p:sp>
      <p:sp>
        <p:nvSpPr>
          <p:cNvPr id="50" name="Shape 48"/>
          <p:cNvSpPr/>
          <p:nvPr/>
        </p:nvSpPr>
        <p:spPr>
          <a:xfrm>
            <a:off x="7863840" y="5029200"/>
            <a:ext cx="3687775" cy="859536"/>
          </a:xfrm>
          <a:prstGeom prst="roundRect">
            <a:avLst>
              <a:gd name="adj" fmla="val 6383"/>
            </a:avLst>
          </a:prstGeom>
          <a:solidFill>
            <a:srgbClr val="161616"/>
          </a:solidFill>
          <a:ln w="12700">
            <a:solidFill>
              <a:srgbClr val="232323"/>
            </a:solidFill>
            <a:prstDash val="solid"/>
          </a:ln>
        </p:spPr>
      </p:sp>
      <p:sp>
        <p:nvSpPr>
          <p:cNvPr id="51" name="Shape 49"/>
          <p:cNvSpPr/>
          <p:nvPr/>
        </p:nvSpPr>
        <p:spPr>
          <a:xfrm>
            <a:off x="8119872" y="5157216"/>
            <a:ext cx="82296" cy="201168"/>
          </a:xfrm>
          <a:prstGeom prst="rect">
            <a:avLst/>
          </a:prstGeom>
          <a:solidFill>
            <a:srgbClr val="FF0033"/>
          </a:solidFill>
          <a:ln w="12700">
            <a:solidFill>
              <a:srgbClr val="FF0033"/>
            </a:solidFill>
            <a:prstDash val="solid"/>
          </a:ln>
        </p:spPr>
      </p:sp>
      <p:sp>
        <p:nvSpPr>
          <p:cNvPr id="52" name="Text 50"/>
          <p:cNvSpPr txBox="1"/>
          <p:nvPr/>
        </p:nvSpPr>
        <p:spPr>
          <a:xfrm>
            <a:off x="8293608" y="5138928"/>
            <a:ext cx="3001975" cy="640080"/>
          </a:xfrm>
          <a:prstGeom prst="rect">
            <a:avLst/>
          </a:prstGeom>
          <a:noFill/>
          <a:ln/>
        </p:spPr>
        <p:txBody>
          <a:bodyPr wrap="square" lIns="0" tIns="0" rIns="0" bIns="0" rtlCol="0" anchor="t"/>
          <a:lstStyle/>
          <a:p>
            <a:pPr algn="l" indent="0" marL="0">
              <a:lnSpc>
                <a:spcPct val="112000"/>
              </a:lnSpc>
              <a:buNone/>
            </a:pPr>
            <a:r>
              <a:rPr lang="en-US" sz="950" dirty="0">
                <a:solidFill>
                  <a:srgbClr val="9E9E9E"/>
                </a:solidFill>
                <a:latin typeface="Google Sans" pitchFamily="34" charset="0"/>
                <a:ea typeface="Google Sans" pitchFamily="34" charset="-122"/>
                <a:cs typeface="Google Sans" pitchFamily="34" charset="-120"/>
              </a:rPr>
              <a:t>Publicly verified genre data exists for only part of this list. Genre and brand-safety verification is step 1 of the 2027 workflow, not an assumption.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566928"/>
          </a:xfrm>
          <a:prstGeom prst="rect">
            <a:avLst/>
          </a:prstGeom>
          <a:noFill/>
          <a:ln/>
        </p:spPr>
        <p:txBody>
          <a:bodyPr wrap="square" lIns="0" tIns="0" rIns="0" bIns="0" rtlCol="0" anchor="ctr"/>
          <a:lstStyle/>
          <a:p>
            <a:pPr algn="l" indent="0" marL="0">
              <a:buNone/>
            </a:pPr>
            <a:r>
              <a:rPr lang="en-US" sz="2900" b="1" dirty="0">
                <a:solidFill>
                  <a:srgbClr val="FFFFFF"/>
                </a:solidFill>
                <a:latin typeface="Google Sans" pitchFamily="34" charset="0"/>
                <a:ea typeface="Google Sans" pitchFamily="34" charset="-122"/>
                <a:cs typeface="Google Sans" pitchFamily="34" charset="-120"/>
              </a:rPr>
              <a:t>Thai gamers use 3 platforms for 3 different jobs</a:t>
            </a:r>
            <a:endParaRPr lang="en-US" sz="2900" dirty="0"/>
          </a:p>
        </p:txBody>
      </p:sp>
      <p:sp>
        <p:nvSpPr>
          <p:cNvPr id="3" name="Text 1"/>
          <p:cNvSpPr txBox="1"/>
          <p:nvPr/>
        </p:nvSpPr>
        <p:spPr>
          <a:xfrm>
            <a:off x="640080" y="1225296"/>
            <a:ext cx="10911535" cy="310896"/>
          </a:xfrm>
          <a:prstGeom prst="rect">
            <a:avLst/>
          </a:prstGeom>
          <a:noFill/>
          <a:ln/>
        </p:spPr>
        <p:txBody>
          <a:bodyPr wrap="square" lIns="0" tIns="0" rIns="0" bIns="0" rtlCol="0" anchor="ctr"/>
          <a:lstStyle/>
          <a:p>
            <a:pPr algn="l" indent="0" marL="0">
              <a:buNone/>
            </a:pPr>
            <a:r>
              <a:rPr lang="en-US" sz="1400" dirty="0">
                <a:solidFill>
                  <a:srgbClr val="9E9E9E"/>
                </a:solidFill>
                <a:latin typeface="Google Sans" pitchFamily="34" charset="0"/>
                <a:ea typeface="Google Sans" pitchFamily="34" charset="-122"/>
                <a:cs typeface="Google Sans" pitchFamily="34" charset="-120"/>
              </a:rPr>
              <a:t>discovery, spark and decision are not the same job, and they do not happen in the same place.</a:t>
            </a:r>
            <a:endParaRPr lang="en-US" sz="1400" dirty="0"/>
          </a:p>
        </p:txBody>
      </p:sp>
      <p:sp>
        <p:nvSpPr>
          <p:cNvPr id="4" name="Shape 2"/>
          <p:cNvSpPr/>
          <p:nvPr/>
        </p:nvSpPr>
        <p:spPr>
          <a:xfrm>
            <a:off x="640080" y="6163056"/>
            <a:ext cx="10911535" cy="402336"/>
          </a:xfrm>
          <a:prstGeom prst="roundRect">
            <a:avLst>
              <a:gd name="adj" fmla="val 13636"/>
            </a:avLst>
          </a:prstGeom>
          <a:solidFill>
            <a:srgbClr val="161616"/>
          </a:solidFill>
          <a:ln w="12700">
            <a:solidFill>
              <a:srgbClr val="232323"/>
            </a:solidFill>
            <a:prstDash val="solid"/>
          </a:ln>
        </p:spPr>
      </p:sp>
      <p:sp>
        <p:nvSpPr>
          <p:cNvPr id="5" name="Shape 3"/>
          <p:cNvSpPr/>
          <p:nvPr/>
        </p:nvSpPr>
        <p:spPr>
          <a:xfrm>
            <a:off x="786384" y="6263640"/>
            <a:ext cx="82296" cy="201168"/>
          </a:xfrm>
          <a:prstGeom prst="rect">
            <a:avLst/>
          </a:prstGeom>
          <a:solidFill>
            <a:srgbClr val="FF0033"/>
          </a:solidFill>
          <a:ln w="12700">
            <a:solidFill>
              <a:srgbClr val="FF0033"/>
            </a:solidFill>
            <a:prstDash val="solid"/>
          </a:ln>
        </p:spPr>
      </p:sp>
      <p:sp>
        <p:nvSpPr>
          <p:cNvPr id="6" name="Text 4"/>
          <p:cNvSpPr txBox="1"/>
          <p:nvPr/>
        </p:nvSpPr>
        <p:spPr>
          <a:xfrm>
            <a:off x="987552" y="6163056"/>
            <a:ext cx="10417759" cy="402336"/>
          </a:xfrm>
          <a:prstGeom prst="rect">
            <a:avLst/>
          </a:prstGeom>
          <a:noFill/>
          <a:ln/>
        </p:spPr>
        <p:txBody>
          <a:bodyPr wrap="square" lIns="0" tIns="0" rIns="0" bIns="0" rtlCol="0" anchor="ctr"/>
          <a:lstStyle/>
          <a:p>
            <a:pPr algn="l" indent="0" marL="0">
              <a:buNone/>
            </a:pPr>
            <a:r>
              <a:rPr lang="en-US" sz="950" dirty="0">
                <a:solidFill>
                  <a:srgbClr val="6E6E6E"/>
                </a:solidFill>
                <a:latin typeface="Google Sans" pitchFamily="34" charset="0"/>
                <a:ea typeface="Google Sans" pitchFamily="34" charset="-122"/>
                <a:cs typeface="Google Sans" pitchFamily="34" charset="-120"/>
              </a:rPr>
              <a:t>Source: Antom, January 2026. Reuters Institute Digital News Report 2026. YouTube and Analytic Edge via Nation Thailand, September 2025. TikTok for Business case study, VNG Corporation, 2023.</a:t>
            </a:r>
            <a:endParaRPr lang="en-US" sz="950" dirty="0"/>
          </a:p>
        </p:txBody>
      </p:sp>
      <p:sp>
        <p:nvSpPr>
          <p:cNvPr id="7" name="Shape 5"/>
          <p:cNvSpPr/>
          <p:nvPr/>
        </p:nvSpPr>
        <p:spPr>
          <a:xfrm rot="5400000">
            <a:off x="4134002" y="3310128"/>
            <a:ext cx="173736" cy="173736"/>
          </a:xfrm>
          <a:prstGeom prst="triangle">
            <a:avLst/>
          </a:prstGeom>
          <a:solidFill>
            <a:srgbClr val="FF0033"/>
          </a:solidFill>
          <a:ln w="12700">
            <a:solidFill>
              <a:srgbClr val="FF0033"/>
            </a:solidFill>
            <a:prstDash val="solid"/>
          </a:ln>
        </p:spPr>
      </p:sp>
      <p:sp>
        <p:nvSpPr>
          <p:cNvPr id="8" name="Shape 6"/>
          <p:cNvSpPr/>
          <p:nvPr/>
        </p:nvSpPr>
        <p:spPr>
          <a:xfrm rot="5400000">
            <a:off x="7893101" y="3310128"/>
            <a:ext cx="173736" cy="173736"/>
          </a:xfrm>
          <a:prstGeom prst="triangle">
            <a:avLst/>
          </a:prstGeom>
          <a:solidFill>
            <a:srgbClr val="FF0033"/>
          </a:solidFill>
          <a:ln w="12700">
            <a:solidFill>
              <a:srgbClr val="FF0033"/>
            </a:solidFill>
            <a:prstDash val="solid"/>
          </a:ln>
        </p:spPr>
      </p:sp>
      <p:sp>
        <p:nvSpPr>
          <p:cNvPr id="9" name="Shape 7"/>
          <p:cNvSpPr/>
          <p:nvPr/>
        </p:nvSpPr>
        <p:spPr>
          <a:xfrm>
            <a:off x="640080" y="1874520"/>
            <a:ext cx="3393338" cy="2962656"/>
          </a:xfrm>
          <a:prstGeom prst="roundRect">
            <a:avLst>
              <a:gd name="adj" fmla="val 1852"/>
            </a:avLst>
          </a:prstGeom>
          <a:solidFill>
            <a:srgbClr val="161616"/>
          </a:solidFill>
          <a:ln w="12700">
            <a:solidFill>
              <a:srgbClr val="232323"/>
            </a:solidFill>
            <a:prstDash val="solid"/>
          </a:ln>
        </p:spPr>
      </p:sp>
      <p:sp>
        <p:nvSpPr>
          <p:cNvPr id="10" name="Shape 8"/>
          <p:cNvSpPr/>
          <p:nvPr/>
        </p:nvSpPr>
        <p:spPr>
          <a:xfrm>
            <a:off x="896112" y="2057400"/>
            <a:ext cx="310896" cy="256032"/>
          </a:xfrm>
          <a:prstGeom prst="roundRect">
            <a:avLst>
              <a:gd name="adj" fmla="val 21429"/>
            </a:avLst>
          </a:prstGeom>
          <a:solidFill>
            <a:srgbClr val="202020"/>
          </a:solidFill>
          <a:ln w="12700">
            <a:solidFill>
              <a:srgbClr val="2E2E2E"/>
            </a:solidFill>
            <a:prstDash val="solid"/>
          </a:ln>
        </p:spPr>
      </p:sp>
      <p:sp>
        <p:nvSpPr>
          <p:cNvPr id="11" name="Text 9"/>
          <p:cNvSpPr txBox="1"/>
          <p:nvPr/>
        </p:nvSpPr>
        <p:spPr>
          <a:xfrm>
            <a:off x="896112" y="2057400"/>
            <a:ext cx="310896" cy="256032"/>
          </a:xfrm>
          <a:prstGeom prst="rect">
            <a:avLst/>
          </a:prstGeom>
          <a:noFill/>
          <a:ln/>
        </p:spPr>
        <p:txBody>
          <a:bodyPr wrap="square" lIns="0" tIns="0" rIns="0" bIns="0" rtlCol="0" anchor="ctr"/>
          <a:lstStyle/>
          <a:p>
            <a:pPr algn="ctr" indent="0" marL="0">
              <a:buNone/>
            </a:pPr>
            <a:r>
              <a:rPr lang="en-US" sz="1000" b="1" dirty="0">
                <a:solidFill>
                  <a:srgbClr val="8A8A8A"/>
                </a:solidFill>
                <a:latin typeface="Google Sans" pitchFamily="34" charset="0"/>
                <a:ea typeface="Google Sans" pitchFamily="34" charset="-122"/>
                <a:cs typeface="Google Sans" pitchFamily="34" charset="-120"/>
              </a:rPr>
              <a:t>1</a:t>
            </a:r>
            <a:endParaRPr lang="en-US" sz="1000" dirty="0"/>
          </a:p>
        </p:txBody>
      </p:sp>
      <p:sp>
        <p:nvSpPr>
          <p:cNvPr id="12" name="Text 10"/>
          <p:cNvSpPr txBox="1"/>
          <p:nvPr/>
        </p:nvSpPr>
        <p:spPr>
          <a:xfrm>
            <a:off x="1280160" y="2039112"/>
            <a:ext cx="2478938" cy="274320"/>
          </a:xfrm>
          <a:prstGeom prst="rect">
            <a:avLst/>
          </a:prstGeom>
          <a:noFill/>
          <a:ln/>
        </p:spPr>
        <p:txBody>
          <a:bodyPr wrap="square" lIns="0" tIns="0" rIns="0" bIns="0" rtlCol="0" anchor="ctr"/>
          <a:lstStyle/>
          <a:p>
            <a:pPr algn="l" indent="0" marL="0">
              <a:buNone/>
            </a:pPr>
            <a:r>
              <a:rPr lang="en-US" sz="1500" b="1" dirty="0">
                <a:solidFill>
                  <a:srgbClr val="FFFFFF"/>
                </a:solidFill>
                <a:latin typeface="Google Sans" pitchFamily="34" charset="0"/>
                <a:ea typeface="Google Sans" pitchFamily="34" charset="-122"/>
                <a:cs typeface="Google Sans" pitchFamily="34" charset="-120"/>
              </a:rPr>
              <a:t>Discovery</a:t>
            </a:r>
            <a:endParaRPr lang="en-US" sz="1500" dirty="0"/>
          </a:p>
        </p:txBody>
      </p:sp>
      <p:sp>
        <p:nvSpPr>
          <p:cNvPr id="13" name="Text 11"/>
          <p:cNvSpPr txBox="1"/>
          <p:nvPr/>
        </p:nvSpPr>
        <p:spPr>
          <a:xfrm>
            <a:off x="896112" y="2386584"/>
            <a:ext cx="2881274" cy="256032"/>
          </a:xfrm>
          <a:prstGeom prst="rect">
            <a:avLst/>
          </a:prstGeom>
          <a:noFill/>
          <a:ln/>
        </p:spPr>
        <p:txBody>
          <a:bodyPr wrap="square" lIns="0" tIns="0" rIns="0" bIns="0" rtlCol="0" anchor="t"/>
          <a:lstStyle/>
          <a:p>
            <a:pPr algn="l" indent="0" marL="0">
              <a:buNone/>
            </a:pPr>
            <a:r>
              <a:rPr lang="en-US" sz="1300" b="1" dirty="0">
                <a:solidFill>
                  <a:srgbClr val="8A8A8A"/>
                </a:solidFill>
                <a:latin typeface="Google Sans" pitchFamily="34" charset="0"/>
                <a:ea typeface="Google Sans" pitchFamily="34" charset="-122"/>
                <a:cs typeface="Google Sans" pitchFamily="34" charset="-120"/>
              </a:rPr>
              <a:t>Facebook</a:t>
            </a:r>
            <a:endParaRPr lang="en-US" sz="1300" dirty="0"/>
          </a:p>
        </p:txBody>
      </p:sp>
      <p:sp>
        <p:nvSpPr>
          <p:cNvPr id="14" name="Shape 12"/>
          <p:cNvSpPr/>
          <p:nvPr/>
        </p:nvSpPr>
        <p:spPr>
          <a:xfrm>
            <a:off x="896112" y="2788920"/>
            <a:ext cx="82296" cy="192024"/>
          </a:xfrm>
          <a:prstGeom prst="rect">
            <a:avLst/>
          </a:prstGeom>
          <a:solidFill>
            <a:srgbClr val="4A4A4A"/>
          </a:solidFill>
          <a:ln w="12700">
            <a:solidFill>
              <a:srgbClr val="4A4A4A"/>
            </a:solidFill>
            <a:prstDash val="solid"/>
          </a:ln>
        </p:spPr>
      </p:sp>
      <p:sp>
        <p:nvSpPr>
          <p:cNvPr id="15" name="Text 13"/>
          <p:cNvSpPr txBox="1"/>
          <p:nvPr/>
        </p:nvSpPr>
        <p:spPr>
          <a:xfrm>
            <a:off x="1069848" y="2752344"/>
            <a:ext cx="2707538" cy="237744"/>
          </a:xfrm>
          <a:prstGeom prst="rect">
            <a:avLst/>
          </a:prstGeom>
          <a:noFill/>
          <a:ln/>
        </p:spPr>
        <p:txBody>
          <a:bodyPr wrap="square" lIns="0" tIns="0" rIns="0" bIns="0" rtlCol="0" anchor="t"/>
          <a:lstStyle/>
          <a:p>
            <a:pPr algn="l" indent="0" marL="0">
              <a:buNone/>
            </a:pPr>
            <a:r>
              <a:rPr lang="en-US" sz="1250" b="1" dirty="0">
                <a:solidFill>
                  <a:srgbClr val="9E9E9E"/>
                </a:solidFill>
                <a:latin typeface="Google Sans" pitchFamily="34" charset="0"/>
                <a:ea typeface="Google Sans" pitchFamily="34" charset="-122"/>
                <a:cs typeface="Google Sans" pitchFamily="34" charset="-120"/>
              </a:rPr>
              <a:t>over 70%</a:t>
            </a:r>
            <a:endParaRPr lang="en-US" sz="1250" dirty="0"/>
          </a:p>
        </p:txBody>
      </p:sp>
      <p:sp>
        <p:nvSpPr>
          <p:cNvPr id="16" name="Text 14"/>
          <p:cNvSpPr txBox="1"/>
          <p:nvPr/>
        </p:nvSpPr>
        <p:spPr>
          <a:xfrm>
            <a:off x="896112" y="3063240"/>
            <a:ext cx="2881274" cy="640080"/>
          </a:xfrm>
          <a:prstGeom prst="rect">
            <a:avLst/>
          </a:prstGeom>
          <a:noFill/>
          <a:ln/>
        </p:spPr>
        <p:txBody>
          <a:bodyPr wrap="square" lIns="0" tIns="0" rIns="0" bIns="0" rtlCol="0" anchor="t"/>
          <a:lstStyle/>
          <a:p>
            <a:pPr algn="l" indent="0" marL="0">
              <a:lnSpc>
                <a:spcPct val="112000"/>
              </a:lnSpc>
              <a:buNone/>
            </a:pPr>
            <a:r>
              <a:rPr lang="en-US" sz="1000" dirty="0">
                <a:solidFill>
                  <a:srgbClr val="9E9E9E"/>
                </a:solidFill>
                <a:latin typeface="Google Sans" pitchFamily="34" charset="0"/>
                <a:ea typeface="Google Sans" pitchFamily="34" charset="-122"/>
                <a:cs typeface="Google Sans" pitchFamily="34" charset="-120"/>
              </a:rPr>
              <a:t>of Thai gamers discover new titles through Facebook via KOL livestreams and trusted recommendations.</a:t>
            </a:r>
            <a:endParaRPr lang="en-US" sz="1000" dirty="0"/>
          </a:p>
        </p:txBody>
      </p:sp>
      <p:sp>
        <p:nvSpPr>
          <p:cNvPr id="17" name="Text 15"/>
          <p:cNvSpPr txBox="1"/>
          <p:nvPr/>
        </p:nvSpPr>
        <p:spPr>
          <a:xfrm>
            <a:off x="896112" y="3794760"/>
            <a:ext cx="2881274" cy="548640"/>
          </a:xfrm>
          <a:prstGeom prst="rect">
            <a:avLst/>
          </a:prstGeom>
          <a:noFill/>
          <a:ln/>
        </p:spPr>
        <p:txBody>
          <a:bodyPr wrap="square" lIns="0" tIns="0" rIns="0" bIns="0" rtlCol="0" anchor="t"/>
          <a:lstStyle/>
          <a:p>
            <a:pPr algn="l" indent="0" marL="0">
              <a:lnSpc>
                <a:spcPct val="112000"/>
              </a:lnSpc>
              <a:buNone/>
            </a:pPr>
            <a:r>
              <a:rPr lang="en-US" sz="1000" dirty="0">
                <a:solidFill>
                  <a:srgbClr val="8A8A8A"/>
                </a:solidFill>
                <a:latin typeface="Google Sans" pitchFamily="34" charset="0"/>
                <a:ea typeface="Google Sans" pitchFamily="34" charset="-122"/>
                <a:cs typeface="Google Sans" pitchFamily="34" charset="-120"/>
              </a:rPr>
              <a:t>Official fan pages and player-run groups carry post-launch retention.</a:t>
            </a:r>
            <a:endParaRPr lang="en-US" sz="1000" dirty="0"/>
          </a:p>
        </p:txBody>
      </p:sp>
      <p:sp>
        <p:nvSpPr>
          <p:cNvPr id="18" name="Shape 16"/>
          <p:cNvSpPr/>
          <p:nvPr/>
        </p:nvSpPr>
        <p:spPr>
          <a:xfrm>
            <a:off x="4399178" y="1874520"/>
            <a:ext cx="3393338" cy="2962656"/>
          </a:xfrm>
          <a:prstGeom prst="roundRect">
            <a:avLst>
              <a:gd name="adj" fmla="val 1852"/>
            </a:avLst>
          </a:prstGeom>
          <a:solidFill>
            <a:srgbClr val="161616"/>
          </a:solidFill>
          <a:ln w="12700">
            <a:solidFill>
              <a:srgbClr val="232323"/>
            </a:solidFill>
            <a:prstDash val="solid"/>
          </a:ln>
        </p:spPr>
      </p:sp>
      <p:sp>
        <p:nvSpPr>
          <p:cNvPr id="19" name="Shape 17"/>
          <p:cNvSpPr/>
          <p:nvPr/>
        </p:nvSpPr>
        <p:spPr>
          <a:xfrm>
            <a:off x="4655210" y="2057400"/>
            <a:ext cx="310896" cy="256032"/>
          </a:xfrm>
          <a:prstGeom prst="roundRect">
            <a:avLst>
              <a:gd name="adj" fmla="val 21429"/>
            </a:avLst>
          </a:prstGeom>
          <a:solidFill>
            <a:srgbClr val="202020"/>
          </a:solidFill>
          <a:ln w="12700">
            <a:solidFill>
              <a:srgbClr val="2E2E2E"/>
            </a:solidFill>
            <a:prstDash val="solid"/>
          </a:ln>
        </p:spPr>
      </p:sp>
      <p:sp>
        <p:nvSpPr>
          <p:cNvPr id="20" name="Text 18"/>
          <p:cNvSpPr txBox="1"/>
          <p:nvPr/>
        </p:nvSpPr>
        <p:spPr>
          <a:xfrm>
            <a:off x="4655210" y="2057400"/>
            <a:ext cx="310896" cy="256032"/>
          </a:xfrm>
          <a:prstGeom prst="rect">
            <a:avLst/>
          </a:prstGeom>
          <a:noFill/>
          <a:ln/>
        </p:spPr>
        <p:txBody>
          <a:bodyPr wrap="square" lIns="0" tIns="0" rIns="0" bIns="0" rtlCol="0" anchor="ctr"/>
          <a:lstStyle/>
          <a:p>
            <a:pPr algn="ctr" indent="0" marL="0">
              <a:buNone/>
            </a:pPr>
            <a:r>
              <a:rPr lang="en-US" sz="1000" b="1" dirty="0">
                <a:solidFill>
                  <a:srgbClr val="8A8A8A"/>
                </a:solidFill>
                <a:latin typeface="Google Sans" pitchFamily="34" charset="0"/>
                <a:ea typeface="Google Sans" pitchFamily="34" charset="-122"/>
                <a:cs typeface="Google Sans" pitchFamily="34" charset="-120"/>
              </a:rPr>
              <a:t>2</a:t>
            </a:r>
            <a:endParaRPr lang="en-US" sz="1000" dirty="0"/>
          </a:p>
        </p:txBody>
      </p:sp>
      <p:sp>
        <p:nvSpPr>
          <p:cNvPr id="21" name="Text 19"/>
          <p:cNvSpPr txBox="1"/>
          <p:nvPr/>
        </p:nvSpPr>
        <p:spPr>
          <a:xfrm>
            <a:off x="5039258" y="2039112"/>
            <a:ext cx="2478938" cy="274320"/>
          </a:xfrm>
          <a:prstGeom prst="rect">
            <a:avLst/>
          </a:prstGeom>
          <a:noFill/>
          <a:ln/>
        </p:spPr>
        <p:txBody>
          <a:bodyPr wrap="square" lIns="0" tIns="0" rIns="0" bIns="0" rtlCol="0" anchor="ctr"/>
          <a:lstStyle/>
          <a:p>
            <a:pPr algn="l" indent="0" marL="0">
              <a:buNone/>
            </a:pPr>
            <a:r>
              <a:rPr lang="en-US" sz="1500" b="1" dirty="0">
                <a:solidFill>
                  <a:srgbClr val="FFFFFF"/>
                </a:solidFill>
                <a:latin typeface="Google Sans" pitchFamily="34" charset="0"/>
                <a:ea typeface="Google Sans" pitchFamily="34" charset="-122"/>
                <a:cs typeface="Google Sans" pitchFamily="34" charset="-120"/>
              </a:rPr>
              <a:t>The spark</a:t>
            </a:r>
            <a:endParaRPr lang="en-US" sz="1500" dirty="0"/>
          </a:p>
        </p:txBody>
      </p:sp>
      <p:sp>
        <p:nvSpPr>
          <p:cNvPr id="22" name="Text 20"/>
          <p:cNvSpPr txBox="1"/>
          <p:nvPr/>
        </p:nvSpPr>
        <p:spPr>
          <a:xfrm>
            <a:off x="4655210" y="2386584"/>
            <a:ext cx="2881274" cy="256032"/>
          </a:xfrm>
          <a:prstGeom prst="rect">
            <a:avLst/>
          </a:prstGeom>
          <a:noFill/>
          <a:ln/>
        </p:spPr>
        <p:txBody>
          <a:bodyPr wrap="square" lIns="0" tIns="0" rIns="0" bIns="0" rtlCol="0" anchor="t"/>
          <a:lstStyle/>
          <a:p>
            <a:pPr algn="l" indent="0" marL="0">
              <a:buNone/>
            </a:pPr>
            <a:r>
              <a:rPr lang="en-US" sz="1300" b="1" dirty="0">
                <a:solidFill>
                  <a:srgbClr val="8A8A8A"/>
                </a:solidFill>
                <a:latin typeface="Google Sans" pitchFamily="34" charset="0"/>
                <a:ea typeface="Google Sans" pitchFamily="34" charset="-122"/>
                <a:cs typeface="Google Sans" pitchFamily="34" charset="-120"/>
              </a:rPr>
              <a:t>Short form</a:t>
            </a:r>
            <a:endParaRPr lang="en-US" sz="1300" dirty="0"/>
          </a:p>
        </p:txBody>
      </p:sp>
      <p:sp>
        <p:nvSpPr>
          <p:cNvPr id="23" name="Shape 21"/>
          <p:cNvSpPr/>
          <p:nvPr/>
        </p:nvSpPr>
        <p:spPr>
          <a:xfrm>
            <a:off x="4655210" y="2788920"/>
            <a:ext cx="82296" cy="192024"/>
          </a:xfrm>
          <a:prstGeom prst="rect">
            <a:avLst/>
          </a:prstGeom>
          <a:solidFill>
            <a:srgbClr val="4A4A4A"/>
          </a:solidFill>
          <a:ln w="12700">
            <a:solidFill>
              <a:srgbClr val="4A4A4A"/>
            </a:solidFill>
            <a:prstDash val="solid"/>
          </a:ln>
        </p:spPr>
      </p:sp>
      <p:sp>
        <p:nvSpPr>
          <p:cNvPr id="24" name="Text 22"/>
          <p:cNvSpPr txBox="1"/>
          <p:nvPr/>
        </p:nvSpPr>
        <p:spPr>
          <a:xfrm>
            <a:off x="4828946" y="2752344"/>
            <a:ext cx="2707538" cy="237744"/>
          </a:xfrm>
          <a:prstGeom prst="rect">
            <a:avLst/>
          </a:prstGeom>
          <a:noFill/>
          <a:ln/>
        </p:spPr>
        <p:txBody>
          <a:bodyPr wrap="square" lIns="0" tIns="0" rIns="0" bIns="0" rtlCol="0" anchor="t"/>
          <a:lstStyle/>
          <a:p>
            <a:pPr algn="l" indent="0" marL="0">
              <a:buNone/>
            </a:pPr>
            <a:r>
              <a:rPr lang="en-US" sz="1250" b="1" dirty="0">
                <a:solidFill>
                  <a:srgbClr val="9E9E9E"/>
                </a:solidFill>
                <a:latin typeface="Google Sans" pitchFamily="34" charset="0"/>
                <a:ea typeface="Google Sans" pitchFamily="34" charset="-122"/>
                <a:cs typeface="Google Sans" pitchFamily="34" charset="-120"/>
              </a:rPr>
              <a:t>short form starts it</a:t>
            </a:r>
            <a:endParaRPr lang="en-US" sz="1250" dirty="0"/>
          </a:p>
        </p:txBody>
      </p:sp>
      <p:sp>
        <p:nvSpPr>
          <p:cNvPr id="25" name="Text 23"/>
          <p:cNvSpPr txBox="1"/>
          <p:nvPr/>
        </p:nvSpPr>
        <p:spPr>
          <a:xfrm>
            <a:off x="4655210" y="3063240"/>
            <a:ext cx="2881274" cy="822960"/>
          </a:xfrm>
          <a:prstGeom prst="rect">
            <a:avLst/>
          </a:prstGeom>
          <a:noFill/>
          <a:ln/>
        </p:spPr>
        <p:txBody>
          <a:bodyPr wrap="square" lIns="0" tIns="0" rIns="0" bIns="0" rtlCol="0" anchor="t"/>
          <a:lstStyle/>
          <a:p>
            <a:pPr algn="l" indent="0" marL="0">
              <a:lnSpc>
                <a:spcPct val="112000"/>
              </a:lnSpc>
              <a:buNone/>
            </a:pPr>
            <a:r>
              <a:rPr lang="en-US" sz="1000" dirty="0">
                <a:solidFill>
                  <a:srgbClr val="9E9E9E"/>
                </a:solidFill>
                <a:latin typeface="Google Sans" pitchFamily="34" charset="0"/>
                <a:ea typeface="Google Sans" pitchFamily="34" charset="-122"/>
                <a:cs typeface="Google Sans" pitchFamily="34" charset="-120"/>
              </a:rPr>
              <a:t>Thai viewers begin with short-form video, and if interest holds, longer YouTube content follows, with search adding context.</a:t>
            </a:r>
            <a:endParaRPr lang="en-US" sz="1000" dirty="0"/>
          </a:p>
        </p:txBody>
      </p:sp>
      <p:sp>
        <p:nvSpPr>
          <p:cNvPr id="26" name="Text 24"/>
          <p:cNvSpPr txBox="1"/>
          <p:nvPr/>
        </p:nvSpPr>
        <p:spPr>
          <a:xfrm>
            <a:off x="4655210" y="3794760"/>
            <a:ext cx="2881274" cy="548640"/>
          </a:xfrm>
          <a:prstGeom prst="rect">
            <a:avLst/>
          </a:prstGeom>
          <a:noFill/>
          <a:ln/>
        </p:spPr>
        <p:txBody>
          <a:bodyPr wrap="square" lIns="0" tIns="0" rIns="0" bIns="0" rtlCol="0" anchor="t"/>
          <a:lstStyle/>
          <a:p>
            <a:pPr algn="l" indent="0" marL="0">
              <a:lnSpc>
                <a:spcPct val="112000"/>
              </a:lnSpc>
              <a:buNone/>
            </a:pPr>
            <a:r>
              <a:rPr lang="en-US" sz="1000" dirty="0">
                <a:solidFill>
                  <a:srgbClr val="8A8A8A"/>
                </a:solidFill>
                <a:latin typeface="Google Sans" pitchFamily="34" charset="0"/>
                <a:ea typeface="Google Sans" pitchFamily="34" charset="-122"/>
                <a:cs typeface="Google Sans" pitchFamily="34" charset="-120"/>
              </a:rPr>
              <a:t>Short form opens the door. It is not where the spend decision gets made.</a:t>
            </a:r>
            <a:endParaRPr lang="en-US" sz="1000" dirty="0"/>
          </a:p>
        </p:txBody>
      </p:sp>
      <p:sp>
        <p:nvSpPr>
          <p:cNvPr id="27" name="Shape 25"/>
          <p:cNvSpPr/>
          <p:nvPr/>
        </p:nvSpPr>
        <p:spPr>
          <a:xfrm>
            <a:off x="8158277" y="1874520"/>
            <a:ext cx="3393338" cy="2962656"/>
          </a:xfrm>
          <a:prstGeom prst="roundRect">
            <a:avLst>
              <a:gd name="adj" fmla="val 1852"/>
            </a:avLst>
          </a:prstGeom>
          <a:solidFill>
            <a:srgbClr val="161616"/>
          </a:solidFill>
          <a:ln w="12700">
            <a:solidFill>
              <a:srgbClr val="232323"/>
            </a:solidFill>
            <a:prstDash val="solid"/>
          </a:ln>
        </p:spPr>
      </p:sp>
      <p:sp>
        <p:nvSpPr>
          <p:cNvPr id="28" name="Shape 26"/>
          <p:cNvSpPr/>
          <p:nvPr/>
        </p:nvSpPr>
        <p:spPr>
          <a:xfrm>
            <a:off x="8414309" y="2057400"/>
            <a:ext cx="310896" cy="256032"/>
          </a:xfrm>
          <a:prstGeom prst="roundRect">
            <a:avLst>
              <a:gd name="adj" fmla="val 21429"/>
            </a:avLst>
          </a:prstGeom>
          <a:solidFill>
            <a:srgbClr val="FF0033"/>
          </a:solidFill>
          <a:ln w="12700">
            <a:solidFill>
              <a:srgbClr val="FF0033"/>
            </a:solidFill>
            <a:prstDash val="solid"/>
          </a:ln>
        </p:spPr>
      </p:sp>
      <p:sp>
        <p:nvSpPr>
          <p:cNvPr id="29" name="Text 27"/>
          <p:cNvSpPr txBox="1"/>
          <p:nvPr/>
        </p:nvSpPr>
        <p:spPr>
          <a:xfrm>
            <a:off x="8414309" y="2057400"/>
            <a:ext cx="31089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Google Sans" pitchFamily="34" charset="0"/>
                <a:ea typeface="Google Sans" pitchFamily="34" charset="-122"/>
                <a:cs typeface="Google Sans" pitchFamily="34" charset="-120"/>
              </a:rPr>
              <a:t>3</a:t>
            </a:r>
            <a:endParaRPr lang="en-US" sz="1000" dirty="0"/>
          </a:p>
        </p:txBody>
      </p:sp>
      <p:sp>
        <p:nvSpPr>
          <p:cNvPr id="30" name="Text 28"/>
          <p:cNvSpPr txBox="1"/>
          <p:nvPr/>
        </p:nvSpPr>
        <p:spPr>
          <a:xfrm>
            <a:off x="8798357" y="2039112"/>
            <a:ext cx="2478938" cy="274320"/>
          </a:xfrm>
          <a:prstGeom prst="rect">
            <a:avLst/>
          </a:prstGeom>
          <a:noFill/>
          <a:ln/>
        </p:spPr>
        <p:txBody>
          <a:bodyPr wrap="square" lIns="0" tIns="0" rIns="0" bIns="0" rtlCol="0" anchor="ctr"/>
          <a:lstStyle/>
          <a:p>
            <a:pPr algn="l" indent="0" marL="0">
              <a:buNone/>
            </a:pPr>
            <a:r>
              <a:rPr lang="en-US" sz="1500" b="1" dirty="0">
                <a:solidFill>
                  <a:srgbClr val="FFFFFF"/>
                </a:solidFill>
                <a:latin typeface="Google Sans" pitchFamily="34" charset="0"/>
                <a:ea typeface="Google Sans" pitchFamily="34" charset="-122"/>
                <a:cs typeface="Google Sans" pitchFamily="34" charset="-120"/>
              </a:rPr>
              <a:t>The decision</a:t>
            </a:r>
            <a:endParaRPr lang="en-US" sz="1500" dirty="0"/>
          </a:p>
        </p:txBody>
      </p:sp>
      <p:sp>
        <p:nvSpPr>
          <p:cNvPr id="31" name="Text 29"/>
          <p:cNvSpPr txBox="1"/>
          <p:nvPr/>
        </p:nvSpPr>
        <p:spPr>
          <a:xfrm>
            <a:off x="8414309" y="2386584"/>
            <a:ext cx="2881274" cy="256032"/>
          </a:xfrm>
          <a:prstGeom prst="rect">
            <a:avLst/>
          </a:prstGeom>
          <a:noFill/>
          <a:ln/>
        </p:spPr>
        <p:txBody>
          <a:bodyPr wrap="square" lIns="0" tIns="0" rIns="0" bIns="0" rtlCol="0" anchor="t"/>
          <a:lstStyle/>
          <a:p>
            <a:pPr algn="l" indent="0" marL="0">
              <a:buNone/>
            </a:pPr>
            <a:r>
              <a:rPr lang="en-US" sz="1300" b="1" dirty="0">
                <a:solidFill>
                  <a:srgbClr val="FF0033"/>
                </a:solidFill>
                <a:latin typeface="Google Sans" pitchFamily="34" charset="0"/>
                <a:ea typeface="Google Sans" pitchFamily="34" charset="-122"/>
                <a:cs typeface="Google Sans" pitchFamily="34" charset="-120"/>
              </a:rPr>
              <a:t>YouTube</a:t>
            </a:r>
            <a:endParaRPr lang="en-US" sz="1300" dirty="0"/>
          </a:p>
        </p:txBody>
      </p:sp>
      <p:sp>
        <p:nvSpPr>
          <p:cNvPr id="32" name="Text 30"/>
          <p:cNvSpPr txBox="1"/>
          <p:nvPr/>
        </p:nvSpPr>
        <p:spPr>
          <a:xfrm>
            <a:off x="8414309" y="2770632"/>
            <a:ext cx="566928" cy="219456"/>
          </a:xfrm>
          <a:prstGeom prst="rect">
            <a:avLst/>
          </a:prstGeom>
          <a:noFill/>
          <a:ln/>
        </p:spPr>
        <p:txBody>
          <a:bodyPr wrap="square" lIns="0" tIns="0" rIns="0" bIns="0" rtlCol="0" anchor="t"/>
          <a:lstStyle/>
          <a:p>
            <a:pPr algn="l" indent="0" marL="0">
              <a:buNone/>
            </a:pPr>
            <a:r>
              <a:rPr lang="en-US" sz="1200" b="1" dirty="0">
                <a:solidFill>
                  <a:srgbClr val="FF0033"/>
                </a:solidFill>
                <a:latin typeface="Google Sans" pitchFamily="34" charset="0"/>
                <a:ea typeface="Google Sans" pitchFamily="34" charset="-122"/>
                <a:cs typeface="Google Sans" pitchFamily="34" charset="-120"/>
              </a:rPr>
              <a:t>92%</a:t>
            </a:r>
            <a:endParaRPr lang="en-US" sz="1200" dirty="0"/>
          </a:p>
        </p:txBody>
      </p:sp>
      <p:sp>
        <p:nvSpPr>
          <p:cNvPr id="33" name="Text 31"/>
          <p:cNvSpPr txBox="1"/>
          <p:nvPr/>
        </p:nvSpPr>
        <p:spPr>
          <a:xfrm>
            <a:off x="9017813" y="2752344"/>
            <a:ext cx="2277770" cy="347472"/>
          </a:xfrm>
          <a:prstGeom prst="rect">
            <a:avLst/>
          </a:prstGeom>
          <a:noFill/>
          <a:ln/>
        </p:spPr>
        <p:txBody>
          <a:bodyPr wrap="square" lIns="0" tIns="0" rIns="0" bIns="0" rtlCol="0" anchor="t"/>
          <a:lstStyle/>
          <a:p>
            <a:pPr algn="l" indent="0" marL="0">
              <a:lnSpc>
                <a:spcPct val="110000"/>
              </a:lnSpc>
              <a:buNone/>
            </a:pPr>
            <a:r>
              <a:rPr lang="en-US" sz="950" dirty="0">
                <a:solidFill>
                  <a:srgbClr val="9E9E9E"/>
                </a:solidFill>
                <a:latin typeface="Google Sans" pitchFamily="34" charset="0"/>
                <a:ea typeface="Google Sans" pitchFamily="34" charset="-122"/>
                <a:cs typeface="Google Sans" pitchFamily="34" charset="-120"/>
              </a:rPr>
              <a:t>go to YouTube to understand their interests more deeply</a:t>
            </a:r>
            <a:endParaRPr lang="en-US" sz="950" dirty="0"/>
          </a:p>
        </p:txBody>
      </p:sp>
      <p:sp>
        <p:nvSpPr>
          <p:cNvPr id="34" name="Text 32"/>
          <p:cNvSpPr txBox="1"/>
          <p:nvPr/>
        </p:nvSpPr>
        <p:spPr>
          <a:xfrm>
            <a:off x="8414309" y="3209544"/>
            <a:ext cx="566928" cy="219456"/>
          </a:xfrm>
          <a:prstGeom prst="rect">
            <a:avLst/>
          </a:prstGeom>
          <a:noFill/>
          <a:ln/>
        </p:spPr>
        <p:txBody>
          <a:bodyPr wrap="square" lIns="0" tIns="0" rIns="0" bIns="0" rtlCol="0" anchor="t"/>
          <a:lstStyle/>
          <a:p>
            <a:pPr algn="l" indent="0" marL="0">
              <a:buNone/>
            </a:pPr>
            <a:r>
              <a:rPr lang="en-US" sz="1200" b="1" dirty="0">
                <a:solidFill>
                  <a:srgbClr val="FF0033"/>
                </a:solidFill>
                <a:latin typeface="Google Sans" pitchFamily="34" charset="0"/>
                <a:ea typeface="Google Sans" pitchFamily="34" charset="-122"/>
                <a:cs typeface="Google Sans" pitchFamily="34" charset="-120"/>
              </a:rPr>
              <a:t>88%</a:t>
            </a:r>
            <a:endParaRPr lang="en-US" sz="1200" dirty="0"/>
          </a:p>
        </p:txBody>
      </p:sp>
      <p:sp>
        <p:nvSpPr>
          <p:cNvPr id="35" name="Text 33"/>
          <p:cNvSpPr txBox="1"/>
          <p:nvPr/>
        </p:nvSpPr>
        <p:spPr>
          <a:xfrm>
            <a:off x="9017813" y="3191256"/>
            <a:ext cx="2277770" cy="475488"/>
          </a:xfrm>
          <a:prstGeom prst="rect">
            <a:avLst/>
          </a:prstGeom>
          <a:noFill/>
          <a:ln/>
        </p:spPr>
        <p:txBody>
          <a:bodyPr wrap="square" lIns="0" tIns="0" rIns="0" bIns="0" rtlCol="0" anchor="t"/>
          <a:lstStyle/>
          <a:p>
            <a:pPr algn="l" indent="0" marL="0">
              <a:lnSpc>
                <a:spcPct val="110000"/>
              </a:lnSpc>
              <a:buNone/>
            </a:pPr>
            <a:r>
              <a:rPr lang="en-US" sz="950" dirty="0">
                <a:solidFill>
                  <a:srgbClr val="9E9E9E"/>
                </a:solidFill>
                <a:latin typeface="Google Sans" pitchFamily="34" charset="0"/>
                <a:ea typeface="Google Sans" pitchFamily="34" charset="-122"/>
                <a:cs typeface="Google Sans" pitchFamily="34" charset="-120"/>
              </a:rPr>
              <a:t>trust YouTube creators' opinions on brands and products more than voices on any other platform</a:t>
            </a:r>
            <a:endParaRPr lang="en-US" sz="950" dirty="0"/>
          </a:p>
        </p:txBody>
      </p:sp>
      <p:sp>
        <p:nvSpPr>
          <p:cNvPr id="36" name="Text 34"/>
          <p:cNvSpPr txBox="1"/>
          <p:nvPr/>
        </p:nvSpPr>
        <p:spPr>
          <a:xfrm>
            <a:off x="8414309" y="3776472"/>
            <a:ext cx="566928" cy="219456"/>
          </a:xfrm>
          <a:prstGeom prst="rect">
            <a:avLst/>
          </a:prstGeom>
          <a:noFill/>
          <a:ln/>
        </p:spPr>
        <p:txBody>
          <a:bodyPr wrap="square" lIns="0" tIns="0" rIns="0" bIns="0" rtlCol="0" anchor="t"/>
          <a:lstStyle/>
          <a:p>
            <a:pPr algn="l" indent="0" marL="0">
              <a:buNone/>
            </a:pPr>
            <a:r>
              <a:rPr lang="en-US" sz="1200" b="1" dirty="0">
                <a:solidFill>
                  <a:srgbClr val="FF0033"/>
                </a:solidFill>
                <a:latin typeface="Google Sans" pitchFamily="34" charset="0"/>
                <a:ea typeface="Google Sans" pitchFamily="34" charset="-122"/>
                <a:cs typeface="Google Sans" pitchFamily="34" charset="-120"/>
              </a:rPr>
              <a:t>88%</a:t>
            </a:r>
            <a:endParaRPr lang="en-US" sz="1200" dirty="0"/>
          </a:p>
        </p:txBody>
      </p:sp>
      <p:sp>
        <p:nvSpPr>
          <p:cNvPr id="37" name="Text 35"/>
          <p:cNvSpPr txBox="1"/>
          <p:nvPr/>
        </p:nvSpPr>
        <p:spPr>
          <a:xfrm>
            <a:off x="9017813" y="3758184"/>
            <a:ext cx="2277770" cy="475488"/>
          </a:xfrm>
          <a:prstGeom prst="rect">
            <a:avLst/>
          </a:prstGeom>
          <a:noFill/>
          <a:ln/>
        </p:spPr>
        <p:txBody>
          <a:bodyPr wrap="square" lIns="0" tIns="0" rIns="0" bIns="0" rtlCol="0" anchor="t"/>
          <a:lstStyle/>
          <a:p>
            <a:pPr algn="l" indent="0" marL="0">
              <a:lnSpc>
                <a:spcPct val="110000"/>
              </a:lnSpc>
              <a:buNone/>
            </a:pPr>
            <a:r>
              <a:rPr lang="en-US" sz="950" dirty="0">
                <a:solidFill>
                  <a:srgbClr val="9E9E9E"/>
                </a:solidFill>
                <a:latin typeface="Google Sans" pitchFamily="34" charset="0"/>
                <a:ea typeface="Google Sans" pitchFamily="34" charset="-122"/>
                <a:cs typeface="Google Sans" pitchFamily="34" charset="-120"/>
              </a:rPr>
              <a:t>of Thai shoppers said YouTube played a critical role in their most recent purchase decision</a:t>
            </a:r>
            <a:endParaRPr lang="en-US" sz="950" dirty="0"/>
          </a:p>
        </p:txBody>
      </p:sp>
      <p:sp>
        <p:nvSpPr>
          <p:cNvPr id="38" name="Text 36"/>
          <p:cNvSpPr txBox="1"/>
          <p:nvPr/>
        </p:nvSpPr>
        <p:spPr>
          <a:xfrm>
            <a:off x="8414309" y="4343400"/>
            <a:ext cx="566928" cy="219456"/>
          </a:xfrm>
          <a:prstGeom prst="rect">
            <a:avLst/>
          </a:prstGeom>
          <a:noFill/>
          <a:ln/>
        </p:spPr>
        <p:txBody>
          <a:bodyPr wrap="square" lIns="0" tIns="0" rIns="0" bIns="0" rtlCol="0" anchor="t"/>
          <a:lstStyle/>
          <a:p>
            <a:pPr algn="l" indent="0" marL="0">
              <a:buNone/>
            </a:pPr>
            <a:r>
              <a:rPr lang="en-US" sz="1200" b="1" dirty="0">
                <a:solidFill>
                  <a:srgbClr val="FF0033"/>
                </a:solidFill>
                <a:latin typeface="Google Sans" pitchFamily="34" charset="0"/>
                <a:ea typeface="Google Sans" pitchFamily="34" charset="-122"/>
                <a:cs typeface="Google Sans" pitchFamily="34" charset="-120"/>
              </a:rPr>
              <a:t>2.9x</a:t>
            </a:r>
            <a:endParaRPr lang="en-US" sz="1200" dirty="0"/>
          </a:p>
        </p:txBody>
      </p:sp>
      <p:sp>
        <p:nvSpPr>
          <p:cNvPr id="39" name="Text 37"/>
          <p:cNvSpPr txBox="1"/>
          <p:nvPr/>
        </p:nvSpPr>
        <p:spPr>
          <a:xfrm>
            <a:off x="9017813" y="4325112"/>
            <a:ext cx="2277770" cy="347472"/>
          </a:xfrm>
          <a:prstGeom prst="rect">
            <a:avLst/>
          </a:prstGeom>
          <a:noFill/>
          <a:ln/>
        </p:spPr>
        <p:txBody>
          <a:bodyPr wrap="square" lIns="0" tIns="0" rIns="0" bIns="0" rtlCol="0" anchor="t"/>
          <a:lstStyle/>
          <a:p>
            <a:pPr algn="l" indent="0" marL="0">
              <a:lnSpc>
                <a:spcPct val="110000"/>
              </a:lnSpc>
              <a:buNone/>
            </a:pPr>
            <a:r>
              <a:rPr lang="en-US" sz="950" dirty="0">
                <a:solidFill>
                  <a:srgbClr val="9E9E9E"/>
                </a:solidFill>
                <a:latin typeface="Google Sans" pitchFamily="34" charset="0"/>
                <a:ea typeface="Google Sans" pitchFamily="34" charset="-122"/>
                <a:cs typeface="Google Sans" pitchFamily="34" charset="-120"/>
              </a:rPr>
              <a:t>ROI versus television, and 1.6 times other social platforms</a:t>
            </a:r>
            <a:endParaRPr lang="en-US" sz="950" dirty="0"/>
          </a:p>
        </p:txBody>
      </p:sp>
      <p:sp>
        <p:nvSpPr>
          <p:cNvPr id="40" name="Shape 38"/>
          <p:cNvSpPr/>
          <p:nvPr/>
        </p:nvSpPr>
        <p:spPr>
          <a:xfrm>
            <a:off x="640080" y="5111496"/>
            <a:ext cx="10911535" cy="777240"/>
          </a:xfrm>
          <a:prstGeom prst="roundRect">
            <a:avLst>
              <a:gd name="adj" fmla="val 7059"/>
            </a:avLst>
          </a:prstGeom>
          <a:solidFill>
            <a:srgbClr val="161616"/>
          </a:solidFill>
          <a:ln w="12700">
            <a:solidFill>
              <a:srgbClr val="232323"/>
            </a:solidFill>
            <a:prstDash val="solid"/>
          </a:ln>
        </p:spPr>
      </p:sp>
      <p:sp>
        <p:nvSpPr>
          <p:cNvPr id="41" name="Shape 39"/>
          <p:cNvSpPr/>
          <p:nvPr/>
        </p:nvSpPr>
        <p:spPr>
          <a:xfrm>
            <a:off x="896112" y="5239512"/>
            <a:ext cx="82296" cy="201168"/>
          </a:xfrm>
          <a:prstGeom prst="rect">
            <a:avLst/>
          </a:prstGeom>
          <a:solidFill>
            <a:srgbClr val="FF0033"/>
          </a:solidFill>
          <a:ln w="12700">
            <a:solidFill>
              <a:srgbClr val="FF0033"/>
            </a:solidFill>
            <a:prstDash val="solid"/>
          </a:ln>
        </p:spPr>
      </p:sp>
      <p:sp>
        <p:nvSpPr>
          <p:cNvPr id="42" name="Text 40"/>
          <p:cNvSpPr txBox="1"/>
          <p:nvPr/>
        </p:nvSpPr>
        <p:spPr>
          <a:xfrm>
            <a:off x="1069848" y="5202936"/>
            <a:ext cx="10225735" cy="310896"/>
          </a:xfrm>
          <a:prstGeom prst="rect">
            <a:avLst/>
          </a:prstGeom>
          <a:noFill/>
          <a:ln/>
        </p:spPr>
        <p:txBody>
          <a:bodyPr wrap="square" lIns="0" tIns="0" rIns="0" bIns="0" rtlCol="0" anchor="t"/>
          <a:lstStyle/>
          <a:p>
            <a:pPr algn="l" indent="0" marL="0">
              <a:buNone/>
            </a:pPr>
            <a:r>
              <a:rPr lang="en-US" sz="1050" dirty="0">
                <a:solidFill>
                  <a:srgbClr val="FFFFFF"/>
                </a:solidFill>
                <a:latin typeface="Google Sans" pitchFamily="34" charset="0"/>
                <a:ea typeface="Google Sans" pitchFamily="34" charset="-122"/>
                <a:cs typeface="Google Sans" pitchFamily="34" charset="-120"/>
              </a:rPr>
              <a:t>VNG already proved the spark works. The Metal Slug: Awakening launch ran a planned funnel across 9 markets, and in Thailand iOS installs beat target by 328% while CPI came in 53% below target.</a:t>
            </a:r>
            <a:endParaRPr lang="en-US" sz="1050" dirty="0"/>
          </a:p>
        </p:txBody>
      </p:sp>
      <p:sp>
        <p:nvSpPr>
          <p:cNvPr id="43" name="Text 41"/>
          <p:cNvSpPr txBox="1"/>
          <p:nvPr/>
        </p:nvSpPr>
        <p:spPr>
          <a:xfrm>
            <a:off x="1069848" y="5550408"/>
            <a:ext cx="10225735" cy="256032"/>
          </a:xfrm>
          <a:prstGeom prst="rect">
            <a:avLst/>
          </a:prstGeom>
          <a:noFill/>
          <a:ln/>
        </p:spPr>
        <p:txBody>
          <a:bodyPr wrap="square" lIns="0" tIns="0" rIns="0" bIns="0" rtlCol="0" anchor="t"/>
          <a:lstStyle/>
          <a:p>
            <a:pPr algn="l" indent="0" marL="0">
              <a:buNone/>
            </a:pPr>
            <a:r>
              <a:rPr lang="en-US" sz="1200" b="1" dirty="0">
                <a:solidFill>
                  <a:srgbClr val="FF0033"/>
                </a:solidFill>
                <a:latin typeface="Google Sans" pitchFamily="34" charset="0"/>
                <a:ea typeface="Google Sans" pitchFamily="34" charset="-122"/>
                <a:cs typeface="Google Sans" pitchFamily="34" charset="-120"/>
              </a:rPr>
              <a:t>The spark is won. The decision layer is the one still open.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566928"/>
          </a:xfrm>
          <a:prstGeom prst="rect">
            <a:avLst/>
          </a:prstGeom>
          <a:noFill/>
          <a:ln/>
        </p:spPr>
        <p:txBody>
          <a:bodyPr wrap="square" lIns="0" tIns="0" rIns="0" bIns="0" rtlCol="0" anchor="ctr"/>
          <a:lstStyle/>
          <a:p>
            <a:pPr algn="l" indent="0" marL="0">
              <a:buNone/>
            </a:pPr>
            <a:r>
              <a:rPr lang="en-US" sz="2900" b="1" dirty="0">
                <a:solidFill>
                  <a:srgbClr val="FFFFFF"/>
                </a:solidFill>
                <a:latin typeface="Google Sans" pitchFamily="34" charset="0"/>
                <a:ea typeface="Google Sans" pitchFamily="34" charset="-122"/>
                <a:cs typeface="Google Sans" pitchFamily="34" charset="-120"/>
              </a:rPr>
              <a:t>Start where VNG already has proof</a:t>
            </a:r>
            <a:endParaRPr lang="en-US" sz="2900" dirty="0"/>
          </a:p>
        </p:txBody>
      </p:sp>
      <p:sp>
        <p:nvSpPr>
          <p:cNvPr id="3" name="Text 1"/>
          <p:cNvSpPr txBox="1"/>
          <p:nvPr/>
        </p:nvSpPr>
        <p:spPr>
          <a:xfrm>
            <a:off x="640080" y="1225296"/>
            <a:ext cx="10911535" cy="310896"/>
          </a:xfrm>
          <a:prstGeom prst="rect">
            <a:avLst/>
          </a:prstGeom>
          <a:noFill/>
          <a:ln/>
        </p:spPr>
        <p:txBody>
          <a:bodyPr wrap="square" lIns="0" tIns="0" rIns="0" bIns="0" rtlCol="0" anchor="ctr"/>
          <a:lstStyle/>
          <a:p>
            <a:pPr algn="l" indent="0" marL="0">
              <a:buNone/>
            </a:pPr>
            <a:r>
              <a:rPr lang="en-US" sz="1400" dirty="0">
                <a:solidFill>
                  <a:srgbClr val="9E9E9E"/>
                </a:solidFill>
                <a:latin typeface="Google Sans" pitchFamily="34" charset="0"/>
                <a:ea typeface="Google Sans" pitchFamily="34" charset="-122"/>
                <a:cs typeface="Google Sans" pitchFamily="34" charset="-120"/>
              </a:rPr>
              <a:t>the 2027 roster, tier 1 and tier 2, sorted by genre fit and conflict risk, not by subscriber count.</a:t>
            </a:r>
            <a:endParaRPr lang="en-US" sz="1400" dirty="0"/>
          </a:p>
        </p:txBody>
      </p:sp>
      <p:sp>
        <p:nvSpPr>
          <p:cNvPr id="4" name="Shape 2"/>
          <p:cNvSpPr/>
          <p:nvPr/>
        </p:nvSpPr>
        <p:spPr>
          <a:xfrm>
            <a:off x="640080" y="6163056"/>
            <a:ext cx="10911535" cy="402336"/>
          </a:xfrm>
          <a:prstGeom prst="roundRect">
            <a:avLst>
              <a:gd name="adj" fmla="val 13636"/>
            </a:avLst>
          </a:prstGeom>
          <a:solidFill>
            <a:srgbClr val="161616"/>
          </a:solidFill>
          <a:ln w="12700">
            <a:solidFill>
              <a:srgbClr val="232323"/>
            </a:solidFill>
            <a:prstDash val="solid"/>
          </a:ln>
        </p:spPr>
      </p:sp>
      <p:sp>
        <p:nvSpPr>
          <p:cNvPr id="5" name="Shape 3"/>
          <p:cNvSpPr/>
          <p:nvPr/>
        </p:nvSpPr>
        <p:spPr>
          <a:xfrm>
            <a:off x="786384" y="6263640"/>
            <a:ext cx="82296" cy="201168"/>
          </a:xfrm>
          <a:prstGeom prst="rect">
            <a:avLst/>
          </a:prstGeom>
          <a:solidFill>
            <a:srgbClr val="FF0033"/>
          </a:solidFill>
          <a:ln w="12700">
            <a:solidFill>
              <a:srgbClr val="FF0033"/>
            </a:solidFill>
            <a:prstDash val="solid"/>
          </a:ln>
        </p:spPr>
      </p:sp>
      <p:sp>
        <p:nvSpPr>
          <p:cNvPr id="6" name="Text 4"/>
          <p:cNvSpPr txBox="1"/>
          <p:nvPr/>
        </p:nvSpPr>
        <p:spPr>
          <a:xfrm>
            <a:off x="987552" y="6163056"/>
            <a:ext cx="10417759" cy="402336"/>
          </a:xfrm>
          <a:prstGeom prst="rect">
            <a:avLst/>
          </a:prstGeom>
          <a:noFill/>
          <a:ln/>
        </p:spPr>
        <p:txBody>
          <a:bodyPr wrap="square" lIns="0" tIns="0" rIns="0" bIns="0" rtlCol="0" anchor="ctr"/>
          <a:lstStyle/>
          <a:p>
            <a:pPr algn="l" indent="0" marL="0">
              <a:buNone/>
            </a:pPr>
            <a:r>
              <a:rPr lang="en-US" sz="950" dirty="0">
                <a:solidFill>
                  <a:srgbClr val="6E6E6E"/>
                </a:solidFill>
                <a:latin typeface="Google Sans" pitchFamily="34" charset="0"/>
                <a:ea typeface="Google Sans" pitchFamily="34" charset="-122"/>
                <a:cs typeface="Google Sans" pitchFamily="34" charset="-120"/>
              </a:rPr>
              <a:t>Source: Compgamer, 1 April 2025. Communitrics, July 2026. NoxInfluencer, 2026. Favikon, 2026. Average views are third-party estimates.</a:t>
            </a:r>
            <a:endParaRPr lang="en-US" sz="950" dirty="0"/>
          </a:p>
        </p:txBody>
      </p:sp>
      <p:sp>
        <p:nvSpPr>
          <p:cNvPr id="7" name="Shape 5"/>
          <p:cNvSpPr/>
          <p:nvPr/>
        </p:nvSpPr>
        <p:spPr>
          <a:xfrm>
            <a:off x="640080" y="1874520"/>
            <a:ext cx="6720840" cy="4014216"/>
          </a:xfrm>
          <a:prstGeom prst="roundRect">
            <a:avLst>
              <a:gd name="adj" fmla="val 1367"/>
            </a:avLst>
          </a:prstGeom>
          <a:solidFill>
            <a:srgbClr val="161616"/>
          </a:solidFill>
          <a:ln w="12700">
            <a:solidFill>
              <a:srgbClr val="232323"/>
            </a:solidFill>
            <a:prstDash val="solid"/>
          </a:ln>
        </p:spPr>
      </p:sp>
      <p:sp>
        <p:nvSpPr>
          <p:cNvPr id="8" name="Shape 6"/>
          <p:cNvSpPr/>
          <p:nvPr/>
        </p:nvSpPr>
        <p:spPr>
          <a:xfrm>
            <a:off x="896112" y="2057400"/>
            <a:ext cx="777240" cy="256032"/>
          </a:xfrm>
          <a:prstGeom prst="roundRect">
            <a:avLst>
              <a:gd name="adj" fmla="val 21429"/>
            </a:avLst>
          </a:prstGeom>
          <a:solidFill>
            <a:srgbClr val="FF0033"/>
          </a:solidFill>
          <a:ln w="12700">
            <a:solidFill>
              <a:srgbClr val="FF0033"/>
            </a:solidFill>
            <a:prstDash val="solid"/>
          </a:ln>
        </p:spPr>
      </p:sp>
      <p:sp>
        <p:nvSpPr>
          <p:cNvPr id="9" name="Text 7"/>
          <p:cNvSpPr txBox="1"/>
          <p:nvPr/>
        </p:nvSpPr>
        <p:spPr>
          <a:xfrm>
            <a:off x="896112" y="2057400"/>
            <a:ext cx="77724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Google Sans" pitchFamily="34" charset="0"/>
                <a:ea typeface="Google Sans" pitchFamily="34" charset="-122"/>
                <a:cs typeface="Google Sans" pitchFamily="34" charset="-120"/>
              </a:rPr>
              <a:t>Tier 1</a:t>
            </a:r>
            <a:endParaRPr lang="en-US" sz="950" dirty="0"/>
          </a:p>
        </p:txBody>
      </p:sp>
      <p:sp>
        <p:nvSpPr>
          <p:cNvPr id="10" name="Text 8"/>
          <p:cNvSpPr txBox="1"/>
          <p:nvPr/>
        </p:nvSpPr>
        <p:spPr>
          <a:xfrm>
            <a:off x="1783080" y="2039112"/>
            <a:ext cx="5321808" cy="274320"/>
          </a:xfrm>
          <a:prstGeom prst="rect">
            <a:avLst/>
          </a:prstGeom>
          <a:noFill/>
          <a:ln/>
        </p:spPr>
        <p:txBody>
          <a:bodyPr wrap="square" lIns="0" tIns="0" rIns="0" bIns="0" rtlCol="0" anchor="ctr"/>
          <a:lstStyle/>
          <a:p>
            <a:pPr algn="l" indent="0" marL="0">
              <a:buNone/>
            </a:pPr>
            <a:r>
              <a:rPr lang="en-US" sz="1400" b="1" dirty="0">
                <a:solidFill>
                  <a:srgbClr val="FFFFFF"/>
                </a:solidFill>
                <a:latin typeface="Google Sans" pitchFamily="34" charset="0"/>
                <a:ea typeface="Google Sans" pitchFamily="34" charset="-122"/>
                <a:cs typeface="Google Sans" pitchFamily="34" charset="-120"/>
              </a:rPr>
              <a:t>Creators who have already worked a VNG launch</a:t>
            </a:r>
            <a:endParaRPr lang="en-US" sz="1400" dirty="0"/>
          </a:p>
        </p:txBody>
      </p:sp>
      <p:sp>
        <p:nvSpPr>
          <p:cNvPr id="11" name="Text 9"/>
          <p:cNvSpPr txBox="1"/>
          <p:nvPr/>
        </p:nvSpPr>
        <p:spPr>
          <a:xfrm>
            <a:off x="896112" y="2441448"/>
            <a:ext cx="6208776" cy="201168"/>
          </a:xfrm>
          <a:prstGeom prst="rect">
            <a:avLst/>
          </a:prstGeom>
          <a:noFill/>
          <a:ln/>
        </p:spPr>
        <p:txBody>
          <a:bodyPr wrap="square" lIns="0" tIns="0" rIns="0" bIns="0" rtlCol="0" anchor="t"/>
          <a:lstStyle/>
          <a:p>
            <a:pPr algn="l" indent="0" marL="0">
              <a:buNone/>
            </a:pPr>
            <a:r>
              <a:rPr lang="en-US" sz="950" dirty="0">
                <a:solidFill>
                  <a:srgbClr val="8A8A8A"/>
                </a:solidFill>
                <a:latin typeface="Google Sans" pitchFamily="34" charset="0"/>
                <a:ea typeface="Google Sans" pitchFamily="34" charset="-122"/>
                <a:cs typeface="Google Sans" pitchFamily="34" charset="-120"/>
              </a:rPr>
              <a:t>On stage at the NCV Games Lineage2M launch showcase, Bangkok, March 2025</a:t>
            </a:r>
            <a:endParaRPr lang="en-US" sz="950" dirty="0"/>
          </a:p>
        </p:txBody>
      </p:sp>
      <p:sp>
        <p:nvSpPr>
          <p:cNvPr id="12" name="Shape 10"/>
          <p:cNvSpPr/>
          <p:nvPr/>
        </p:nvSpPr>
        <p:spPr>
          <a:xfrm>
            <a:off x="896112" y="2679192"/>
            <a:ext cx="1984248" cy="365760"/>
          </a:xfrm>
          <a:prstGeom prst="roundRect">
            <a:avLst>
              <a:gd name="adj" fmla="val 15000"/>
            </a:avLst>
          </a:prstGeom>
          <a:solidFill>
            <a:srgbClr val="FF0033"/>
          </a:solidFill>
          <a:ln w="12700">
            <a:solidFill>
              <a:srgbClr val="FF0033"/>
            </a:solidFill>
            <a:prstDash val="solid"/>
          </a:ln>
        </p:spPr>
      </p:sp>
      <p:sp>
        <p:nvSpPr>
          <p:cNvPr id="13" name="Text 11"/>
          <p:cNvSpPr txBox="1"/>
          <p:nvPr/>
        </p:nvSpPr>
        <p:spPr>
          <a:xfrm>
            <a:off x="896112" y="2679192"/>
            <a:ext cx="1984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oogle Sans" pitchFamily="34" charset="0"/>
                <a:ea typeface="Google Sans" pitchFamily="34" charset="-122"/>
                <a:cs typeface="Google Sans" pitchFamily="34" charset="-120"/>
              </a:rPr>
              <a:t>คัทโตะ</a:t>
            </a:r>
            <a:endParaRPr lang="en-US" sz="1100" dirty="0"/>
          </a:p>
        </p:txBody>
      </p:sp>
      <p:sp>
        <p:nvSpPr>
          <p:cNvPr id="14" name="Shape 12"/>
          <p:cNvSpPr/>
          <p:nvPr/>
        </p:nvSpPr>
        <p:spPr>
          <a:xfrm>
            <a:off x="3008376" y="2679192"/>
            <a:ext cx="1984248" cy="365760"/>
          </a:xfrm>
          <a:prstGeom prst="roundRect">
            <a:avLst>
              <a:gd name="adj" fmla="val 15000"/>
            </a:avLst>
          </a:prstGeom>
          <a:solidFill>
            <a:srgbClr val="FF0033"/>
          </a:solidFill>
          <a:ln w="12700">
            <a:solidFill>
              <a:srgbClr val="FF0033"/>
            </a:solidFill>
            <a:prstDash val="solid"/>
          </a:ln>
        </p:spPr>
      </p:sp>
      <p:sp>
        <p:nvSpPr>
          <p:cNvPr id="15" name="Text 13"/>
          <p:cNvSpPr txBox="1"/>
          <p:nvPr/>
        </p:nvSpPr>
        <p:spPr>
          <a:xfrm>
            <a:off x="3008376" y="2679192"/>
            <a:ext cx="1984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oogle Sans" pitchFamily="34" charset="0"/>
                <a:ea typeface="Google Sans" pitchFamily="34" charset="-122"/>
                <a:cs typeface="Google Sans" pitchFamily="34" charset="-120"/>
              </a:rPr>
              <a:t>กายหงิด</a:t>
            </a:r>
            <a:endParaRPr lang="en-US" sz="1100" dirty="0"/>
          </a:p>
        </p:txBody>
      </p:sp>
      <p:sp>
        <p:nvSpPr>
          <p:cNvPr id="16" name="Shape 14"/>
          <p:cNvSpPr/>
          <p:nvPr/>
        </p:nvSpPr>
        <p:spPr>
          <a:xfrm>
            <a:off x="5120640" y="2679192"/>
            <a:ext cx="1984248" cy="365760"/>
          </a:xfrm>
          <a:prstGeom prst="roundRect">
            <a:avLst>
              <a:gd name="adj" fmla="val 15000"/>
            </a:avLst>
          </a:prstGeom>
          <a:solidFill>
            <a:srgbClr val="FF0033"/>
          </a:solidFill>
          <a:ln w="12700">
            <a:solidFill>
              <a:srgbClr val="FF0033"/>
            </a:solidFill>
            <a:prstDash val="solid"/>
          </a:ln>
        </p:spPr>
      </p:sp>
      <p:sp>
        <p:nvSpPr>
          <p:cNvPr id="17" name="Text 15"/>
          <p:cNvSpPr txBox="1"/>
          <p:nvPr/>
        </p:nvSpPr>
        <p:spPr>
          <a:xfrm>
            <a:off x="5120640" y="2679192"/>
            <a:ext cx="1984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Google Sans" pitchFamily="34" charset="0"/>
                <a:ea typeface="Google Sans" pitchFamily="34" charset="-122"/>
                <a:cs typeface="Google Sans" pitchFamily="34" charset="-120"/>
              </a:rPr>
              <a:t>แป้งสามป๋องซาว</a:t>
            </a:r>
            <a:endParaRPr lang="en-US" sz="1100" dirty="0"/>
          </a:p>
        </p:txBody>
      </p:sp>
      <p:sp>
        <p:nvSpPr>
          <p:cNvPr id="18" name="Text 16"/>
          <p:cNvSpPr txBox="1"/>
          <p:nvPr/>
        </p:nvSpPr>
        <p:spPr>
          <a:xfrm>
            <a:off x="896112" y="3145536"/>
            <a:ext cx="6208776" cy="201168"/>
          </a:xfrm>
          <a:prstGeom prst="rect">
            <a:avLst/>
          </a:prstGeom>
          <a:noFill/>
          <a:ln/>
        </p:spPr>
        <p:txBody>
          <a:bodyPr wrap="square" lIns="0" tIns="0" rIns="0" bIns="0" rtlCol="0" anchor="t"/>
          <a:lstStyle/>
          <a:p>
            <a:pPr algn="l" indent="0" marL="0">
              <a:buNone/>
            </a:pPr>
            <a:r>
              <a:rPr lang="en-US" sz="900" dirty="0">
                <a:solidFill>
                  <a:srgbClr val="8A8A8A"/>
                </a:solidFill>
                <a:latin typeface="Google Sans" pitchFamily="34" charset="0"/>
                <a:ea typeface="Google Sans" pitchFamily="34" charset="-122"/>
                <a:cs typeface="Google Sans" pitchFamily="34" charset="-120"/>
              </a:rPr>
              <a:t>alongside Vietnamese creators</a:t>
            </a:r>
            <a:endParaRPr lang="en-US" sz="900" dirty="0"/>
          </a:p>
        </p:txBody>
      </p:sp>
      <p:sp>
        <p:nvSpPr>
          <p:cNvPr id="19" name="Shape 17"/>
          <p:cNvSpPr/>
          <p:nvPr/>
        </p:nvSpPr>
        <p:spPr>
          <a:xfrm>
            <a:off x="896112" y="3383280"/>
            <a:ext cx="1984248" cy="329184"/>
          </a:xfrm>
          <a:prstGeom prst="roundRect">
            <a:avLst>
              <a:gd name="adj" fmla="val 16667"/>
            </a:avLst>
          </a:prstGeom>
          <a:solidFill>
            <a:srgbClr val="202020"/>
          </a:solidFill>
          <a:ln w="12700">
            <a:solidFill>
              <a:srgbClr val="2E2E2E"/>
            </a:solidFill>
            <a:prstDash val="solid"/>
          </a:ln>
        </p:spPr>
      </p:sp>
      <p:sp>
        <p:nvSpPr>
          <p:cNvPr id="20" name="Text 18"/>
          <p:cNvSpPr txBox="1"/>
          <p:nvPr/>
        </p:nvSpPr>
        <p:spPr>
          <a:xfrm>
            <a:off x="896112" y="3383280"/>
            <a:ext cx="1984248" cy="329184"/>
          </a:xfrm>
          <a:prstGeom prst="rect">
            <a:avLst/>
          </a:prstGeom>
          <a:noFill/>
          <a:ln/>
        </p:spPr>
        <p:txBody>
          <a:bodyPr wrap="square" lIns="0" tIns="0" rIns="0" bIns="0" rtlCol="0" anchor="ctr"/>
          <a:lstStyle/>
          <a:p>
            <a:pPr algn="ctr" indent="0" marL="0">
              <a:buNone/>
            </a:pPr>
            <a:r>
              <a:rPr lang="en-US" sz="1000" b="1" dirty="0">
                <a:solidFill>
                  <a:srgbClr val="8A8A8A"/>
                </a:solidFill>
                <a:latin typeface="Google Sans" pitchFamily="34" charset="0"/>
                <a:ea typeface="Google Sans" pitchFamily="34" charset="-122"/>
                <a:cs typeface="Google Sans" pitchFamily="34" charset="-120"/>
              </a:rPr>
              <a:t>Cris Phan</a:t>
            </a:r>
            <a:endParaRPr lang="en-US" sz="1000" dirty="0"/>
          </a:p>
        </p:txBody>
      </p:sp>
      <p:sp>
        <p:nvSpPr>
          <p:cNvPr id="21" name="Shape 19"/>
          <p:cNvSpPr/>
          <p:nvPr/>
        </p:nvSpPr>
        <p:spPr>
          <a:xfrm>
            <a:off x="3008376" y="3383280"/>
            <a:ext cx="1984248" cy="329184"/>
          </a:xfrm>
          <a:prstGeom prst="roundRect">
            <a:avLst>
              <a:gd name="adj" fmla="val 16667"/>
            </a:avLst>
          </a:prstGeom>
          <a:solidFill>
            <a:srgbClr val="202020"/>
          </a:solidFill>
          <a:ln w="12700">
            <a:solidFill>
              <a:srgbClr val="2E2E2E"/>
            </a:solidFill>
            <a:prstDash val="solid"/>
          </a:ln>
        </p:spPr>
      </p:sp>
      <p:sp>
        <p:nvSpPr>
          <p:cNvPr id="22" name="Text 20"/>
          <p:cNvSpPr txBox="1"/>
          <p:nvPr/>
        </p:nvSpPr>
        <p:spPr>
          <a:xfrm>
            <a:off x="3008376" y="3383280"/>
            <a:ext cx="1984248" cy="329184"/>
          </a:xfrm>
          <a:prstGeom prst="rect">
            <a:avLst/>
          </a:prstGeom>
          <a:noFill/>
          <a:ln/>
        </p:spPr>
        <p:txBody>
          <a:bodyPr wrap="square" lIns="0" tIns="0" rIns="0" bIns="0" rtlCol="0" anchor="ctr"/>
          <a:lstStyle/>
          <a:p>
            <a:pPr algn="ctr" indent="0" marL="0">
              <a:buNone/>
            </a:pPr>
            <a:r>
              <a:rPr lang="en-US" sz="1000" b="1" dirty="0">
                <a:solidFill>
                  <a:srgbClr val="8A8A8A"/>
                </a:solidFill>
                <a:latin typeface="Google Sans" pitchFamily="34" charset="0"/>
                <a:ea typeface="Google Sans" pitchFamily="34" charset="-122"/>
                <a:cs typeface="Google Sans" pitchFamily="34" charset="-120"/>
              </a:rPr>
              <a:t>Duy Thẩm</a:t>
            </a:r>
            <a:endParaRPr lang="en-US" sz="1000" dirty="0"/>
          </a:p>
        </p:txBody>
      </p:sp>
      <p:sp>
        <p:nvSpPr>
          <p:cNvPr id="23" name="Shape 21"/>
          <p:cNvSpPr/>
          <p:nvPr/>
        </p:nvSpPr>
        <p:spPr>
          <a:xfrm>
            <a:off x="5120640" y="3383280"/>
            <a:ext cx="1984248" cy="329184"/>
          </a:xfrm>
          <a:prstGeom prst="roundRect">
            <a:avLst>
              <a:gd name="adj" fmla="val 16667"/>
            </a:avLst>
          </a:prstGeom>
          <a:solidFill>
            <a:srgbClr val="202020"/>
          </a:solidFill>
          <a:ln w="12700">
            <a:solidFill>
              <a:srgbClr val="2E2E2E"/>
            </a:solidFill>
            <a:prstDash val="solid"/>
          </a:ln>
        </p:spPr>
      </p:sp>
      <p:sp>
        <p:nvSpPr>
          <p:cNvPr id="24" name="Text 22"/>
          <p:cNvSpPr txBox="1"/>
          <p:nvPr/>
        </p:nvSpPr>
        <p:spPr>
          <a:xfrm>
            <a:off x="5120640" y="3383280"/>
            <a:ext cx="1984248" cy="329184"/>
          </a:xfrm>
          <a:prstGeom prst="rect">
            <a:avLst/>
          </a:prstGeom>
          <a:noFill/>
          <a:ln/>
        </p:spPr>
        <p:txBody>
          <a:bodyPr wrap="square" lIns="0" tIns="0" rIns="0" bIns="0" rtlCol="0" anchor="ctr"/>
          <a:lstStyle/>
          <a:p>
            <a:pPr algn="ctr" indent="0" marL="0">
              <a:buNone/>
            </a:pPr>
            <a:r>
              <a:rPr lang="en-US" sz="1000" b="1" dirty="0">
                <a:solidFill>
                  <a:srgbClr val="8A8A8A"/>
                </a:solidFill>
                <a:latin typeface="Google Sans" pitchFamily="34" charset="0"/>
                <a:ea typeface="Google Sans" pitchFamily="34" charset="-122"/>
                <a:cs typeface="Google Sans" pitchFamily="34" charset="-120"/>
              </a:rPr>
              <a:t>Hải Triều</a:t>
            </a:r>
            <a:endParaRPr lang="en-US" sz="1000" dirty="0"/>
          </a:p>
        </p:txBody>
      </p:sp>
      <p:sp>
        <p:nvSpPr>
          <p:cNvPr id="25" name="Shape 23"/>
          <p:cNvSpPr/>
          <p:nvPr/>
        </p:nvSpPr>
        <p:spPr>
          <a:xfrm>
            <a:off x="896112" y="3895344"/>
            <a:ext cx="82296" cy="192024"/>
          </a:xfrm>
          <a:prstGeom prst="rect">
            <a:avLst/>
          </a:prstGeom>
          <a:solidFill>
            <a:srgbClr val="FF0033"/>
          </a:solidFill>
          <a:ln w="12700">
            <a:solidFill>
              <a:srgbClr val="FF0033"/>
            </a:solidFill>
            <a:prstDash val="solid"/>
          </a:ln>
        </p:spPr>
      </p:sp>
      <p:sp>
        <p:nvSpPr>
          <p:cNvPr id="26" name="Text 24"/>
          <p:cNvSpPr txBox="1"/>
          <p:nvPr/>
        </p:nvSpPr>
        <p:spPr>
          <a:xfrm>
            <a:off x="1069848" y="3858768"/>
            <a:ext cx="6035040" cy="237744"/>
          </a:xfrm>
          <a:prstGeom prst="rect">
            <a:avLst/>
          </a:prstGeom>
          <a:noFill/>
          <a:ln/>
        </p:spPr>
        <p:txBody>
          <a:bodyPr wrap="square" lIns="0" tIns="0" rIns="0" bIns="0" rtlCol="0" anchor="t"/>
          <a:lstStyle/>
          <a:p>
            <a:pPr algn="l" indent="0" marL="0">
              <a:buNone/>
            </a:pPr>
            <a:r>
              <a:rPr lang="en-US" sz="1250" b="1" dirty="0">
                <a:solidFill>
                  <a:srgbClr val="FFFFFF"/>
                </a:solidFill>
                <a:latin typeface="Google Sans" pitchFamily="34" charset="0"/>
                <a:ea typeface="Google Sans" pitchFamily="34" charset="-122"/>
                <a:cs typeface="Google Sans" pitchFamily="34" charset="-120"/>
              </a:rPr>
              <a:t>Why they are the lead recommendation</a:t>
            </a:r>
            <a:endParaRPr lang="en-US" sz="1250" dirty="0"/>
          </a:p>
        </p:txBody>
      </p:sp>
      <p:sp>
        <p:nvSpPr>
          <p:cNvPr id="27" name="Text 25"/>
          <p:cNvSpPr txBox="1"/>
          <p:nvPr/>
        </p:nvSpPr>
        <p:spPr>
          <a:xfrm>
            <a:off x="896112" y="4133088"/>
            <a:ext cx="6208776" cy="530352"/>
          </a:xfrm>
          <a:prstGeom prst="rect">
            <a:avLst/>
          </a:prstGeom>
          <a:noFill/>
          <a:ln/>
        </p:spPr>
        <p:txBody>
          <a:bodyPr wrap="square" lIns="0" tIns="0" rIns="0" bIns="0" rtlCol="0" anchor="t"/>
          <a:lstStyle/>
          <a:p>
            <a:pPr algn="l" indent="0" marL="0">
              <a:lnSpc>
                <a:spcPct val="112000"/>
              </a:lnSpc>
              <a:buNone/>
            </a:pPr>
            <a:r>
              <a:rPr lang="en-US" sz="1000" dirty="0">
                <a:solidFill>
                  <a:srgbClr val="9E9E9E"/>
                </a:solidFill>
                <a:latin typeface="Google Sans" pitchFamily="34" charset="0"/>
                <a:ea typeface="Google Sans" pitchFamily="34" charset="-122"/>
                <a:cs typeface="Google Sans" pitchFamily="34" charset="-120"/>
              </a:rPr>
              <a:t>These 3 creators have already worked a VNG joint-venture launch in Thailand. They are the fastest path from a single launch booking to a standing 2027 relationship, and the relationship cost of starting again from zero is already paid.</a:t>
            </a:r>
            <a:endParaRPr lang="en-US" sz="1000" dirty="0"/>
          </a:p>
        </p:txBody>
      </p:sp>
      <p:sp>
        <p:nvSpPr>
          <p:cNvPr id="28" name="Shape 26"/>
          <p:cNvSpPr/>
          <p:nvPr/>
        </p:nvSpPr>
        <p:spPr>
          <a:xfrm>
            <a:off x="896112" y="4791456"/>
            <a:ext cx="6208776" cy="841248"/>
          </a:xfrm>
          <a:prstGeom prst="roundRect">
            <a:avLst>
              <a:gd name="adj" fmla="val 6522"/>
            </a:avLst>
          </a:prstGeom>
          <a:solidFill>
            <a:srgbClr val="1E1E1E"/>
          </a:solidFill>
          <a:ln w="12700">
            <a:solidFill>
              <a:srgbClr val="232323"/>
            </a:solidFill>
            <a:prstDash val="solid"/>
          </a:ln>
        </p:spPr>
      </p:sp>
      <p:sp>
        <p:nvSpPr>
          <p:cNvPr id="29" name="Shape 27"/>
          <p:cNvSpPr/>
          <p:nvPr/>
        </p:nvSpPr>
        <p:spPr>
          <a:xfrm>
            <a:off x="1078992" y="4919472"/>
            <a:ext cx="82296" cy="192024"/>
          </a:xfrm>
          <a:prstGeom prst="rect">
            <a:avLst/>
          </a:prstGeom>
          <a:solidFill>
            <a:srgbClr val="FF0033"/>
          </a:solidFill>
          <a:ln w="12700">
            <a:solidFill>
              <a:srgbClr val="FF0033"/>
            </a:solidFill>
            <a:prstDash val="solid"/>
          </a:ln>
        </p:spPr>
      </p:sp>
      <p:sp>
        <p:nvSpPr>
          <p:cNvPr id="30" name="Text 28"/>
          <p:cNvSpPr txBox="1"/>
          <p:nvPr/>
        </p:nvSpPr>
        <p:spPr>
          <a:xfrm>
            <a:off x="1252728" y="4882896"/>
            <a:ext cx="3291840" cy="237744"/>
          </a:xfrm>
          <a:prstGeom prst="rect">
            <a:avLst/>
          </a:prstGeom>
          <a:noFill/>
          <a:ln/>
        </p:spPr>
        <p:txBody>
          <a:bodyPr wrap="square" lIns="0" tIns="0" rIns="0" bIns="0" rtlCol="0" anchor="t"/>
          <a:lstStyle/>
          <a:p>
            <a:pPr algn="l" indent="0" marL="0">
              <a:buNone/>
            </a:pPr>
            <a:r>
              <a:rPr lang="en-US" sz="1150" b="1" dirty="0">
                <a:solidFill>
                  <a:srgbClr val="FFFFFF"/>
                </a:solidFill>
                <a:latin typeface="Google Sans" pitchFamily="34" charset="0"/>
                <a:ea typeface="Google Sans" pitchFamily="34" charset="-122"/>
                <a:cs typeface="Google Sans" pitchFamily="34" charset="-120"/>
              </a:rPr>
              <a:t>กายหงิด, Viratsan Ariyapongpisal</a:t>
            </a:r>
            <a:endParaRPr lang="en-US" sz="1150" dirty="0"/>
          </a:p>
        </p:txBody>
      </p:sp>
      <p:sp>
        <p:nvSpPr>
          <p:cNvPr id="31" name="Shape 29"/>
          <p:cNvSpPr/>
          <p:nvPr/>
        </p:nvSpPr>
        <p:spPr>
          <a:xfrm>
            <a:off x="5532120" y="4892040"/>
            <a:ext cx="1389888" cy="219456"/>
          </a:xfrm>
          <a:prstGeom prst="roundRect">
            <a:avLst>
              <a:gd name="adj" fmla="val 25000"/>
            </a:avLst>
          </a:prstGeom>
          <a:solidFill>
            <a:srgbClr val="202020"/>
          </a:solidFill>
          <a:ln w="12700">
            <a:solidFill>
              <a:srgbClr val="2E2E2E"/>
            </a:solidFill>
            <a:prstDash val="solid"/>
          </a:ln>
        </p:spPr>
      </p:sp>
      <p:sp>
        <p:nvSpPr>
          <p:cNvPr id="32" name="Text 30"/>
          <p:cNvSpPr txBox="1"/>
          <p:nvPr/>
        </p:nvSpPr>
        <p:spPr>
          <a:xfrm>
            <a:off x="5532120" y="4892040"/>
            <a:ext cx="1389888" cy="219456"/>
          </a:xfrm>
          <a:prstGeom prst="rect">
            <a:avLst/>
          </a:prstGeom>
          <a:noFill/>
          <a:ln/>
        </p:spPr>
        <p:txBody>
          <a:bodyPr wrap="square" lIns="0" tIns="0" rIns="0" bIns="0" rtlCol="0" anchor="ctr"/>
          <a:lstStyle/>
          <a:p>
            <a:pPr algn="ctr" indent="0" marL="0">
              <a:buNone/>
            </a:pPr>
            <a:r>
              <a:rPr lang="en-US" sz="800" b="1" dirty="0">
                <a:solidFill>
                  <a:srgbClr val="8A8A8A"/>
                </a:solidFill>
                <a:latin typeface="Google Sans" pitchFamily="34" charset="0"/>
                <a:ea typeface="Google Sans" pitchFamily="34" charset="-122"/>
                <a:cs typeface="Google Sans" pitchFamily="34" charset="-120"/>
              </a:rPr>
              <a:t>third-party estimate</a:t>
            </a:r>
            <a:endParaRPr lang="en-US" sz="800" dirty="0"/>
          </a:p>
        </p:txBody>
      </p:sp>
      <p:sp>
        <p:nvSpPr>
          <p:cNvPr id="33" name="Text 31"/>
          <p:cNvSpPr txBox="1"/>
          <p:nvPr/>
        </p:nvSpPr>
        <p:spPr>
          <a:xfrm>
            <a:off x="1078992" y="5157216"/>
            <a:ext cx="5843016" cy="384048"/>
          </a:xfrm>
          <a:prstGeom prst="rect">
            <a:avLst/>
          </a:prstGeom>
          <a:noFill/>
          <a:ln/>
        </p:spPr>
        <p:txBody>
          <a:bodyPr wrap="square" lIns="0" tIns="0" rIns="0" bIns="0" rtlCol="0" anchor="t"/>
          <a:lstStyle/>
          <a:p>
            <a:pPr algn="l" indent="0" marL="0">
              <a:lnSpc>
                <a:spcPct val="110000"/>
              </a:lnSpc>
              <a:buNone/>
            </a:pPr>
            <a:r>
              <a:rPr lang="en-US" sz="950" dirty="0">
                <a:solidFill>
                  <a:srgbClr val="9E9E9E"/>
                </a:solidFill>
                <a:latin typeface="Google Sans" pitchFamily="34" charset="0"/>
                <a:ea typeface="Google Sans" pitchFamily="34" charset="-122"/>
                <a:cs typeface="Google Sans" pitchFamily="34" charset="-120"/>
              </a:rPr>
              <a:t>About 4.88 million subscribers and roughly 515,000 average views. RoV plus humour and challenge formats, with strong TikTok crossover.</a:t>
            </a:r>
            <a:endParaRPr lang="en-US" sz="950" dirty="0"/>
          </a:p>
        </p:txBody>
      </p:sp>
      <p:sp>
        <p:nvSpPr>
          <p:cNvPr id="34" name="Shape 32"/>
          <p:cNvSpPr/>
          <p:nvPr/>
        </p:nvSpPr>
        <p:spPr>
          <a:xfrm>
            <a:off x="7635240" y="1874520"/>
            <a:ext cx="3916375" cy="4014216"/>
          </a:xfrm>
          <a:prstGeom prst="roundRect">
            <a:avLst>
              <a:gd name="adj" fmla="val 1401"/>
            </a:avLst>
          </a:prstGeom>
          <a:solidFill>
            <a:srgbClr val="161616"/>
          </a:solidFill>
          <a:ln w="12700">
            <a:solidFill>
              <a:srgbClr val="232323"/>
            </a:solidFill>
            <a:prstDash val="solid"/>
          </a:ln>
        </p:spPr>
      </p:sp>
      <p:sp>
        <p:nvSpPr>
          <p:cNvPr id="35" name="Shape 33"/>
          <p:cNvSpPr/>
          <p:nvPr/>
        </p:nvSpPr>
        <p:spPr>
          <a:xfrm>
            <a:off x="7891272" y="2057400"/>
            <a:ext cx="777240" cy="256032"/>
          </a:xfrm>
          <a:prstGeom prst="roundRect">
            <a:avLst>
              <a:gd name="adj" fmla="val 21429"/>
            </a:avLst>
          </a:prstGeom>
          <a:solidFill>
            <a:srgbClr val="C40028"/>
          </a:solidFill>
          <a:ln w="12700">
            <a:solidFill>
              <a:srgbClr val="C40028"/>
            </a:solidFill>
            <a:prstDash val="solid"/>
          </a:ln>
        </p:spPr>
      </p:sp>
      <p:sp>
        <p:nvSpPr>
          <p:cNvPr id="36" name="Text 34"/>
          <p:cNvSpPr txBox="1"/>
          <p:nvPr/>
        </p:nvSpPr>
        <p:spPr>
          <a:xfrm>
            <a:off x="7891272" y="2057400"/>
            <a:ext cx="77724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Google Sans" pitchFamily="34" charset="0"/>
                <a:ea typeface="Google Sans" pitchFamily="34" charset="-122"/>
                <a:cs typeface="Google Sans" pitchFamily="34" charset="-120"/>
              </a:rPr>
              <a:t>Tier 2</a:t>
            </a:r>
            <a:endParaRPr lang="en-US" sz="950" dirty="0"/>
          </a:p>
        </p:txBody>
      </p:sp>
      <p:sp>
        <p:nvSpPr>
          <p:cNvPr id="37" name="Text 35"/>
          <p:cNvSpPr txBox="1"/>
          <p:nvPr/>
        </p:nvSpPr>
        <p:spPr>
          <a:xfrm>
            <a:off x="8778240" y="2039112"/>
            <a:ext cx="2517343" cy="274320"/>
          </a:xfrm>
          <a:prstGeom prst="rect">
            <a:avLst/>
          </a:prstGeom>
          <a:noFill/>
          <a:ln/>
        </p:spPr>
        <p:txBody>
          <a:bodyPr wrap="square" lIns="0" tIns="0" rIns="0" bIns="0" rtlCol="0" anchor="ctr"/>
          <a:lstStyle/>
          <a:p>
            <a:pPr algn="l" indent="0" marL="0">
              <a:buNone/>
            </a:pPr>
            <a:r>
              <a:rPr lang="en-US" sz="1400" b="1" dirty="0">
                <a:solidFill>
                  <a:srgbClr val="FFFFFF"/>
                </a:solidFill>
                <a:latin typeface="Google Sans" pitchFamily="34" charset="0"/>
                <a:ea typeface="Google Sans" pitchFamily="34" charset="-122"/>
                <a:cs typeface="Google Sans" pitchFamily="34" charset="-120"/>
              </a:rPr>
              <a:t>Reach anchor</a:t>
            </a:r>
            <a:endParaRPr lang="en-US" sz="1400" dirty="0"/>
          </a:p>
        </p:txBody>
      </p:sp>
      <p:sp>
        <p:nvSpPr>
          <p:cNvPr id="38" name="Shape 36"/>
          <p:cNvSpPr/>
          <p:nvPr/>
        </p:nvSpPr>
        <p:spPr>
          <a:xfrm>
            <a:off x="7891272" y="2441448"/>
            <a:ext cx="3404311" cy="475488"/>
          </a:xfrm>
          <a:prstGeom prst="roundRect">
            <a:avLst>
              <a:gd name="adj" fmla="val 11538"/>
            </a:avLst>
          </a:prstGeom>
          <a:solidFill>
            <a:srgbClr val="FF0033"/>
          </a:solidFill>
          <a:ln w="12700">
            <a:solidFill>
              <a:srgbClr val="FF0033"/>
            </a:solidFill>
            <a:prstDash val="solid"/>
          </a:ln>
        </p:spPr>
      </p:sp>
      <p:sp>
        <p:nvSpPr>
          <p:cNvPr id="39" name="Text 37"/>
          <p:cNvSpPr txBox="1"/>
          <p:nvPr/>
        </p:nvSpPr>
        <p:spPr>
          <a:xfrm>
            <a:off x="7891272" y="2441448"/>
            <a:ext cx="3404311"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Google Sans" pitchFamily="34" charset="0"/>
                <a:ea typeface="Google Sans" pitchFamily="34" charset="-122"/>
                <a:cs typeface="Google Sans" pitchFamily="34" charset="-120"/>
              </a:rPr>
              <a:t>zbing z.   21.9M</a:t>
            </a:r>
            <a:endParaRPr lang="en-US" sz="1400" dirty="0"/>
          </a:p>
        </p:txBody>
      </p:sp>
      <p:sp>
        <p:nvSpPr>
          <p:cNvPr id="40" name="Shape 38"/>
          <p:cNvSpPr/>
          <p:nvPr/>
        </p:nvSpPr>
        <p:spPr>
          <a:xfrm>
            <a:off x="7891272" y="3035808"/>
            <a:ext cx="82296" cy="192024"/>
          </a:xfrm>
          <a:prstGeom prst="rect">
            <a:avLst/>
          </a:prstGeom>
          <a:solidFill>
            <a:srgbClr val="FF0033"/>
          </a:solidFill>
          <a:ln w="12700">
            <a:solidFill>
              <a:srgbClr val="FF0033"/>
            </a:solidFill>
            <a:prstDash val="solid"/>
          </a:ln>
        </p:spPr>
      </p:sp>
      <p:sp>
        <p:nvSpPr>
          <p:cNvPr id="41" name="Text 39"/>
          <p:cNvSpPr txBox="1"/>
          <p:nvPr/>
        </p:nvSpPr>
        <p:spPr>
          <a:xfrm>
            <a:off x="8065008" y="2999232"/>
            <a:ext cx="3230575" cy="237744"/>
          </a:xfrm>
          <a:prstGeom prst="rect">
            <a:avLst/>
          </a:prstGeom>
          <a:noFill/>
          <a:ln/>
        </p:spPr>
        <p:txBody>
          <a:bodyPr wrap="square" lIns="0" tIns="0" rIns="0" bIns="0" rtlCol="0" anchor="t"/>
          <a:lstStyle/>
          <a:p>
            <a:pPr algn="l" indent="0" marL="0">
              <a:buNone/>
            </a:pPr>
            <a:r>
              <a:rPr lang="en-US" sz="1250" b="1" dirty="0">
                <a:solidFill>
                  <a:srgbClr val="FFFFFF"/>
                </a:solidFill>
                <a:latin typeface="Google Sans" pitchFamily="34" charset="0"/>
                <a:ea typeface="Google Sans" pitchFamily="34" charset="-122"/>
                <a:cs typeface="Google Sans" pitchFamily="34" charset="-120"/>
              </a:rPr>
              <a:t>What she buys</a:t>
            </a:r>
            <a:endParaRPr lang="en-US" sz="1250" dirty="0"/>
          </a:p>
        </p:txBody>
      </p:sp>
      <p:sp>
        <p:nvSpPr>
          <p:cNvPr id="42" name="Text 40"/>
          <p:cNvSpPr txBox="1"/>
          <p:nvPr/>
        </p:nvSpPr>
        <p:spPr>
          <a:xfrm>
            <a:off x="7891272" y="3273552"/>
            <a:ext cx="3404311" cy="658368"/>
          </a:xfrm>
          <a:prstGeom prst="rect">
            <a:avLst/>
          </a:prstGeom>
          <a:noFill/>
          <a:ln/>
        </p:spPr>
        <p:txBody>
          <a:bodyPr wrap="square" lIns="0" tIns="0" rIns="0" bIns="0" rtlCol="0" anchor="t"/>
          <a:lstStyle/>
          <a:p>
            <a:pPr algn="l" indent="0" marL="0">
              <a:lnSpc>
                <a:spcPct val="112000"/>
              </a:lnSpc>
              <a:buNone/>
            </a:pPr>
            <a:r>
              <a:rPr lang="en-US" sz="1000" dirty="0">
                <a:solidFill>
                  <a:srgbClr val="9E9E9E"/>
                </a:solidFill>
                <a:latin typeface="Google Sans" pitchFamily="34" charset="0"/>
                <a:ea typeface="Google Sans" pitchFamily="34" charset="-122"/>
                <a:cs typeface="Google Sans" pitchFamily="34" charset="-120"/>
              </a:rPr>
              <a:t>Scale and brand safety for a launch moment. Family-safe, female-fronted, and no single-title conflict to negotiate around.</a:t>
            </a:r>
            <a:endParaRPr lang="en-US" sz="1000" dirty="0"/>
          </a:p>
        </p:txBody>
      </p:sp>
      <p:sp>
        <p:nvSpPr>
          <p:cNvPr id="43" name="Shape 41"/>
          <p:cNvSpPr/>
          <p:nvPr/>
        </p:nvSpPr>
        <p:spPr>
          <a:xfrm>
            <a:off x="7891272" y="4059936"/>
            <a:ext cx="3404311" cy="1005840"/>
          </a:xfrm>
          <a:prstGeom prst="roundRect">
            <a:avLst>
              <a:gd name="adj" fmla="val 5455"/>
            </a:avLst>
          </a:prstGeom>
          <a:solidFill>
            <a:srgbClr val="1E1E1E"/>
          </a:solidFill>
          <a:ln w="12700">
            <a:solidFill>
              <a:srgbClr val="232323"/>
            </a:solidFill>
            <a:prstDash val="solid"/>
          </a:ln>
        </p:spPr>
      </p:sp>
      <p:sp>
        <p:nvSpPr>
          <p:cNvPr id="44" name="Shape 42"/>
          <p:cNvSpPr/>
          <p:nvPr/>
        </p:nvSpPr>
        <p:spPr>
          <a:xfrm>
            <a:off x="8074152" y="4187952"/>
            <a:ext cx="82296" cy="192024"/>
          </a:xfrm>
          <a:prstGeom prst="rect">
            <a:avLst/>
          </a:prstGeom>
          <a:solidFill>
            <a:srgbClr val="4A4A4A"/>
          </a:solidFill>
          <a:ln w="12700">
            <a:solidFill>
              <a:srgbClr val="4A4A4A"/>
            </a:solidFill>
            <a:prstDash val="solid"/>
          </a:ln>
        </p:spPr>
      </p:sp>
      <p:sp>
        <p:nvSpPr>
          <p:cNvPr id="45" name="Text 43"/>
          <p:cNvSpPr txBox="1"/>
          <p:nvPr/>
        </p:nvSpPr>
        <p:spPr>
          <a:xfrm>
            <a:off x="8247888" y="4151376"/>
            <a:ext cx="2864815" cy="237744"/>
          </a:xfrm>
          <a:prstGeom prst="rect">
            <a:avLst/>
          </a:prstGeom>
          <a:noFill/>
          <a:ln/>
        </p:spPr>
        <p:txBody>
          <a:bodyPr wrap="square" lIns="0" tIns="0" rIns="0" bIns="0" rtlCol="0" anchor="t"/>
          <a:lstStyle/>
          <a:p>
            <a:pPr algn="l" indent="0" marL="0">
              <a:buNone/>
            </a:pPr>
            <a:r>
              <a:rPr lang="en-US" sz="1150" b="1" dirty="0">
                <a:solidFill>
                  <a:srgbClr val="FFFFFF"/>
                </a:solidFill>
                <a:latin typeface="Google Sans" pitchFamily="34" charset="0"/>
                <a:ea typeface="Google Sans" pitchFamily="34" charset="-122"/>
                <a:cs typeface="Google Sans" pitchFamily="34" charset="-120"/>
              </a:rPr>
              <a:t>The trade-off</a:t>
            </a:r>
            <a:endParaRPr lang="en-US" sz="1150" dirty="0"/>
          </a:p>
        </p:txBody>
      </p:sp>
      <p:sp>
        <p:nvSpPr>
          <p:cNvPr id="46" name="Text 44"/>
          <p:cNvSpPr txBox="1"/>
          <p:nvPr/>
        </p:nvSpPr>
        <p:spPr>
          <a:xfrm>
            <a:off x="8074152" y="4425696"/>
            <a:ext cx="3038551" cy="548640"/>
          </a:xfrm>
          <a:prstGeom prst="rect">
            <a:avLst/>
          </a:prstGeom>
          <a:noFill/>
          <a:ln/>
        </p:spPr>
        <p:txBody>
          <a:bodyPr wrap="square" lIns="0" tIns="0" rIns="0" bIns="0" rtlCol="0" anchor="t"/>
          <a:lstStyle/>
          <a:p>
            <a:pPr algn="l" indent="0" marL="0">
              <a:lnSpc>
                <a:spcPct val="110000"/>
              </a:lnSpc>
              <a:buNone/>
            </a:pPr>
            <a:r>
              <a:rPr lang="en-US" sz="950" dirty="0">
                <a:solidFill>
                  <a:srgbClr val="8A8A8A"/>
                </a:solidFill>
                <a:latin typeface="Google Sans" pitchFamily="34" charset="0"/>
                <a:ea typeface="Google Sans" pitchFamily="34" charset="-122"/>
                <a:cs typeface="Google Sans" pitchFamily="34" charset="-120"/>
              </a:rPr>
              <a:t>A broad audience skewing young and family, so she buys reach, not hardcore MMORPG credibility.</a:t>
            </a:r>
            <a:endParaRPr lang="en-US" sz="950" dirty="0"/>
          </a:p>
        </p:txBody>
      </p:sp>
      <p:sp>
        <p:nvSpPr>
          <p:cNvPr id="47" name="Text 45"/>
          <p:cNvSpPr txBox="1"/>
          <p:nvPr/>
        </p:nvSpPr>
        <p:spPr>
          <a:xfrm>
            <a:off x="7891272" y="5175504"/>
            <a:ext cx="3404311" cy="457200"/>
          </a:xfrm>
          <a:prstGeom prst="rect">
            <a:avLst/>
          </a:prstGeom>
          <a:noFill/>
          <a:ln/>
        </p:spPr>
        <p:txBody>
          <a:bodyPr wrap="square" lIns="0" tIns="0" rIns="0" bIns="0" rtlCol="0" anchor="t"/>
          <a:lstStyle/>
          <a:p>
            <a:pPr algn="l" indent="0" marL="0">
              <a:lnSpc>
                <a:spcPct val="110000"/>
              </a:lnSpc>
              <a:buNone/>
            </a:pPr>
            <a:r>
              <a:rPr lang="en-US" sz="900" dirty="0">
                <a:solidFill>
                  <a:srgbClr val="8A8A8A"/>
                </a:solidFill>
                <a:latin typeface="Google Sans" pitchFamily="34" charset="0"/>
                <a:ea typeface="Google Sans" pitchFamily="34" charset="-122"/>
                <a:cs typeface="Google Sans" pitchFamily="34" charset="-120"/>
              </a:rPr>
              <a:t>An MCN commercial layer applies: she sits with Online Station, under True Visions Group.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566928"/>
          </a:xfrm>
          <a:prstGeom prst="rect">
            <a:avLst/>
          </a:prstGeom>
          <a:noFill/>
          <a:ln/>
        </p:spPr>
        <p:txBody>
          <a:bodyPr wrap="square" lIns="0" tIns="0" rIns="0" bIns="0" rtlCol="0" anchor="ctr"/>
          <a:lstStyle/>
          <a:p>
            <a:pPr algn="l" indent="0" marL="0">
              <a:buNone/>
            </a:pPr>
            <a:r>
              <a:rPr lang="en-US" sz="2900" b="1" dirty="0">
                <a:solidFill>
                  <a:srgbClr val="FFFFFF"/>
                </a:solidFill>
                <a:latin typeface="Google Sans" pitchFamily="34" charset="0"/>
                <a:ea typeface="Google Sans" pitchFamily="34" charset="-122"/>
                <a:cs typeface="Google Sans" pitchFamily="34" charset="-120"/>
              </a:rPr>
              <a:t>The efficiency tier is the real argument</a:t>
            </a:r>
            <a:endParaRPr lang="en-US" sz="2900" dirty="0"/>
          </a:p>
        </p:txBody>
      </p:sp>
      <p:sp>
        <p:nvSpPr>
          <p:cNvPr id="3" name="Text 1"/>
          <p:cNvSpPr txBox="1"/>
          <p:nvPr/>
        </p:nvSpPr>
        <p:spPr>
          <a:xfrm>
            <a:off x="640080" y="1225296"/>
            <a:ext cx="10911535" cy="310896"/>
          </a:xfrm>
          <a:prstGeom prst="rect">
            <a:avLst/>
          </a:prstGeom>
          <a:noFill/>
          <a:ln/>
        </p:spPr>
        <p:txBody>
          <a:bodyPr wrap="square" lIns="0" tIns="0" rIns="0" bIns="0" rtlCol="0" anchor="ctr"/>
          <a:lstStyle/>
          <a:p>
            <a:pPr algn="l" indent="0" marL="0">
              <a:buNone/>
            </a:pPr>
            <a:r>
              <a:rPr lang="en-US" sz="1400" dirty="0">
                <a:solidFill>
                  <a:srgbClr val="9E9E9E"/>
                </a:solidFill>
                <a:latin typeface="Google Sans" pitchFamily="34" charset="0"/>
                <a:ea typeface="Google Sans" pitchFamily="34" charset="-122"/>
                <a:cs typeface="Google Sans" pitchFamily="34" charset="-120"/>
              </a:rPr>
              <a:t>subscribers measure history. Views per subscriber measures current delivery.</a:t>
            </a:r>
            <a:endParaRPr lang="en-US" sz="1400" dirty="0"/>
          </a:p>
        </p:txBody>
      </p:sp>
      <p:sp>
        <p:nvSpPr>
          <p:cNvPr id="4" name="Shape 2"/>
          <p:cNvSpPr/>
          <p:nvPr/>
        </p:nvSpPr>
        <p:spPr>
          <a:xfrm>
            <a:off x="640080" y="6163056"/>
            <a:ext cx="10911535" cy="402336"/>
          </a:xfrm>
          <a:prstGeom prst="roundRect">
            <a:avLst>
              <a:gd name="adj" fmla="val 13636"/>
            </a:avLst>
          </a:prstGeom>
          <a:solidFill>
            <a:srgbClr val="161616"/>
          </a:solidFill>
          <a:ln w="12700">
            <a:solidFill>
              <a:srgbClr val="232323"/>
            </a:solidFill>
            <a:prstDash val="solid"/>
          </a:ln>
        </p:spPr>
      </p:sp>
      <p:sp>
        <p:nvSpPr>
          <p:cNvPr id="5" name="Shape 3"/>
          <p:cNvSpPr/>
          <p:nvPr/>
        </p:nvSpPr>
        <p:spPr>
          <a:xfrm>
            <a:off x="786384" y="6263640"/>
            <a:ext cx="82296" cy="201168"/>
          </a:xfrm>
          <a:prstGeom prst="rect">
            <a:avLst/>
          </a:prstGeom>
          <a:solidFill>
            <a:srgbClr val="FF0033"/>
          </a:solidFill>
          <a:ln w="12700">
            <a:solidFill>
              <a:srgbClr val="FF0033"/>
            </a:solidFill>
            <a:prstDash val="solid"/>
          </a:ln>
        </p:spPr>
      </p:sp>
      <p:sp>
        <p:nvSpPr>
          <p:cNvPr id="6" name="Text 4"/>
          <p:cNvSpPr txBox="1"/>
          <p:nvPr/>
        </p:nvSpPr>
        <p:spPr>
          <a:xfrm>
            <a:off x="987552" y="6163056"/>
            <a:ext cx="10417759" cy="402336"/>
          </a:xfrm>
          <a:prstGeom prst="rect">
            <a:avLst/>
          </a:prstGeom>
          <a:noFill/>
          <a:ln/>
        </p:spPr>
        <p:txBody>
          <a:bodyPr wrap="square" lIns="0" tIns="0" rIns="0" bIns="0" rtlCol="0" anchor="ctr"/>
          <a:lstStyle/>
          <a:p>
            <a:pPr algn="l" indent="0" marL="0">
              <a:buNone/>
            </a:pPr>
            <a:r>
              <a:rPr lang="en-US" sz="950" dirty="0">
                <a:solidFill>
                  <a:srgbClr val="6E6E6E"/>
                </a:solidFill>
                <a:latin typeface="Google Sans" pitchFamily="34" charset="0"/>
                <a:ea typeface="Google Sans" pitchFamily="34" charset="-122"/>
                <a:cs typeface="Google Sans" pitchFamily="34" charset="-120"/>
              </a:rPr>
              <a:t>Source: Communitrics, July 2026. NoxInfluencer, 2026. SpeakRJ and Favikon, 2026. Third-party estimates. The ratio table uses NoxInfluencer subscriber and average-view figures so the ratio stays internally consistent, while slide 4 uses Communitrics subscriber counts.</a:t>
            </a:r>
            <a:endParaRPr lang="en-US" sz="950" dirty="0"/>
          </a:p>
        </p:txBody>
      </p:sp>
      <p:sp>
        <p:nvSpPr>
          <p:cNvPr id="7" name="Shape 5"/>
          <p:cNvSpPr/>
          <p:nvPr/>
        </p:nvSpPr>
        <p:spPr>
          <a:xfrm>
            <a:off x="640080" y="1874520"/>
            <a:ext cx="7772400" cy="2788920"/>
          </a:xfrm>
          <a:prstGeom prst="roundRect">
            <a:avLst>
              <a:gd name="adj" fmla="val 1967"/>
            </a:avLst>
          </a:prstGeom>
          <a:solidFill>
            <a:srgbClr val="161616"/>
          </a:solidFill>
          <a:ln w="12700">
            <a:solidFill>
              <a:srgbClr val="232323"/>
            </a:solidFill>
            <a:prstDash val="solid"/>
          </a:ln>
        </p:spPr>
      </p:sp>
      <p:sp>
        <p:nvSpPr>
          <p:cNvPr id="8" name="Shape 6"/>
          <p:cNvSpPr/>
          <p:nvPr/>
        </p:nvSpPr>
        <p:spPr>
          <a:xfrm>
            <a:off x="896112" y="2057400"/>
            <a:ext cx="777240" cy="256032"/>
          </a:xfrm>
          <a:prstGeom prst="roundRect">
            <a:avLst>
              <a:gd name="adj" fmla="val 21429"/>
            </a:avLst>
          </a:prstGeom>
          <a:solidFill>
            <a:srgbClr val="8A001C"/>
          </a:solidFill>
          <a:ln w="12700">
            <a:solidFill>
              <a:srgbClr val="8A001C"/>
            </a:solidFill>
            <a:prstDash val="solid"/>
          </a:ln>
        </p:spPr>
      </p:sp>
      <p:sp>
        <p:nvSpPr>
          <p:cNvPr id="9" name="Text 7"/>
          <p:cNvSpPr txBox="1"/>
          <p:nvPr/>
        </p:nvSpPr>
        <p:spPr>
          <a:xfrm>
            <a:off x="896112" y="2057400"/>
            <a:ext cx="77724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Google Sans" pitchFamily="34" charset="0"/>
                <a:ea typeface="Google Sans" pitchFamily="34" charset="-122"/>
                <a:cs typeface="Google Sans" pitchFamily="34" charset="-120"/>
              </a:rPr>
              <a:t>Tier 3</a:t>
            </a:r>
            <a:endParaRPr lang="en-US" sz="950" dirty="0"/>
          </a:p>
        </p:txBody>
      </p:sp>
      <p:sp>
        <p:nvSpPr>
          <p:cNvPr id="10" name="Text 8"/>
          <p:cNvSpPr txBox="1"/>
          <p:nvPr/>
        </p:nvSpPr>
        <p:spPr>
          <a:xfrm>
            <a:off x="1783080" y="2039112"/>
            <a:ext cx="3657600" cy="274320"/>
          </a:xfrm>
          <a:prstGeom prst="rect">
            <a:avLst/>
          </a:prstGeom>
          <a:noFill/>
          <a:ln/>
        </p:spPr>
        <p:txBody>
          <a:bodyPr wrap="square" lIns="0" tIns="0" rIns="0" bIns="0" rtlCol="0" anchor="ctr"/>
          <a:lstStyle/>
          <a:p>
            <a:pPr algn="l" indent="0" marL="0">
              <a:buNone/>
            </a:pPr>
            <a:r>
              <a:rPr lang="en-US" sz="1400" b="1" dirty="0">
                <a:solidFill>
                  <a:srgbClr val="FFFFFF"/>
                </a:solidFill>
                <a:latin typeface="Google Sans" pitchFamily="34" charset="0"/>
                <a:ea typeface="Google Sans" pitchFamily="34" charset="-122"/>
                <a:cs typeface="Google Sans" pitchFamily="34" charset="-120"/>
              </a:rPr>
              <a:t>The efficiency tier</a:t>
            </a:r>
            <a:endParaRPr lang="en-US" sz="1400" dirty="0"/>
          </a:p>
        </p:txBody>
      </p:sp>
      <p:sp>
        <p:nvSpPr>
          <p:cNvPr id="11" name="Shape 9"/>
          <p:cNvSpPr/>
          <p:nvPr/>
        </p:nvSpPr>
        <p:spPr>
          <a:xfrm>
            <a:off x="6766560" y="2057400"/>
            <a:ext cx="1389888" cy="219456"/>
          </a:xfrm>
          <a:prstGeom prst="roundRect">
            <a:avLst>
              <a:gd name="adj" fmla="val 25000"/>
            </a:avLst>
          </a:prstGeom>
          <a:solidFill>
            <a:srgbClr val="202020"/>
          </a:solidFill>
          <a:ln w="12700">
            <a:solidFill>
              <a:srgbClr val="2E2E2E"/>
            </a:solidFill>
            <a:prstDash val="solid"/>
          </a:ln>
        </p:spPr>
      </p:sp>
      <p:sp>
        <p:nvSpPr>
          <p:cNvPr id="12" name="Text 10"/>
          <p:cNvSpPr txBox="1"/>
          <p:nvPr/>
        </p:nvSpPr>
        <p:spPr>
          <a:xfrm>
            <a:off x="6766560" y="2057400"/>
            <a:ext cx="1389888" cy="219456"/>
          </a:xfrm>
          <a:prstGeom prst="rect">
            <a:avLst/>
          </a:prstGeom>
          <a:noFill/>
          <a:ln/>
        </p:spPr>
        <p:txBody>
          <a:bodyPr wrap="square" lIns="0" tIns="0" rIns="0" bIns="0" rtlCol="0" anchor="ctr"/>
          <a:lstStyle/>
          <a:p>
            <a:pPr algn="ctr" indent="0" marL="0">
              <a:buNone/>
            </a:pPr>
            <a:r>
              <a:rPr lang="en-US" sz="800" b="1" dirty="0">
                <a:solidFill>
                  <a:srgbClr val="8A8A8A"/>
                </a:solidFill>
                <a:latin typeface="Google Sans" pitchFamily="34" charset="0"/>
                <a:ea typeface="Google Sans" pitchFamily="34" charset="-122"/>
                <a:cs typeface="Google Sans" pitchFamily="34" charset="-120"/>
              </a:rPr>
              <a:t>third-party estimate</a:t>
            </a:r>
            <a:endParaRPr lang="en-US" sz="800" dirty="0"/>
          </a:p>
        </p:txBody>
      </p:sp>
      <p:sp>
        <p:nvSpPr>
          <p:cNvPr id="13" name="Text 11"/>
          <p:cNvSpPr txBox="1"/>
          <p:nvPr/>
        </p:nvSpPr>
        <p:spPr>
          <a:xfrm>
            <a:off x="896112" y="2468880"/>
            <a:ext cx="2103120" cy="219456"/>
          </a:xfrm>
          <a:prstGeom prst="rect">
            <a:avLst/>
          </a:prstGeom>
          <a:noFill/>
          <a:ln/>
        </p:spPr>
        <p:txBody>
          <a:bodyPr wrap="square" lIns="0" tIns="0" rIns="0" bIns="0" rtlCol="0" anchor="t"/>
          <a:lstStyle/>
          <a:p>
            <a:pPr algn="l" indent="0" marL="0">
              <a:buNone/>
            </a:pPr>
            <a:r>
              <a:rPr lang="en-US" sz="950" b="1" dirty="0">
                <a:solidFill>
                  <a:srgbClr val="8A8A8A"/>
                </a:solidFill>
                <a:latin typeface="Google Sans" pitchFamily="34" charset="0"/>
                <a:ea typeface="Google Sans" pitchFamily="34" charset="-122"/>
                <a:cs typeface="Google Sans" pitchFamily="34" charset="-120"/>
              </a:rPr>
              <a:t>Creator</a:t>
            </a:r>
            <a:endParaRPr lang="en-US" sz="950" dirty="0"/>
          </a:p>
        </p:txBody>
      </p:sp>
      <p:sp>
        <p:nvSpPr>
          <p:cNvPr id="14" name="Text 12"/>
          <p:cNvSpPr txBox="1"/>
          <p:nvPr/>
        </p:nvSpPr>
        <p:spPr>
          <a:xfrm>
            <a:off x="3044952" y="2468880"/>
            <a:ext cx="1280160" cy="219456"/>
          </a:xfrm>
          <a:prstGeom prst="rect">
            <a:avLst/>
          </a:prstGeom>
          <a:noFill/>
          <a:ln/>
        </p:spPr>
        <p:txBody>
          <a:bodyPr wrap="square" lIns="0" tIns="0" rIns="0" bIns="0" rtlCol="0" anchor="t"/>
          <a:lstStyle/>
          <a:p>
            <a:pPr algn="r" indent="0" marL="0">
              <a:buNone/>
            </a:pPr>
            <a:r>
              <a:rPr lang="en-US" sz="950" b="1" dirty="0">
                <a:solidFill>
                  <a:srgbClr val="8A8A8A"/>
                </a:solidFill>
                <a:latin typeface="Google Sans" pitchFamily="34" charset="0"/>
                <a:ea typeface="Google Sans" pitchFamily="34" charset="-122"/>
                <a:cs typeface="Google Sans" pitchFamily="34" charset="-120"/>
              </a:rPr>
              <a:t>Subscribers</a:t>
            </a:r>
            <a:endParaRPr lang="en-US" sz="950" dirty="0"/>
          </a:p>
        </p:txBody>
      </p:sp>
      <p:sp>
        <p:nvSpPr>
          <p:cNvPr id="15" name="Text 13"/>
          <p:cNvSpPr txBox="1"/>
          <p:nvPr/>
        </p:nvSpPr>
        <p:spPr>
          <a:xfrm>
            <a:off x="4416552" y="2468880"/>
            <a:ext cx="1280160" cy="219456"/>
          </a:xfrm>
          <a:prstGeom prst="rect">
            <a:avLst/>
          </a:prstGeom>
          <a:noFill/>
          <a:ln/>
        </p:spPr>
        <p:txBody>
          <a:bodyPr wrap="square" lIns="0" tIns="0" rIns="0" bIns="0" rtlCol="0" anchor="t"/>
          <a:lstStyle/>
          <a:p>
            <a:pPr algn="r" indent="0" marL="0">
              <a:buNone/>
            </a:pPr>
            <a:r>
              <a:rPr lang="en-US" sz="950" b="1" dirty="0">
                <a:solidFill>
                  <a:srgbClr val="8A8A8A"/>
                </a:solidFill>
                <a:latin typeface="Google Sans" pitchFamily="34" charset="0"/>
                <a:ea typeface="Google Sans" pitchFamily="34" charset="-122"/>
                <a:cs typeface="Google Sans" pitchFamily="34" charset="-120"/>
              </a:rPr>
              <a:t>Avg views</a:t>
            </a:r>
            <a:endParaRPr lang="en-US" sz="950" dirty="0"/>
          </a:p>
        </p:txBody>
      </p:sp>
      <p:sp>
        <p:nvSpPr>
          <p:cNvPr id="16" name="Text 14"/>
          <p:cNvSpPr txBox="1"/>
          <p:nvPr/>
        </p:nvSpPr>
        <p:spPr>
          <a:xfrm>
            <a:off x="5788152" y="2468880"/>
            <a:ext cx="2368296" cy="219456"/>
          </a:xfrm>
          <a:prstGeom prst="rect">
            <a:avLst/>
          </a:prstGeom>
          <a:noFill/>
          <a:ln/>
        </p:spPr>
        <p:txBody>
          <a:bodyPr wrap="square" lIns="0" tIns="0" rIns="0" bIns="0" rtlCol="0" anchor="t"/>
          <a:lstStyle/>
          <a:p>
            <a:pPr algn="l" indent="0" marL="0">
              <a:buNone/>
            </a:pPr>
            <a:r>
              <a:rPr lang="en-US" sz="950" b="1" dirty="0">
                <a:solidFill>
                  <a:srgbClr val="FF0033"/>
                </a:solidFill>
                <a:latin typeface="Google Sans" pitchFamily="34" charset="0"/>
                <a:ea typeface="Google Sans" pitchFamily="34" charset="-122"/>
                <a:cs typeface="Google Sans" pitchFamily="34" charset="-120"/>
              </a:rPr>
              <a:t>Views per subscriber</a:t>
            </a:r>
            <a:endParaRPr lang="en-US" sz="950" dirty="0"/>
          </a:p>
        </p:txBody>
      </p:sp>
      <p:sp>
        <p:nvSpPr>
          <p:cNvPr id="17" name="Shape 15"/>
          <p:cNvSpPr/>
          <p:nvPr/>
        </p:nvSpPr>
        <p:spPr>
          <a:xfrm>
            <a:off x="896112" y="2724912"/>
            <a:ext cx="7260336" cy="10973"/>
          </a:xfrm>
          <a:prstGeom prst="rect">
            <a:avLst/>
          </a:prstGeom>
          <a:solidFill>
            <a:srgbClr val="232323"/>
          </a:solidFill>
          <a:ln w="12700">
            <a:solidFill>
              <a:srgbClr val="232323"/>
            </a:solidFill>
            <a:prstDash val="solid"/>
          </a:ln>
        </p:spPr>
      </p:sp>
      <p:sp>
        <p:nvSpPr>
          <p:cNvPr id="18" name="Text 16"/>
          <p:cNvSpPr txBox="1"/>
          <p:nvPr/>
        </p:nvSpPr>
        <p:spPr>
          <a:xfrm>
            <a:off x="896112" y="2816352"/>
            <a:ext cx="2103120" cy="219456"/>
          </a:xfrm>
          <a:prstGeom prst="rect">
            <a:avLst/>
          </a:prstGeom>
          <a:noFill/>
          <a:ln/>
        </p:spPr>
        <p:txBody>
          <a:bodyPr wrap="square" lIns="0" tIns="0" rIns="0" bIns="0" rtlCol="0" anchor="ctr"/>
          <a:lstStyle/>
          <a:p>
            <a:pPr algn="l" indent="0" marL="0">
              <a:buNone/>
            </a:pPr>
            <a:r>
              <a:rPr lang="en-US" sz="1050" b="1" dirty="0">
                <a:solidFill>
                  <a:srgbClr val="FFFFFF"/>
                </a:solidFill>
                <a:latin typeface="Google Sans" pitchFamily="34" charset="0"/>
                <a:ea typeface="Google Sans" pitchFamily="34" charset="-122"/>
                <a:cs typeface="Google Sans" pitchFamily="34" charset="-120"/>
              </a:rPr>
              <a:t>Tatchai I</a:t>
            </a:r>
            <a:endParaRPr lang="en-US" sz="1050" dirty="0"/>
          </a:p>
        </p:txBody>
      </p:sp>
      <p:sp>
        <p:nvSpPr>
          <p:cNvPr id="19" name="Text 17"/>
          <p:cNvSpPr txBox="1"/>
          <p:nvPr/>
        </p:nvSpPr>
        <p:spPr>
          <a:xfrm>
            <a:off x="3044952" y="2816352"/>
            <a:ext cx="1280160" cy="219456"/>
          </a:xfrm>
          <a:prstGeom prst="rect">
            <a:avLst/>
          </a:prstGeom>
          <a:noFill/>
          <a:ln/>
        </p:spPr>
        <p:txBody>
          <a:bodyPr wrap="square" lIns="0" tIns="0" rIns="0" bIns="0" rtlCol="0" anchor="ctr"/>
          <a:lstStyle/>
          <a:p>
            <a:pPr algn="r" indent="0" marL="0">
              <a:buNone/>
            </a:pPr>
            <a:r>
              <a:rPr lang="en-US" sz="1050" dirty="0">
                <a:solidFill>
                  <a:srgbClr val="9E9E9E"/>
                </a:solidFill>
                <a:latin typeface="Google Sans" pitchFamily="34" charset="0"/>
                <a:ea typeface="Google Sans" pitchFamily="34" charset="-122"/>
                <a:cs typeface="Google Sans" pitchFamily="34" charset="-120"/>
              </a:rPr>
              <a:t>308K</a:t>
            </a:r>
            <a:endParaRPr lang="en-US" sz="1050" dirty="0"/>
          </a:p>
        </p:txBody>
      </p:sp>
      <p:sp>
        <p:nvSpPr>
          <p:cNvPr id="20" name="Text 18"/>
          <p:cNvSpPr txBox="1"/>
          <p:nvPr/>
        </p:nvSpPr>
        <p:spPr>
          <a:xfrm>
            <a:off x="4416552" y="2816352"/>
            <a:ext cx="1280160" cy="219456"/>
          </a:xfrm>
          <a:prstGeom prst="rect">
            <a:avLst/>
          </a:prstGeom>
          <a:noFill/>
          <a:ln/>
        </p:spPr>
        <p:txBody>
          <a:bodyPr wrap="square" lIns="0" tIns="0" rIns="0" bIns="0" rtlCol="0" anchor="ctr"/>
          <a:lstStyle/>
          <a:p>
            <a:pPr algn="r" indent="0" marL="0">
              <a:buNone/>
            </a:pPr>
            <a:r>
              <a:rPr lang="en-US" sz="1050" dirty="0">
                <a:solidFill>
                  <a:srgbClr val="9E9E9E"/>
                </a:solidFill>
                <a:latin typeface="Google Sans" pitchFamily="34" charset="0"/>
                <a:ea typeface="Google Sans" pitchFamily="34" charset="-122"/>
                <a:cs typeface="Google Sans" pitchFamily="34" charset="-120"/>
              </a:rPr>
              <a:t>530K</a:t>
            </a:r>
            <a:endParaRPr lang="en-US" sz="1050" dirty="0"/>
          </a:p>
        </p:txBody>
      </p:sp>
      <p:sp>
        <p:nvSpPr>
          <p:cNvPr id="21" name="Text 19"/>
          <p:cNvSpPr txBox="1"/>
          <p:nvPr/>
        </p:nvSpPr>
        <p:spPr>
          <a:xfrm>
            <a:off x="5788152" y="2816352"/>
            <a:ext cx="512064" cy="219456"/>
          </a:xfrm>
          <a:prstGeom prst="rect">
            <a:avLst/>
          </a:prstGeom>
          <a:noFill/>
          <a:ln/>
        </p:spPr>
        <p:txBody>
          <a:bodyPr wrap="square" lIns="0" tIns="0" rIns="0" bIns="0" rtlCol="0" anchor="ctr"/>
          <a:lstStyle/>
          <a:p>
            <a:pPr algn="l" indent="0" marL="0">
              <a:buNone/>
            </a:pPr>
            <a:r>
              <a:rPr lang="en-US" sz="1100" b="1" dirty="0">
                <a:solidFill>
                  <a:srgbClr val="FF0033"/>
                </a:solidFill>
                <a:latin typeface="Google Sans" pitchFamily="34" charset="0"/>
                <a:ea typeface="Google Sans" pitchFamily="34" charset="-122"/>
                <a:cs typeface="Google Sans" pitchFamily="34" charset="-120"/>
              </a:rPr>
              <a:t>1.72x</a:t>
            </a:r>
            <a:endParaRPr lang="en-US" sz="1100" dirty="0"/>
          </a:p>
        </p:txBody>
      </p:sp>
      <p:sp>
        <p:nvSpPr>
          <p:cNvPr id="22" name="Shape 20"/>
          <p:cNvSpPr/>
          <p:nvPr/>
        </p:nvSpPr>
        <p:spPr>
          <a:xfrm>
            <a:off x="6336792" y="2889504"/>
            <a:ext cx="1801368" cy="91440"/>
          </a:xfrm>
          <a:prstGeom prst="rect">
            <a:avLst/>
          </a:prstGeom>
          <a:solidFill>
            <a:srgbClr val="FF0033"/>
          </a:solidFill>
          <a:ln w="12700">
            <a:solidFill>
              <a:srgbClr val="FF0033"/>
            </a:solidFill>
            <a:prstDash val="solid"/>
          </a:ln>
        </p:spPr>
      </p:sp>
      <p:sp>
        <p:nvSpPr>
          <p:cNvPr id="23" name="Text 21"/>
          <p:cNvSpPr txBox="1"/>
          <p:nvPr/>
        </p:nvSpPr>
        <p:spPr>
          <a:xfrm>
            <a:off x="896112" y="3182112"/>
            <a:ext cx="2103120" cy="219456"/>
          </a:xfrm>
          <a:prstGeom prst="rect">
            <a:avLst/>
          </a:prstGeom>
          <a:noFill/>
          <a:ln/>
        </p:spPr>
        <p:txBody>
          <a:bodyPr wrap="square" lIns="0" tIns="0" rIns="0" bIns="0" rtlCol="0" anchor="ctr"/>
          <a:lstStyle/>
          <a:p>
            <a:pPr algn="l" indent="0" marL="0">
              <a:buNone/>
            </a:pPr>
            <a:r>
              <a:rPr lang="en-US" sz="1050" b="1" dirty="0">
                <a:solidFill>
                  <a:srgbClr val="FFFFFF"/>
                </a:solidFill>
                <a:latin typeface="Google Sans" pitchFamily="34" charset="0"/>
                <a:ea typeface="Google Sans" pitchFamily="34" charset="-122"/>
                <a:cs typeface="Google Sans" pitchFamily="34" charset="-120"/>
              </a:rPr>
              <a:t>MrWattana</a:t>
            </a:r>
            <a:endParaRPr lang="en-US" sz="1050" dirty="0"/>
          </a:p>
        </p:txBody>
      </p:sp>
      <p:sp>
        <p:nvSpPr>
          <p:cNvPr id="24" name="Text 22"/>
          <p:cNvSpPr txBox="1"/>
          <p:nvPr/>
        </p:nvSpPr>
        <p:spPr>
          <a:xfrm>
            <a:off x="3044952" y="3182112"/>
            <a:ext cx="1280160" cy="219456"/>
          </a:xfrm>
          <a:prstGeom prst="rect">
            <a:avLst/>
          </a:prstGeom>
          <a:noFill/>
          <a:ln/>
        </p:spPr>
        <p:txBody>
          <a:bodyPr wrap="square" lIns="0" tIns="0" rIns="0" bIns="0" rtlCol="0" anchor="ctr"/>
          <a:lstStyle/>
          <a:p>
            <a:pPr algn="r" indent="0" marL="0">
              <a:buNone/>
            </a:pPr>
            <a:r>
              <a:rPr lang="en-US" sz="1050" dirty="0">
                <a:solidFill>
                  <a:srgbClr val="9E9E9E"/>
                </a:solidFill>
                <a:latin typeface="Google Sans" pitchFamily="34" charset="0"/>
                <a:ea typeface="Google Sans" pitchFamily="34" charset="-122"/>
                <a:cs typeface="Google Sans" pitchFamily="34" charset="-120"/>
              </a:rPr>
              <a:t>240K</a:t>
            </a:r>
            <a:endParaRPr lang="en-US" sz="1050" dirty="0"/>
          </a:p>
        </p:txBody>
      </p:sp>
      <p:sp>
        <p:nvSpPr>
          <p:cNvPr id="25" name="Text 23"/>
          <p:cNvSpPr txBox="1"/>
          <p:nvPr/>
        </p:nvSpPr>
        <p:spPr>
          <a:xfrm>
            <a:off x="4416552" y="3182112"/>
            <a:ext cx="1280160" cy="219456"/>
          </a:xfrm>
          <a:prstGeom prst="rect">
            <a:avLst/>
          </a:prstGeom>
          <a:noFill/>
          <a:ln/>
        </p:spPr>
        <p:txBody>
          <a:bodyPr wrap="square" lIns="0" tIns="0" rIns="0" bIns="0" rtlCol="0" anchor="ctr"/>
          <a:lstStyle/>
          <a:p>
            <a:pPr algn="r" indent="0" marL="0">
              <a:buNone/>
            </a:pPr>
            <a:r>
              <a:rPr lang="en-US" sz="1050" dirty="0">
                <a:solidFill>
                  <a:srgbClr val="9E9E9E"/>
                </a:solidFill>
                <a:latin typeface="Google Sans" pitchFamily="34" charset="0"/>
                <a:ea typeface="Google Sans" pitchFamily="34" charset="-122"/>
                <a:cs typeface="Google Sans" pitchFamily="34" charset="-120"/>
              </a:rPr>
              <a:t>360K</a:t>
            </a:r>
            <a:endParaRPr lang="en-US" sz="1050" dirty="0"/>
          </a:p>
        </p:txBody>
      </p:sp>
      <p:sp>
        <p:nvSpPr>
          <p:cNvPr id="26" name="Text 24"/>
          <p:cNvSpPr txBox="1"/>
          <p:nvPr/>
        </p:nvSpPr>
        <p:spPr>
          <a:xfrm>
            <a:off x="5788152" y="3182112"/>
            <a:ext cx="512064" cy="219456"/>
          </a:xfrm>
          <a:prstGeom prst="rect">
            <a:avLst/>
          </a:prstGeom>
          <a:noFill/>
          <a:ln/>
        </p:spPr>
        <p:txBody>
          <a:bodyPr wrap="square" lIns="0" tIns="0" rIns="0" bIns="0" rtlCol="0" anchor="ctr"/>
          <a:lstStyle/>
          <a:p>
            <a:pPr algn="l" indent="0" marL="0">
              <a:buNone/>
            </a:pPr>
            <a:r>
              <a:rPr lang="en-US" sz="1100" b="1" dirty="0">
                <a:solidFill>
                  <a:srgbClr val="FF0033"/>
                </a:solidFill>
                <a:latin typeface="Google Sans" pitchFamily="34" charset="0"/>
                <a:ea typeface="Google Sans" pitchFamily="34" charset="-122"/>
                <a:cs typeface="Google Sans" pitchFamily="34" charset="-120"/>
              </a:rPr>
              <a:t>1.50x</a:t>
            </a:r>
            <a:endParaRPr lang="en-US" sz="1100" dirty="0"/>
          </a:p>
        </p:txBody>
      </p:sp>
      <p:sp>
        <p:nvSpPr>
          <p:cNvPr id="27" name="Shape 25"/>
          <p:cNvSpPr/>
          <p:nvPr/>
        </p:nvSpPr>
        <p:spPr>
          <a:xfrm>
            <a:off x="6336792" y="3255264"/>
            <a:ext cx="1570960" cy="91440"/>
          </a:xfrm>
          <a:prstGeom prst="rect">
            <a:avLst/>
          </a:prstGeom>
          <a:solidFill>
            <a:srgbClr val="FF0033"/>
          </a:solidFill>
          <a:ln w="12700">
            <a:solidFill>
              <a:srgbClr val="FF0033"/>
            </a:solidFill>
            <a:prstDash val="solid"/>
          </a:ln>
        </p:spPr>
      </p:sp>
      <p:sp>
        <p:nvSpPr>
          <p:cNvPr id="28" name="Text 26"/>
          <p:cNvSpPr txBox="1"/>
          <p:nvPr/>
        </p:nvSpPr>
        <p:spPr>
          <a:xfrm>
            <a:off x="896112" y="3547872"/>
            <a:ext cx="2103120" cy="219456"/>
          </a:xfrm>
          <a:prstGeom prst="rect">
            <a:avLst/>
          </a:prstGeom>
          <a:noFill/>
          <a:ln/>
        </p:spPr>
        <p:txBody>
          <a:bodyPr wrap="square" lIns="0" tIns="0" rIns="0" bIns="0" rtlCol="0" anchor="ctr"/>
          <a:lstStyle/>
          <a:p>
            <a:pPr algn="l" indent="0" marL="0">
              <a:buNone/>
            </a:pPr>
            <a:r>
              <a:rPr lang="en-US" sz="1050" b="1" dirty="0">
                <a:solidFill>
                  <a:srgbClr val="FFFFFF"/>
                </a:solidFill>
                <a:latin typeface="Google Sans" pitchFamily="34" charset="0"/>
                <a:ea typeface="Google Sans" pitchFamily="34" charset="-122"/>
                <a:cs typeface="Google Sans" pitchFamily="34" charset="-120"/>
              </a:rPr>
              <a:t>GangBad TM</a:t>
            </a:r>
            <a:endParaRPr lang="en-US" sz="1050" dirty="0"/>
          </a:p>
        </p:txBody>
      </p:sp>
      <p:sp>
        <p:nvSpPr>
          <p:cNvPr id="29" name="Text 27"/>
          <p:cNvSpPr txBox="1"/>
          <p:nvPr/>
        </p:nvSpPr>
        <p:spPr>
          <a:xfrm>
            <a:off x="3044952" y="3547872"/>
            <a:ext cx="1280160" cy="219456"/>
          </a:xfrm>
          <a:prstGeom prst="rect">
            <a:avLst/>
          </a:prstGeom>
          <a:noFill/>
          <a:ln/>
        </p:spPr>
        <p:txBody>
          <a:bodyPr wrap="square" lIns="0" tIns="0" rIns="0" bIns="0" rtlCol="0" anchor="ctr"/>
          <a:lstStyle/>
          <a:p>
            <a:pPr algn="r" indent="0" marL="0">
              <a:buNone/>
            </a:pPr>
            <a:r>
              <a:rPr lang="en-US" sz="1050" dirty="0">
                <a:solidFill>
                  <a:srgbClr val="9E9E9E"/>
                </a:solidFill>
                <a:latin typeface="Google Sans" pitchFamily="34" charset="0"/>
                <a:ea typeface="Google Sans" pitchFamily="34" charset="-122"/>
                <a:cs typeface="Google Sans" pitchFamily="34" charset="-120"/>
              </a:rPr>
              <a:t>525K</a:t>
            </a:r>
            <a:endParaRPr lang="en-US" sz="1050" dirty="0"/>
          </a:p>
        </p:txBody>
      </p:sp>
      <p:sp>
        <p:nvSpPr>
          <p:cNvPr id="30" name="Text 28"/>
          <p:cNvSpPr txBox="1"/>
          <p:nvPr/>
        </p:nvSpPr>
        <p:spPr>
          <a:xfrm>
            <a:off x="4416552" y="3547872"/>
            <a:ext cx="1280160" cy="219456"/>
          </a:xfrm>
          <a:prstGeom prst="rect">
            <a:avLst/>
          </a:prstGeom>
          <a:noFill/>
          <a:ln/>
        </p:spPr>
        <p:txBody>
          <a:bodyPr wrap="square" lIns="0" tIns="0" rIns="0" bIns="0" rtlCol="0" anchor="ctr"/>
          <a:lstStyle/>
          <a:p>
            <a:pPr algn="r" indent="0" marL="0">
              <a:buNone/>
            </a:pPr>
            <a:r>
              <a:rPr lang="en-US" sz="1050" dirty="0">
                <a:solidFill>
                  <a:srgbClr val="9E9E9E"/>
                </a:solidFill>
                <a:latin typeface="Google Sans" pitchFamily="34" charset="0"/>
                <a:ea typeface="Google Sans" pitchFamily="34" charset="-122"/>
                <a:cs typeface="Google Sans" pitchFamily="34" charset="-120"/>
              </a:rPr>
              <a:t>400K</a:t>
            </a:r>
            <a:endParaRPr lang="en-US" sz="1050" dirty="0"/>
          </a:p>
        </p:txBody>
      </p:sp>
      <p:sp>
        <p:nvSpPr>
          <p:cNvPr id="31" name="Text 29"/>
          <p:cNvSpPr txBox="1"/>
          <p:nvPr/>
        </p:nvSpPr>
        <p:spPr>
          <a:xfrm>
            <a:off x="5788152" y="3547872"/>
            <a:ext cx="512064" cy="219456"/>
          </a:xfrm>
          <a:prstGeom prst="rect">
            <a:avLst/>
          </a:prstGeom>
          <a:noFill/>
          <a:ln/>
        </p:spPr>
        <p:txBody>
          <a:bodyPr wrap="square" lIns="0" tIns="0" rIns="0" bIns="0" rtlCol="0" anchor="ctr"/>
          <a:lstStyle/>
          <a:p>
            <a:pPr algn="l" indent="0" marL="0">
              <a:buNone/>
            </a:pPr>
            <a:r>
              <a:rPr lang="en-US" sz="1100" b="1" dirty="0">
                <a:solidFill>
                  <a:srgbClr val="C40028"/>
                </a:solidFill>
                <a:latin typeface="Google Sans" pitchFamily="34" charset="0"/>
                <a:ea typeface="Google Sans" pitchFamily="34" charset="-122"/>
                <a:cs typeface="Google Sans" pitchFamily="34" charset="-120"/>
              </a:rPr>
              <a:t>0.76x</a:t>
            </a:r>
            <a:endParaRPr lang="en-US" sz="1100" dirty="0"/>
          </a:p>
        </p:txBody>
      </p:sp>
      <p:sp>
        <p:nvSpPr>
          <p:cNvPr id="32" name="Shape 30"/>
          <p:cNvSpPr/>
          <p:nvPr/>
        </p:nvSpPr>
        <p:spPr>
          <a:xfrm>
            <a:off x="6336792" y="3621024"/>
            <a:ext cx="795953" cy="91440"/>
          </a:xfrm>
          <a:prstGeom prst="rect">
            <a:avLst/>
          </a:prstGeom>
          <a:solidFill>
            <a:srgbClr val="C40028"/>
          </a:solidFill>
          <a:ln w="12700">
            <a:solidFill>
              <a:srgbClr val="C40028"/>
            </a:solidFill>
            <a:prstDash val="solid"/>
          </a:ln>
        </p:spPr>
      </p:sp>
      <p:sp>
        <p:nvSpPr>
          <p:cNvPr id="33" name="Text 31"/>
          <p:cNvSpPr txBox="1"/>
          <p:nvPr/>
        </p:nvSpPr>
        <p:spPr>
          <a:xfrm>
            <a:off x="896112" y="3913632"/>
            <a:ext cx="2103120" cy="219456"/>
          </a:xfrm>
          <a:prstGeom prst="rect">
            <a:avLst/>
          </a:prstGeom>
          <a:noFill/>
          <a:ln/>
        </p:spPr>
        <p:txBody>
          <a:bodyPr wrap="square" lIns="0" tIns="0" rIns="0" bIns="0" rtlCol="0" anchor="ctr"/>
          <a:lstStyle/>
          <a:p>
            <a:pPr algn="l" indent="0" marL="0">
              <a:buNone/>
            </a:pPr>
            <a:r>
              <a:rPr lang="en-US" sz="1050" b="1" dirty="0">
                <a:solidFill>
                  <a:srgbClr val="FFFFFF"/>
                </a:solidFill>
                <a:latin typeface="Google Sans" pitchFamily="34" charset="0"/>
                <a:ea typeface="Google Sans" pitchFamily="34" charset="-122"/>
                <a:cs typeface="Google Sans" pitchFamily="34" charset="-120"/>
              </a:rPr>
              <a:t>KarosPPM</a:t>
            </a:r>
            <a:endParaRPr lang="en-US" sz="1050" dirty="0"/>
          </a:p>
        </p:txBody>
      </p:sp>
      <p:sp>
        <p:nvSpPr>
          <p:cNvPr id="34" name="Text 32"/>
          <p:cNvSpPr txBox="1"/>
          <p:nvPr/>
        </p:nvSpPr>
        <p:spPr>
          <a:xfrm>
            <a:off x="3044952" y="3913632"/>
            <a:ext cx="1280160" cy="219456"/>
          </a:xfrm>
          <a:prstGeom prst="rect">
            <a:avLst/>
          </a:prstGeom>
          <a:noFill/>
          <a:ln/>
        </p:spPr>
        <p:txBody>
          <a:bodyPr wrap="square" lIns="0" tIns="0" rIns="0" bIns="0" rtlCol="0" anchor="ctr"/>
          <a:lstStyle/>
          <a:p>
            <a:pPr algn="r" indent="0" marL="0">
              <a:buNone/>
            </a:pPr>
            <a:r>
              <a:rPr lang="en-US" sz="1050" dirty="0">
                <a:solidFill>
                  <a:srgbClr val="9E9E9E"/>
                </a:solidFill>
                <a:latin typeface="Google Sans" pitchFamily="34" charset="0"/>
                <a:ea typeface="Google Sans" pitchFamily="34" charset="-122"/>
                <a:cs typeface="Google Sans" pitchFamily="34" charset="-120"/>
              </a:rPr>
              <a:t>851K</a:t>
            </a:r>
            <a:endParaRPr lang="en-US" sz="1050" dirty="0"/>
          </a:p>
        </p:txBody>
      </p:sp>
      <p:sp>
        <p:nvSpPr>
          <p:cNvPr id="35" name="Text 33"/>
          <p:cNvSpPr txBox="1"/>
          <p:nvPr/>
        </p:nvSpPr>
        <p:spPr>
          <a:xfrm>
            <a:off x="4416552" y="3913632"/>
            <a:ext cx="1280160" cy="219456"/>
          </a:xfrm>
          <a:prstGeom prst="rect">
            <a:avLst/>
          </a:prstGeom>
          <a:noFill/>
          <a:ln/>
        </p:spPr>
        <p:txBody>
          <a:bodyPr wrap="square" lIns="0" tIns="0" rIns="0" bIns="0" rtlCol="0" anchor="ctr"/>
          <a:lstStyle/>
          <a:p>
            <a:pPr algn="r" indent="0" marL="0">
              <a:buNone/>
            </a:pPr>
            <a:r>
              <a:rPr lang="en-US" sz="1050" dirty="0">
                <a:solidFill>
                  <a:srgbClr val="9E9E9E"/>
                </a:solidFill>
                <a:latin typeface="Google Sans" pitchFamily="34" charset="0"/>
                <a:ea typeface="Google Sans" pitchFamily="34" charset="-122"/>
                <a:cs typeface="Google Sans" pitchFamily="34" charset="-120"/>
              </a:rPr>
              <a:t>530K</a:t>
            </a:r>
            <a:endParaRPr lang="en-US" sz="1050" dirty="0"/>
          </a:p>
        </p:txBody>
      </p:sp>
      <p:sp>
        <p:nvSpPr>
          <p:cNvPr id="36" name="Text 34"/>
          <p:cNvSpPr txBox="1"/>
          <p:nvPr/>
        </p:nvSpPr>
        <p:spPr>
          <a:xfrm>
            <a:off x="5788152" y="3913632"/>
            <a:ext cx="512064" cy="219456"/>
          </a:xfrm>
          <a:prstGeom prst="rect">
            <a:avLst/>
          </a:prstGeom>
          <a:noFill/>
          <a:ln/>
        </p:spPr>
        <p:txBody>
          <a:bodyPr wrap="square" lIns="0" tIns="0" rIns="0" bIns="0" rtlCol="0" anchor="ctr"/>
          <a:lstStyle/>
          <a:p>
            <a:pPr algn="l" indent="0" marL="0">
              <a:buNone/>
            </a:pPr>
            <a:r>
              <a:rPr lang="en-US" sz="1100" b="1" dirty="0">
                <a:solidFill>
                  <a:srgbClr val="C40028"/>
                </a:solidFill>
                <a:latin typeface="Google Sans" pitchFamily="34" charset="0"/>
                <a:ea typeface="Google Sans" pitchFamily="34" charset="-122"/>
                <a:cs typeface="Google Sans" pitchFamily="34" charset="-120"/>
              </a:rPr>
              <a:t>0.62x</a:t>
            </a:r>
            <a:endParaRPr lang="en-US" sz="1100" dirty="0"/>
          </a:p>
        </p:txBody>
      </p:sp>
      <p:sp>
        <p:nvSpPr>
          <p:cNvPr id="37" name="Shape 35"/>
          <p:cNvSpPr/>
          <p:nvPr/>
        </p:nvSpPr>
        <p:spPr>
          <a:xfrm>
            <a:off x="6336792" y="3986784"/>
            <a:ext cx="649330" cy="91440"/>
          </a:xfrm>
          <a:prstGeom prst="rect">
            <a:avLst/>
          </a:prstGeom>
          <a:solidFill>
            <a:srgbClr val="C40028"/>
          </a:solidFill>
          <a:ln w="12700">
            <a:solidFill>
              <a:srgbClr val="C40028"/>
            </a:solidFill>
            <a:prstDash val="solid"/>
          </a:ln>
        </p:spPr>
      </p:sp>
      <p:sp>
        <p:nvSpPr>
          <p:cNvPr id="38" name="Text 36"/>
          <p:cNvSpPr txBox="1"/>
          <p:nvPr/>
        </p:nvSpPr>
        <p:spPr>
          <a:xfrm>
            <a:off x="896112" y="4279392"/>
            <a:ext cx="2103120" cy="219456"/>
          </a:xfrm>
          <a:prstGeom prst="rect">
            <a:avLst/>
          </a:prstGeom>
          <a:noFill/>
          <a:ln/>
        </p:spPr>
        <p:txBody>
          <a:bodyPr wrap="square" lIns="0" tIns="0" rIns="0" bIns="0" rtlCol="0" anchor="ctr"/>
          <a:lstStyle/>
          <a:p>
            <a:pPr algn="l" indent="0" marL="0">
              <a:buNone/>
            </a:pPr>
            <a:r>
              <a:rPr lang="en-US" sz="1050" b="1" dirty="0">
                <a:solidFill>
                  <a:srgbClr val="FFFFFF"/>
                </a:solidFill>
                <a:latin typeface="Google Sans" pitchFamily="34" charset="0"/>
                <a:ea typeface="Google Sans" pitchFamily="34" charset="-122"/>
                <a:cs typeface="Google Sans" pitchFamily="34" charset="-120"/>
              </a:rPr>
              <a:t>HEARTROCKER</a:t>
            </a:r>
            <a:endParaRPr lang="en-US" sz="1050" dirty="0"/>
          </a:p>
        </p:txBody>
      </p:sp>
      <p:sp>
        <p:nvSpPr>
          <p:cNvPr id="39" name="Text 37"/>
          <p:cNvSpPr txBox="1"/>
          <p:nvPr/>
        </p:nvSpPr>
        <p:spPr>
          <a:xfrm>
            <a:off x="3044952" y="4279392"/>
            <a:ext cx="1280160" cy="219456"/>
          </a:xfrm>
          <a:prstGeom prst="rect">
            <a:avLst/>
          </a:prstGeom>
          <a:noFill/>
          <a:ln/>
        </p:spPr>
        <p:txBody>
          <a:bodyPr wrap="square" lIns="0" tIns="0" rIns="0" bIns="0" rtlCol="0" anchor="ctr"/>
          <a:lstStyle/>
          <a:p>
            <a:pPr algn="r" indent="0" marL="0">
              <a:buNone/>
            </a:pPr>
            <a:r>
              <a:rPr lang="en-US" sz="1050" dirty="0">
                <a:solidFill>
                  <a:srgbClr val="9E9E9E"/>
                </a:solidFill>
                <a:latin typeface="Google Sans" pitchFamily="34" charset="0"/>
                <a:ea typeface="Google Sans" pitchFamily="34" charset="-122"/>
                <a:cs typeface="Google Sans" pitchFamily="34" charset="-120"/>
              </a:rPr>
              <a:t>8.17M</a:t>
            </a:r>
            <a:endParaRPr lang="en-US" sz="1050" dirty="0"/>
          </a:p>
        </p:txBody>
      </p:sp>
      <p:sp>
        <p:nvSpPr>
          <p:cNvPr id="40" name="Text 38"/>
          <p:cNvSpPr txBox="1"/>
          <p:nvPr/>
        </p:nvSpPr>
        <p:spPr>
          <a:xfrm>
            <a:off x="4416552" y="4279392"/>
            <a:ext cx="1280160" cy="219456"/>
          </a:xfrm>
          <a:prstGeom prst="rect">
            <a:avLst/>
          </a:prstGeom>
          <a:noFill/>
          <a:ln/>
        </p:spPr>
        <p:txBody>
          <a:bodyPr wrap="square" lIns="0" tIns="0" rIns="0" bIns="0" rtlCol="0" anchor="ctr"/>
          <a:lstStyle/>
          <a:p>
            <a:pPr algn="r" indent="0" marL="0">
              <a:buNone/>
            </a:pPr>
            <a:r>
              <a:rPr lang="en-US" sz="1050" dirty="0">
                <a:solidFill>
                  <a:srgbClr val="9E9E9E"/>
                </a:solidFill>
                <a:latin typeface="Google Sans" pitchFamily="34" charset="0"/>
                <a:ea typeface="Google Sans" pitchFamily="34" charset="-122"/>
                <a:cs typeface="Google Sans" pitchFamily="34" charset="-120"/>
              </a:rPr>
              <a:t>490K</a:t>
            </a:r>
            <a:endParaRPr lang="en-US" sz="1050" dirty="0"/>
          </a:p>
        </p:txBody>
      </p:sp>
      <p:sp>
        <p:nvSpPr>
          <p:cNvPr id="41" name="Text 39"/>
          <p:cNvSpPr txBox="1"/>
          <p:nvPr/>
        </p:nvSpPr>
        <p:spPr>
          <a:xfrm>
            <a:off x="5788152" y="4279392"/>
            <a:ext cx="512064" cy="219456"/>
          </a:xfrm>
          <a:prstGeom prst="rect">
            <a:avLst/>
          </a:prstGeom>
          <a:noFill/>
          <a:ln/>
        </p:spPr>
        <p:txBody>
          <a:bodyPr wrap="square" lIns="0" tIns="0" rIns="0" bIns="0" rtlCol="0" anchor="ctr"/>
          <a:lstStyle/>
          <a:p>
            <a:pPr algn="l" indent="0" marL="0">
              <a:buNone/>
            </a:pPr>
            <a:r>
              <a:rPr lang="en-US" sz="1100" b="1" dirty="0">
                <a:solidFill>
                  <a:srgbClr val="8A001C"/>
                </a:solidFill>
                <a:latin typeface="Google Sans" pitchFamily="34" charset="0"/>
                <a:ea typeface="Google Sans" pitchFamily="34" charset="-122"/>
                <a:cs typeface="Google Sans" pitchFamily="34" charset="-120"/>
              </a:rPr>
              <a:t>0.06x</a:t>
            </a:r>
            <a:endParaRPr lang="en-US" sz="1100" dirty="0"/>
          </a:p>
        </p:txBody>
      </p:sp>
      <p:sp>
        <p:nvSpPr>
          <p:cNvPr id="42" name="Shape 40"/>
          <p:cNvSpPr/>
          <p:nvPr/>
        </p:nvSpPr>
        <p:spPr>
          <a:xfrm>
            <a:off x="6336792" y="4352544"/>
            <a:ext cx="62838" cy="91440"/>
          </a:xfrm>
          <a:prstGeom prst="rect">
            <a:avLst/>
          </a:prstGeom>
          <a:solidFill>
            <a:srgbClr val="8A001C"/>
          </a:solidFill>
          <a:ln w="12700">
            <a:solidFill>
              <a:srgbClr val="8A001C"/>
            </a:solidFill>
            <a:prstDash val="solid"/>
          </a:ln>
        </p:spPr>
      </p:sp>
      <p:sp>
        <p:nvSpPr>
          <p:cNvPr id="43" name="Shape 41"/>
          <p:cNvSpPr/>
          <p:nvPr/>
        </p:nvSpPr>
        <p:spPr>
          <a:xfrm>
            <a:off x="8686800" y="1874520"/>
            <a:ext cx="2864815" cy="2788920"/>
          </a:xfrm>
          <a:prstGeom prst="roundRect">
            <a:avLst>
              <a:gd name="adj" fmla="val 1967"/>
            </a:avLst>
          </a:prstGeom>
          <a:solidFill>
            <a:srgbClr val="161616"/>
          </a:solidFill>
          <a:ln w="12700">
            <a:solidFill>
              <a:srgbClr val="232323"/>
            </a:solidFill>
            <a:prstDash val="solid"/>
          </a:ln>
        </p:spPr>
      </p:sp>
      <p:sp>
        <p:nvSpPr>
          <p:cNvPr id="44" name="Shape 42"/>
          <p:cNvSpPr/>
          <p:nvPr/>
        </p:nvSpPr>
        <p:spPr>
          <a:xfrm>
            <a:off x="8942832" y="2057400"/>
            <a:ext cx="777240" cy="256032"/>
          </a:xfrm>
          <a:prstGeom prst="roundRect">
            <a:avLst>
              <a:gd name="adj" fmla="val 21429"/>
            </a:avLst>
          </a:prstGeom>
          <a:solidFill>
            <a:srgbClr val="5C0014"/>
          </a:solidFill>
          <a:ln w="12700">
            <a:solidFill>
              <a:srgbClr val="5C0014"/>
            </a:solidFill>
            <a:prstDash val="solid"/>
          </a:ln>
        </p:spPr>
      </p:sp>
      <p:sp>
        <p:nvSpPr>
          <p:cNvPr id="45" name="Text 43"/>
          <p:cNvSpPr txBox="1"/>
          <p:nvPr/>
        </p:nvSpPr>
        <p:spPr>
          <a:xfrm>
            <a:off x="8942832" y="2057400"/>
            <a:ext cx="777240"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Google Sans" pitchFamily="34" charset="0"/>
                <a:ea typeface="Google Sans" pitchFamily="34" charset="-122"/>
                <a:cs typeface="Google Sans" pitchFamily="34" charset="-120"/>
              </a:rPr>
              <a:t>Tier 4</a:t>
            </a:r>
            <a:endParaRPr lang="en-US" sz="950" dirty="0"/>
          </a:p>
        </p:txBody>
      </p:sp>
      <p:sp>
        <p:nvSpPr>
          <p:cNvPr id="46" name="Text 44"/>
          <p:cNvSpPr txBox="1"/>
          <p:nvPr/>
        </p:nvSpPr>
        <p:spPr>
          <a:xfrm>
            <a:off x="8942832" y="2404872"/>
            <a:ext cx="2352751" cy="274320"/>
          </a:xfrm>
          <a:prstGeom prst="rect">
            <a:avLst/>
          </a:prstGeom>
          <a:noFill/>
          <a:ln/>
        </p:spPr>
        <p:txBody>
          <a:bodyPr wrap="square" lIns="0" tIns="0" rIns="0" bIns="0" rtlCol="0" anchor="t"/>
          <a:lstStyle/>
          <a:p>
            <a:pPr algn="l" indent="0" marL="0">
              <a:buNone/>
            </a:pPr>
            <a:r>
              <a:rPr lang="en-US" sz="1400" b="1" dirty="0">
                <a:solidFill>
                  <a:srgbClr val="FFFFFF"/>
                </a:solidFill>
                <a:latin typeface="Google Sans" pitchFamily="34" charset="0"/>
                <a:ea typeface="Google Sans" pitchFamily="34" charset="-122"/>
                <a:cs typeface="Google Sans" pitchFamily="34" charset="-120"/>
              </a:rPr>
              <a:t>Pipeline bet</a:t>
            </a:r>
            <a:endParaRPr lang="en-US" sz="1400" dirty="0"/>
          </a:p>
        </p:txBody>
      </p:sp>
      <p:sp>
        <p:nvSpPr>
          <p:cNvPr id="47" name="Shape 45"/>
          <p:cNvSpPr/>
          <p:nvPr/>
        </p:nvSpPr>
        <p:spPr>
          <a:xfrm>
            <a:off x="8942832" y="2724912"/>
            <a:ext cx="2352751" cy="347472"/>
          </a:xfrm>
          <a:prstGeom prst="roundRect">
            <a:avLst>
              <a:gd name="adj" fmla="val 15789"/>
            </a:avLst>
          </a:prstGeom>
          <a:solidFill>
            <a:srgbClr val="5C0014"/>
          </a:solidFill>
          <a:ln w="12700">
            <a:solidFill>
              <a:srgbClr val="5C0014"/>
            </a:solidFill>
            <a:prstDash val="solid"/>
          </a:ln>
        </p:spPr>
      </p:sp>
      <p:sp>
        <p:nvSpPr>
          <p:cNvPr id="48" name="Text 46"/>
          <p:cNvSpPr txBox="1"/>
          <p:nvPr/>
        </p:nvSpPr>
        <p:spPr>
          <a:xfrm>
            <a:off x="8942832" y="2724912"/>
            <a:ext cx="2352751"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Google Sans" pitchFamily="34" charset="0"/>
                <a:ea typeface="Google Sans" pitchFamily="34" charset="-122"/>
                <a:cs typeface="Google Sans" pitchFamily="34" charset="-120"/>
              </a:rPr>
              <a:t>NotAmberRoblox</a:t>
            </a:r>
            <a:endParaRPr lang="en-US" sz="1000" dirty="0"/>
          </a:p>
        </p:txBody>
      </p:sp>
      <p:sp>
        <p:nvSpPr>
          <p:cNvPr id="49" name="Shape 47"/>
          <p:cNvSpPr/>
          <p:nvPr/>
        </p:nvSpPr>
        <p:spPr>
          <a:xfrm>
            <a:off x="8942832" y="3127248"/>
            <a:ext cx="2352751" cy="347472"/>
          </a:xfrm>
          <a:prstGeom prst="roundRect">
            <a:avLst>
              <a:gd name="adj" fmla="val 15789"/>
            </a:avLst>
          </a:prstGeom>
          <a:solidFill>
            <a:srgbClr val="5C0014"/>
          </a:solidFill>
          <a:ln w="12700">
            <a:solidFill>
              <a:srgbClr val="5C0014"/>
            </a:solidFill>
            <a:prstDash val="solid"/>
          </a:ln>
        </p:spPr>
      </p:sp>
      <p:sp>
        <p:nvSpPr>
          <p:cNvPr id="50" name="Text 48"/>
          <p:cNvSpPr txBox="1"/>
          <p:nvPr/>
        </p:nvSpPr>
        <p:spPr>
          <a:xfrm>
            <a:off x="8942832" y="3127248"/>
            <a:ext cx="2352751"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Google Sans" pitchFamily="34" charset="0"/>
                <a:ea typeface="Google Sans" pitchFamily="34" charset="-122"/>
                <a:cs typeface="Google Sans" pitchFamily="34" charset="-120"/>
              </a:rPr>
              <a:t>Dragon Gold</a:t>
            </a:r>
            <a:endParaRPr lang="en-US" sz="1000" dirty="0"/>
          </a:p>
        </p:txBody>
      </p:sp>
      <p:sp>
        <p:nvSpPr>
          <p:cNvPr id="51" name="Text 49"/>
          <p:cNvSpPr txBox="1"/>
          <p:nvPr/>
        </p:nvSpPr>
        <p:spPr>
          <a:xfrm>
            <a:off x="8942832" y="3584448"/>
            <a:ext cx="2352751" cy="566928"/>
          </a:xfrm>
          <a:prstGeom prst="rect">
            <a:avLst/>
          </a:prstGeom>
          <a:noFill/>
          <a:ln/>
        </p:spPr>
        <p:txBody>
          <a:bodyPr wrap="square" lIns="0" tIns="0" rIns="0" bIns="0" rtlCol="0" anchor="t"/>
          <a:lstStyle/>
          <a:p>
            <a:pPr algn="l" indent="0" marL="0">
              <a:lnSpc>
                <a:spcPct val="112000"/>
              </a:lnSpc>
              <a:buNone/>
            </a:pPr>
            <a:r>
              <a:rPr lang="en-US" sz="950" dirty="0">
                <a:solidFill>
                  <a:srgbClr val="9E9E9E"/>
                </a:solidFill>
                <a:latin typeface="Google Sans" pitchFamily="34" charset="0"/>
                <a:ea typeface="Google Sans" pitchFamily="34" charset="-122"/>
                <a:cs typeface="Google Sans" pitchFamily="34" charset="-120"/>
              </a:rPr>
              <a:t>Roblox-native. Roblox sits on the Thai download charts alongside RoV, Free Fire, Mobile Legends and PUBG Mobile.</a:t>
            </a:r>
            <a:endParaRPr lang="en-US" sz="950" dirty="0"/>
          </a:p>
        </p:txBody>
      </p:sp>
      <p:sp>
        <p:nvSpPr>
          <p:cNvPr id="52" name="Text 50"/>
          <p:cNvSpPr txBox="1"/>
          <p:nvPr/>
        </p:nvSpPr>
        <p:spPr>
          <a:xfrm>
            <a:off x="8942832" y="4224528"/>
            <a:ext cx="2352751" cy="365760"/>
          </a:xfrm>
          <a:prstGeom prst="rect">
            <a:avLst/>
          </a:prstGeom>
          <a:noFill/>
          <a:ln/>
        </p:spPr>
        <p:txBody>
          <a:bodyPr wrap="square" lIns="0" tIns="0" rIns="0" bIns="0" rtlCol="0" anchor="t"/>
          <a:lstStyle/>
          <a:p>
            <a:pPr algn="l" indent="0" marL="0">
              <a:lnSpc>
                <a:spcPct val="110000"/>
              </a:lnSpc>
              <a:buNone/>
            </a:pPr>
            <a:r>
              <a:rPr lang="en-US" sz="950" dirty="0">
                <a:solidFill>
                  <a:srgbClr val="8A8A8A"/>
                </a:solidFill>
                <a:latin typeface="Google Sans" pitchFamily="34" charset="0"/>
                <a:ea typeface="Google Sans" pitchFamily="34" charset="-122"/>
                <a:cs typeface="Google Sans" pitchFamily="34" charset="-120"/>
              </a:rPr>
              <a:t>Small line item. Next cohort, not this one.</a:t>
            </a:r>
            <a:endParaRPr lang="en-US" sz="950" dirty="0"/>
          </a:p>
        </p:txBody>
      </p:sp>
      <p:sp>
        <p:nvSpPr>
          <p:cNvPr id="53" name="Shape 51"/>
          <p:cNvSpPr/>
          <p:nvPr/>
        </p:nvSpPr>
        <p:spPr>
          <a:xfrm>
            <a:off x="640080" y="4937760"/>
            <a:ext cx="10911535" cy="950976"/>
          </a:xfrm>
          <a:prstGeom prst="roundRect">
            <a:avLst>
              <a:gd name="adj" fmla="val 5769"/>
            </a:avLst>
          </a:prstGeom>
          <a:solidFill>
            <a:srgbClr val="161616"/>
          </a:solidFill>
          <a:ln w="12700">
            <a:solidFill>
              <a:srgbClr val="232323"/>
            </a:solidFill>
            <a:prstDash val="solid"/>
          </a:ln>
        </p:spPr>
      </p:sp>
      <p:sp>
        <p:nvSpPr>
          <p:cNvPr id="54" name="Shape 52"/>
          <p:cNvSpPr/>
          <p:nvPr/>
        </p:nvSpPr>
        <p:spPr>
          <a:xfrm>
            <a:off x="896112" y="5065776"/>
            <a:ext cx="82296" cy="201168"/>
          </a:xfrm>
          <a:prstGeom prst="rect">
            <a:avLst/>
          </a:prstGeom>
          <a:solidFill>
            <a:srgbClr val="FF0033"/>
          </a:solidFill>
          <a:ln w="12700">
            <a:solidFill>
              <a:srgbClr val="FF0033"/>
            </a:solidFill>
            <a:prstDash val="solid"/>
          </a:ln>
        </p:spPr>
      </p:sp>
      <p:sp>
        <p:nvSpPr>
          <p:cNvPr id="55" name="Text 53"/>
          <p:cNvSpPr txBox="1"/>
          <p:nvPr/>
        </p:nvSpPr>
        <p:spPr>
          <a:xfrm>
            <a:off x="1069848" y="5029200"/>
            <a:ext cx="10225735" cy="365760"/>
          </a:xfrm>
          <a:prstGeom prst="rect">
            <a:avLst/>
          </a:prstGeom>
          <a:noFill/>
          <a:ln/>
        </p:spPr>
        <p:txBody>
          <a:bodyPr wrap="square" lIns="0" tIns="0" rIns="0" bIns="0" rtlCol="0" anchor="t"/>
          <a:lstStyle/>
          <a:p>
            <a:pPr algn="l" indent="0" marL="0">
              <a:lnSpc>
                <a:spcPct val="110000"/>
              </a:lnSpc>
              <a:buNone/>
            </a:pPr>
            <a:r>
              <a:rPr lang="en-US" sz="1100" b="1" dirty="0">
                <a:solidFill>
                  <a:srgbClr val="FFFFFF"/>
                </a:solidFill>
                <a:latin typeface="Google Sans" pitchFamily="34" charset="0"/>
                <a:ea typeface="Google Sans" pitchFamily="34" charset="-122"/>
                <a:cs typeface="Google Sans" pitchFamily="34" charset="-120"/>
              </a:rPr>
              <a:t>MrWattana runs a 10.7% estimated engagement rate and GangBad TM 9.1%, against 6.4% for the macro tier. This is the tier VNG's own micro and UGC roster logic already points at, applied to Thailand.</a:t>
            </a:r>
            <a:endParaRPr lang="en-US" sz="1100" dirty="0"/>
          </a:p>
        </p:txBody>
      </p:sp>
      <p:sp>
        <p:nvSpPr>
          <p:cNvPr id="56" name="Text 54"/>
          <p:cNvSpPr txBox="1"/>
          <p:nvPr/>
        </p:nvSpPr>
        <p:spPr>
          <a:xfrm>
            <a:off x="1069848" y="5449824"/>
            <a:ext cx="10225735" cy="310896"/>
          </a:xfrm>
          <a:prstGeom prst="rect">
            <a:avLst/>
          </a:prstGeom>
          <a:noFill/>
          <a:ln/>
        </p:spPr>
        <p:txBody>
          <a:bodyPr wrap="square" lIns="0" tIns="0" rIns="0" bIns="0" rtlCol="0" anchor="t"/>
          <a:lstStyle/>
          <a:p>
            <a:pPr algn="l" indent="0" marL="0">
              <a:lnSpc>
                <a:spcPct val="110000"/>
              </a:lnSpc>
              <a:buNone/>
            </a:pPr>
            <a:r>
              <a:rPr lang="en-US" sz="900" dirty="0">
                <a:solidFill>
                  <a:srgbClr val="8A8A8A"/>
                </a:solidFill>
                <a:latin typeface="Google Sans" pitchFamily="34" charset="0"/>
                <a:ea typeface="Google Sans" pitchFamily="34" charset="-122"/>
                <a:cs typeface="Google Sans" pitchFamily="34" charset="-120"/>
              </a:rPr>
              <a:t>Average views and engagement rates are third-party estimates from monthly snapshots and require verification before commitment. Genre and brand-safety verification is required for every name.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566928"/>
          </a:xfrm>
          <a:prstGeom prst="rect">
            <a:avLst/>
          </a:prstGeom>
          <a:noFill/>
          <a:ln/>
        </p:spPr>
        <p:txBody>
          <a:bodyPr wrap="square" lIns="0" tIns="0" rIns="0" bIns="0" rtlCol="0" anchor="ctr"/>
          <a:lstStyle/>
          <a:p>
            <a:pPr algn="l" indent="0" marL="0">
              <a:buNone/>
            </a:pPr>
            <a:r>
              <a:rPr lang="en-US" sz="2900" b="1" dirty="0">
                <a:solidFill>
                  <a:srgbClr val="FFFFFF"/>
                </a:solidFill>
                <a:latin typeface="Google Sans" pitchFamily="34" charset="0"/>
                <a:ea typeface="Google Sans" pitchFamily="34" charset="-122"/>
                <a:cs typeface="Google Sans" pitchFamily="34" charset="-120"/>
              </a:rPr>
              <a:t>Make the decision layer a 2027 line item</a:t>
            </a:r>
            <a:endParaRPr lang="en-US" sz="2900" dirty="0"/>
          </a:p>
        </p:txBody>
      </p:sp>
      <p:sp>
        <p:nvSpPr>
          <p:cNvPr id="3" name="Text 1"/>
          <p:cNvSpPr txBox="1"/>
          <p:nvPr/>
        </p:nvSpPr>
        <p:spPr>
          <a:xfrm>
            <a:off x="640080" y="1225296"/>
            <a:ext cx="10911535" cy="310896"/>
          </a:xfrm>
          <a:prstGeom prst="rect">
            <a:avLst/>
          </a:prstGeom>
          <a:noFill/>
          <a:ln/>
        </p:spPr>
        <p:txBody>
          <a:bodyPr wrap="square" lIns="0" tIns="0" rIns="0" bIns="0" rtlCol="0" anchor="ctr"/>
          <a:lstStyle/>
          <a:p>
            <a:pPr algn="l" indent="0" marL="0">
              <a:buNone/>
            </a:pPr>
            <a:r>
              <a:rPr lang="en-US" sz="1400" dirty="0">
                <a:solidFill>
                  <a:srgbClr val="9E9E9E"/>
                </a:solidFill>
                <a:latin typeface="Google Sans" pitchFamily="34" charset="0"/>
                <a:ea typeface="Google Sans" pitchFamily="34" charset="-122"/>
                <a:cs typeface="Google Sans" pitchFamily="34" charset="-120"/>
              </a:rPr>
              <a:t>3 moves that turn creator work from a launch cost into an always-on asset.</a:t>
            </a:r>
            <a:endParaRPr lang="en-US" sz="1400" dirty="0"/>
          </a:p>
        </p:txBody>
      </p:sp>
      <p:sp>
        <p:nvSpPr>
          <p:cNvPr id="4" name="Shape 2"/>
          <p:cNvSpPr/>
          <p:nvPr/>
        </p:nvSpPr>
        <p:spPr>
          <a:xfrm>
            <a:off x="640080" y="6163056"/>
            <a:ext cx="10911535" cy="402336"/>
          </a:xfrm>
          <a:prstGeom prst="roundRect">
            <a:avLst>
              <a:gd name="adj" fmla="val 13636"/>
            </a:avLst>
          </a:prstGeom>
          <a:solidFill>
            <a:srgbClr val="161616"/>
          </a:solidFill>
          <a:ln w="12700">
            <a:solidFill>
              <a:srgbClr val="232323"/>
            </a:solidFill>
            <a:prstDash val="solid"/>
          </a:ln>
        </p:spPr>
      </p:sp>
      <p:sp>
        <p:nvSpPr>
          <p:cNvPr id="5" name="Shape 3"/>
          <p:cNvSpPr/>
          <p:nvPr/>
        </p:nvSpPr>
        <p:spPr>
          <a:xfrm>
            <a:off x="786384" y="6263640"/>
            <a:ext cx="82296" cy="201168"/>
          </a:xfrm>
          <a:prstGeom prst="rect">
            <a:avLst/>
          </a:prstGeom>
          <a:solidFill>
            <a:srgbClr val="FF0033"/>
          </a:solidFill>
          <a:ln w="12700">
            <a:solidFill>
              <a:srgbClr val="FF0033"/>
            </a:solidFill>
            <a:prstDash val="solid"/>
          </a:ln>
        </p:spPr>
      </p:sp>
      <p:sp>
        <p:nvSpPr>
          <p:cNvPr id="6" name="Text 4"/>
          <p:cNvSpPr txBox="1"/>
          <p:nvPr/>
        </p:nvSpPr>
        <p:spPr>
          <a:xfrm>
            <a:off x="987552" y="6163056"/>
            <a:ext cx="10417759" cy="402336"/>
          </a:xfrm>
          <a:prstGeom prst="rect">
            <a:avLst/>
          </a:prstGeom>
          <a:noFill/>
          <a:ln/>
        </p:spPr>
        <p:txBody>
          <a:bodyPr wrap="square" lIns="0" tIns="0" rIns="0" bIns="0" rtlCol="0" anchor="ctr"/>
          <a:lstStyle/>
          <a:p>
            <a:pPr algn="l" indent="0" marL="0">
              <a:buNone/>
            </a:pPr>
            <a:r>
              <a:rPr lang="en-US" sz="950" dirty="0">
                <a:solidFill>
                  <a:srgbClr val="6E6E6E"/>
                </a:solidFill>
                <a:latin typeface="Google Sans" pitchFamily="34" charset="0"/>
                <a:ea typeface="Google Sans" pitchFamily="34" charset="-122"/>
                <a:cs typeface="Google Sans" pitchFamily="34" charset="-120"/>
              </a:rPr>
              <a:t>Source: YouTube Blog, NewFronts, March 2026. Google Ads Help, 2026.</a:t>
            </a:r>
            <a:endParaRPr lang="en-US" sz="950" dirty="0"/>
          </a:p>
        </p:txBody>
      </p:sp>
      <p:sp>
        <p:nvSpPr>
          <p:cNvPr id="7" name="Shape 5"/>
          <p:cNvSpPr/>
          <p:nvPr/>
        </p:nvSpPr>
        <p:spPr>
          <a:xfrm>
            <a:off x="640080" y="1874520"/>
            <a:ext cx="3454298" cy="2788920"/>
          </a:xfrm>
          <a:prstGeom prst="roundRect">
            <a:avLst>
              <a:gd name="adj" fmla="val 1967"/>
            </a:avLst>
          </a:prstGeom>
          <a:solidFill>
            <a:srgbClr val="161616"/>
          </a:solidFill>
          <a:ln w="12700">
            <a:solidFill>
              <a:srgbClr val="232323"/>
            </a:solidFill>
            <a:prstDash val="solid"/>
          </a:ln>
        </p:spPr>
      </p:sp>
      <p:sp>
        <p:nvSpPr>
          <p:cNvPr id="8" name="Shape 6"/>
          <p:cNvSpPr/>
          <p:nvPr/>
        </p:nvSpPr>
        <p:spPr>
          <a:xfrm>
            <a:off x="896112" y="2057400"/>
            <a:ext cx="310896" cy="256032"/>
          </a:xfrm>
          <a:prstGeom prst="roundRect">
            <a:avLst>
              <a:gd name="adj" fmla="val 21429"/>
            </a:avLst>
          </a:prstGeom>
          <a:solidFill>
            <a:srgbClr val="FF0033"/>
          </a:solidFill>
          <a:ln w="12700">
            <a:solidFill>
              <a:srgbClr val="FF0033"/>
            </a:solidFill>
            <a:prstDash val="solid"/>
          </a:ln>
        </p:spPr>
      </p:sp>
      <p:sp>
        <p:nvSpPr>
          <p:cNvPr id="9" name="Text 7"/>
          <p:cNvSpPr txBox="1"/>
          <p:nvPr/>
        </p:nvSpPr>
        <p:spPr>
          <a:xfrm>
            <a:off x="896112" y="2057400"/>
            <a:ext cx="31089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Google Sans" pitchFamily="34" charset="0"/>
                <a:ea typeface="Google Sans" pitchFamily="34" charset="-122"/>
                <a:cs typeface="Google Sans" pitchFamily="34" charset="-120"/>
              </a:rPr>
              <a:t>1</a:t>
            </a:r>
            <a:endParaRPr lang="en-US" sz="1000" dirty="0"/>
          </a:p>
        </p:txBody>
      </p:sp>
      <p:sp>
        <p:nvSpPr>
          <p:cNvPr id="10" name="Text 8"/>
          <p:cNvSpPr txBox="1"/>
          <p:nvPr/>
        </p:nvSpPr>
        <p:spPr>
          <a:xfrm>
            <a:off x="1280160" y="2020824"/>
            <a:ext cx="2558186" cy="475488"/>
          </a:xfrm>
          <a:prstGeom prst="rect">
            <a:avLst/>
          </a:prstGeom>
          <a:noFill/>
          <a:ln/>
        </p:spPr>
        <p:txBody>
          <a:bodyPr wrap="square" lIns="0" tIns="0" rIns="0" bIns="0" rtlCol="0" anchor="t"/>
          <a:lstStyle/>
          <a:p>
            <a:pPr algn="l" indent="0" marL="0">
              <a:lnSpc>
                <a:spcPct val="105000"/>
              </a:lnSpc>
              <a:buNone/>
            </a:pPr>
            <a:r>
              <a:rPr lang="en-US" sz="1250" b="1" dirty="0">
                <a:solidFill>
                  <a:srgbClr val="FFFFFF"/>
                </a:solidFill>
                <a:latin typeface="Google Sans" pitchFamily="34" charset="0"/>
                <a:ea typeface="Google Sans" pitchFamily="34" charset="-122"/>
                <a:cs typeface="Google Sans" pitchFamily="34" charset="-120"/>
              </a:rPr>
              <a:t>Move from launch bookings to standing partnerships</a:t>
            </a:r>
            <a:endParaRPr lang="en-US" sz="1250" dirty="0"/>
          </a:p>
        </p:txBody>
      </p:sp>
      <p:sp>
        <p:nvSpPr>
          <p:cNvPr id="11" name="Text 9"/>
          <p:cNvSpPr txBox="1"/>
          <p:nvPr/>
        </p:nvSpPr>
        <p:spPr>
          <a:xfrm>
            <a:off x="896112" y="2624328"/>
            <a:ext cx="2942234" cy="1316736"/>
          </a:xfrm>
          <a:prstGeom prst="rect">
            <a:avLst/>
          </a:prstGeom>
          <a:noFill/>
          <a:ln/>
        </p:spPr>
        <p:txBody>
          <a:bodyPr wrap="square" lIns="0" tIns="0" rIns="0" bIns="0" rtlCol="0" anchor="t"/>
          <a:lstStyle/>
          <a:p>
            <a:pPr algn="l" indent="0" marL="0">
              <a:lnSpc>
                <a:spcPct val="112000"/>
              </a:lnSpc>
              <a:buNone/>
            </a:pPr>
            <a:r>
              <a:rPr lang="en-US" sz="950" dirty="0">
                <a:solidFill>
                  <a:srgbClr val="9E9E9E"/>
                </a:solidFill>
                <a:latin typeface="Google Sans" pitchFamily="34" charset="0"/>
                <a:ea typeface="Google Sans" pitchFamily="34" charset="-122"/>
                <a:cs typeface="Google Sans" pitchFamily="34" charset="-120"/>
              </a:rPr>
              <a:t>Creator content keeps working long after the launch window. For a live-ops business, that is the difference between a spike and a retention asset. Garena is already locking Thai creators through its own club programmes, so relationship timing is competitive, not administrative.</a:t>
            </a:r>
            <a:endParaRPr lang="en-US" sz="950" dirty="0"/>
          </a:p>
        </p:txBody>
      </p:sp>
      <p:sp>
        <p:nvSpPr>
          <p:cNvPr id="12" name="Shape 10"/>
          <p:cNvSpPr/>
          <p:nvPr/>
        </p:nvSpPr>
        <p:spPr>
          <a:xfrm>
            <a:off x="896112" y="3995928"/>
            <a:ext cx="2942234" cy="658368"/>
          </a:xfrm>
          <a:prstGeom prst="roundRect">
            <a:avLst>
              <a:gd name="adj" fmla="val 8333"/>
            </a:avLst>
          </a:prstGeom>
          <a:solidFill>
            <a:srgbClr val="1E1E1E"/>
          </a:solidFill>
          <a:ln w="12700">
            <a:solidFill>
              <a:srgbClr val="232323"/>
            </a:solidFill>
            <a:prstDash val="solid"/>
          </a:ln>
        </p:spPr>
      </p:sp>
      <p:sp>
        <p:nvSpPr>
          <p:cNvPr id="13" name="Text 11"/>
          <p:cNvSpPr txBox="1"/>
          <p:nvPr/>
        </p:nvSpPr>
        <p:spPr>
          <a:xfrm>
            <a:off x="1060704" y="4069080"/>
            <a:ext cx="2613050" cy="237744"/>
          </a:xfrm>
          <a:prstGeom prst="rect">
            <a:avLst/>
          </a:prstGeom>
          <a:noFill/>
          <a:ln/>
        </p:spPr>
        <p:txBody>
          <a:bodyPr wrap="square" lIns="0" tIns="0" rIns="0" bIns="0" rtlCol="0" anchor="t"/>
          <a:lstStyle/>
          <a:p>
            <a:pPr algn="l" indent="0" marL="0">
              <a:buNone/>
            </a:pPr>
            <a:r>
              <a:rPr lang="en-US" sz="1500" b="1" dirty="0">
                <a:solidFill>
                  <a:srgbClr val="FF0033"/>
                </a:solidFill>
                <a:latin typeface="Google Sans" pitchFamily="34" charset="0"/>
                <a:ea typeface="Google Sans" pitchFamily="34" charset="-122"/>
                <a:cs typeface="Google Sans" pitchFamily="34" charset="-120"/>
              </a:rPr>
              <a:t>40%</a:t>
            </a:r>
            <a:endParaRPr lang="en-US" sz="1500" dirty="0"/>
          </a:p>
        </p:txBody>
      </p:sp>
      <p:sp>
        <p:nvSpPr>
          <p:cNvPr id="14" name="Text 12"/>
          <p:cNvSpPr txBox="1"/>
          <p:nvPr/>
        </p:nvSpPr>
        <p:spPr>
          <a:xfrm>
            <a:off x="1060704" y="4325112"/>
            <a:ext cx="2613050" cy="292608"/>
          </a:xfrm>
          <a:prstGeom prst="rect">
            <a:avLst/>
          </a:prstGeom>
          <a:noFill/>
          <a:ln/>
        </p:spPr>
        <p:txBody>
          <a:bodyPr wrap="square" lIns="0" tIns="0" rIns="0" bIns="0" rtlCol="0" anchor="t"/>
          <a:lstStyle/>
          <a:p>
            <a:pPr algn="l" indent="0" marL="0">
              <a:lnSpc>
                <a:spcPct val="105000"/>
              </a:lnSpc>
              <a:buNone/>
            </a:pPr>
            <a:r>
              <a:rPr lang="en-US" sz="850" dirty="0">
                <a:solidFill>
                  <a:srgbClr val="8A8A8A"/>
                </a:solidFill>
                <a:latin typeface="Google Sans" pitchFamily="34" charset="0"/>
                <a:ea typeface="Google Sans" pitchFamily="34" charset="-122"/>
                <a:cs typeface="Google Sans" pitchFamily="34" charset="-120"/>
              </a:rPr>
              <a:t>of a video's views on YouTube happen more than a month after it goes live</a:t>
            </a:r>
            <a:endParaRPr lang="en-US" sz="850" dirty="0"/>
          </a:p>
        </p:txBody>
      </p:sp>
      <p:sp>
        <p:nvSpPr>
          <p:cNvPr id="15" name="Shape 13"/>
          <p:cNvSpPr/>
          <p:nvPr/>
        </p:nvSpPr>
        <p:spPr>
          <a:xfrm>
            <a:off x="4368698" y="1874520"/>
            <a:ext cx="3454298" cy="2788920"/>
          </a:xfrm>
          <a:prstGeom prst="roundRect">
            <a:avLst>
              <a:gd name="adj" fmla="val 1967"/>
            </a:avLst>
          </a:prstGeom>
          <a:solidFill>
            <a:srgbClr val="161616"/>
          </a:solidFill>
          <a:ln w="12700">
            <a:solidFill>
              <a:srgbClr val="232323"/>
            </a:solidFill>
            <a:prstDash val="solid"/>
          </a:ln>
        </p:spPr>
      </p:sp>
      <p:sp>
        <p:nvSpPr>
          <p:cNvPr id="16" name="Shape 14"/>
          <p:cNvSpPr/>
          <p:nvPr/>
        </p:nvSpPr>
        <p:spPr>
          <a:xfrm>
            <a:off x="4624730" y="2057400"/>
            <a:ext cx="310896" cy="256032"/>
          </a:xfrm>
          <a:prstGeom prst="roundRect">
            <a:avLst>
              <a:gd name="adj" fmla="val 21429"/>
            </a:avLst>
          </a:prstGeom>
          <a:solidFill>
            <a:srgbClr val="C40028"/>
          </a:solidFill>
          <a:ln w="12700">
            <a:solidFill>
              <a:srgbClr val="C40028"/>
            </a:solidFill>
            <a:prstDash val="solid"/>
          </a:ln>
        </p:spPr>
      </p:sp>
      <p:sp>
        <p:nvSpPr>
          <p:cNvPr id="17" name="Text 15"/>
          <p:cNvSpPr txBox="1"/>
          <p:nvPr/>
        </p:nvSpPr>
        <p:spPr>
          <a:xfrm>
            <a:off x="4624730" y="2057400"/>
            <a:ext cx="31089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Google Sans" pitchFamily="34" charset="0"/>
                <a:ea typeface="Google Sans" pitchFamily="34" charset="-122"/>
                <a:cs typeface="Google Sans" pitchFamily="34" charset="-120"/>
              </a:rPr>
              <a:t>2</a:t>
            </a:r>
            <a:endParaRPr lang="en-US" sz="1000" dirty="0"/>
          </a:p>
        </p:txBody>
      </p:sp>
      <p:sp>
        <p:nvSpPr>
          <p:cNvPr id="18" name="Text 16"/>
          <p:cNvSpPr txBox="1"/>
          <p:nvPr/>
        </p:nvSpPr>
        <p:spPr>
          <a:xfrm>
            <a:off x="5008778" y="2020824"/>
            <a:ext cx="2558186" cy="475488"/>
          </a:xfrm>
          <a:prstGeom prst="rect">
            <a:avLst/>
          </a:prstGeom>
          <a:noFill/>
          <a:ln/>
        </p:spPr>
        <p:txBody>
          <a:bodyPr wrap="square" lIns="0" tIns="0" rIns="0" bIns="0" rtlCol="0" anchor="t"/>
          <a:lstStyle/>
          <a:p>
            <a:pPr algn="l" indent="0" marL="0">
              <a:lnSpc>
                <a:spcPct val="105000"/>
              </a:lnSpc>
              <a:buNone/>
            </a:pPr>
            <a:r>
              <a:rPr lang="en-US" sz="1250" b="1" dirty="0">
                <a:solidFill>
                  <a:srgbClr val="FFFFFF"/>
                </a:solidFill>
                <a:latin typeface="Google Sans" pitchFamily="34" charset="0"/>
                <a:ea typeface="Google Sans" pitchFamily="34" charset="-122"/>
                <a:cs typeface="Google Sans" pitchFamily="34" charset="-120"/>
              </a:rPr>
              <a:t>Put paid behind it with creator partnerships boost</a:t>
            </a:r>
            <a:endParaRPr lang="en-US" sz="1250" dirty="0"/>
          </a:p>
        </p:txBody>
      </p:sp>
      <p:sp>
        <p:nvSpPr>
          <p:cNvPr id="19" name="Text 17"/>
          <p:cNvSpPr txBox="1"/>
          <p:nvPr/>
        </p:nvSpPr>
        <p:spPr>
          <a:xfrm>
            <a:off x="4624730" y="2624328"/>
            <a:ext cx="2942234" cy="1316736"/>
          </a:xfrm>
          <a:prstGeom prst="rect">
            <a:avLst/>
          </a:prstGeom>
          <a:noFill/>
          <a:ln/>
        </p:spPr>
        <p:txBody>
          <a:bodyPr wrap="square" lIns="0" tIns="0" rIns="0" bIns="0" rtlCol="0" anchor="t"/>
          <a:lstStyle/>
          <a:p>
            <a:pPr algn="l" indent="0" marL="0">
              <a:lnSpc>
                <a:spcPct val="112000"/>
              </a:lnSpc>
              <a:buNone/>
            </a:pPr>
            <a:r>
              <a:rPr lang="en-US" sz="950" dirty="0">
                <a:solidFill>
                  <a:srgbClr val="9E9E9E"/>
                </a:solidFill>
                <a:latin typeface="Google Sans" pitchFamily="34" charset="0"/>
                <a:ea typeface="Google Sans" pitchFamily="34" charset="-122"/>
                <a:cs typeface="Google Sans" pitchFamily="34" charset="-120"/>
              </a:rPr>
              <a:t>Creator partnerships boost lets an advertiser promote a creator's own video as an ad across the funnel, running from the creator's account with the brand attached, on Shorts and in-stream. The creator adds the brand partner in YouTube Studio and links the video to the Google Ads account. Minimum ad-spend thresholds that used to gate access have been removed.</a:t>
            </a:r>
            <a:endParaRPr lang="en-US" sz="950" dirty="0"/>
          </a:p>
        </p:txBody>
      </p:sp>
      <p:sp>
        <p:nvSpPr>
          <p:cNvPr id="20" name="Shape 18"/>
          <p:cNvSpPr/>
          <p:nvPr/>
        </p:nvSpPr>
        <p:spPr>
          <a:xfrm>
            <a:off x="4624730" y="3995928"/>
            <a:ext cx="2942234" cy="658368"/>
          </a:xfrm>
          <a:prstGeom prst="roundRect">
            <a:avLst>
              <a:gd name="adj" fmla="val 8333"/>
            </a:avLst>
          </a:prstGeom>
          <a:solidFill>
            <a:srgbClr val="1E1E1E"/>
          </a:solidFill>
          <a:ln w="12700">
            <a:solidFill>
              <a:srgbClr val="232323"/>
            </a:solidFill>
            <a:prstDash val="solid"/>
          </a:ln>
        </p:spPr>
      </p:sp>
      <p:sp>
        <p:nvSpPr>
          <p:cNvPr id="21" name="Text 19"/>
          <p:cNvSpPr txBox="1"/>
          <p:nvPr/>
        </p:nvSpPr>
        <p:spPr>
          <a:xfrm>
            <a:off x="4789322" y="4069080"/>
            <a:ext cx="2613050" cy="237744"/>
          </a:xfrm>
          <a:prstGeom prst="rect">
            <a:avLst/>
          </a:prstGeom>
          <a:noFill/>
          <a:ln/>
        </p:spPr>
        <p:txBody>
          <a:bodyPr wrap="square" lIns="0" tIns="0" rIns="0" bIns="0" rtlCol="0" anchor="t"/>
          <a:lstStyle/>
          <a:p>
            <a:pPr algn="l" indent="0" marL="0">
              <a:buNone/>
            </a:pPr>
            <a:r>
              <a:rPr lang="en-US" sz="1500" b="1" dirty="0">
                <a:solidFill>
                  <a:srgbClr val="FF0033"/>
                </a:solidFill>
                <a:latin typeface="Google Sans" pitchFamily="34" charset="0"/>
                <a:ea typeface="Google Sans" pitchFamily="34" charset="-122"/>
                <a:cs typeface="Google Sans" pitchFamily="34" charset="-120"/>
              </a:rPr>
              <a:t>86%</a:t>
            </a:r>
            <a:endParaRPr lang="en-US" sz="1500" dirty="0"/>
          </a:p>
        </p:txBody>
      </p:sp>
      <p:sp>
        <p:nvSpPr>
          <p:cNvPr id="22" name="Text 20"/>
          <p:cNvSpPr txBox="1"/>
          <p:nvPr/>
        </p:nvSpPr>
        <p:spPr>
          <a:xfrm>
            <a:off x="4789322" y="4325112"/>
            <a:ext cx="2613050" cy="292608"/>
          </a:xfrm>
          <a:prstGeom prst="rect">
            <a:avLst/>
          </a:prstGeom>
          <a:noFill/>
          <a:ln/>
        </p:spPr>
        <p:txBody>
          <a:bodyPr wrap="square" lIns="0" tIns="0" rIns="0" bIns="0" rtlCol="0" anchor="t"/>
          <a:lstStyle/>
          <a:p>
            <a:pPr algn="l" indent="0" marL="0">
              <a:lnSpc>
                <a:spcPct val="105000"/>
              </a:lnSpc>
              <a:buNone/>
            </a:pPr>
            <a:r>
              <a:rPr lang="en-US" sz="850" dirty="0">
                <a:solidFill>
                  <a:srgbClr val="8A8A8A"/>
                </a:solidFill>
                <a:latin typeface="Google Sans" pitchFamily="34" charset="0"/>
                <a:ea typeface="Google Sans" pitchFamily="34" charset="-122"/>
                <a:cs typeface="Google Sans" pitchFamily="34" charset="-120"/>
              </a:rPr>
              <a:t>higher incremental long-term ROAS than paid social</a:t>
            </a:r>
            <a:endParaRPr lang="en-US" sz="850" dirty="0"/>
          </a:p>
        </p:txBody>
      </p:sp>
      <p:sp>
        <p:nvSpPr>
          <p:cNvPr id="23" name="Shape 21"/>
          <p:cNvSpPr/>
          <p:nvPr/>
        </p:nvSpPr>
        <p:spPr>
          <a:xfrm>
            <a:off x="8097317" y="1874520"/>
            <a:ext cx="3454298" cy="2788920"/>
          </a:xfrm>
          <a:prstGeom prst="roundRect">
            <a:avLst>
              <a:gd name="adj" fmla="val 1967"/>
            </a:avLst>
          </a:prstGeom>
          <a:solidFill>
            <a:srgbClr val="161616"/>
          </a:solidFill>
          <a:ln w="12700">
            <a:solidFill>
              <a:srgbClr val="232323"/>
            </a:solidFill>
            <a:prstDash val="solid"/>
          </a:ln>
        </p:spPr>
      </p:sp>
      <p:sp>
        <p:nvSpPr>
          <p:cNvPr id="24" name="Shape 22"/>
          <p:cNvSpPr/>
          <p:nvPr/>
        </p:nvSpPr>
        <p:spPr>
          <a:xfrm>
            <a:off x="8353349" y="2057400"/>
            <a:ext cx="310896" cy="256032"/>
          </a:xfrm>
          <a:prstGeom prst="roundRect">
            <a:avLst>
              <a:gd name="adj" fmla="val 21429"/>
            </a:avLst>
          </a:prstGeom>
          <a:solidFill>
            <a:srgbClr val="8A001C"/>
          </a:solidFill>
          <a:ln w="12700">
            <a:solidFill>
              <a:srgbClr val="8A001C"/>
            </a:solidFill>
            <a:prstDash val="solid"/>
          </a:ln>
        </p:spPr>
      </p:sp>
      <p:sp>
        <p:nvSpPr>
          <p:cNvPr id="25" name="Text 23"/>
          <p:cNvSpPr txBox="1"/>
          <p:nvPr/>
        </p:nvSpPr>
        <p:spPr>
          <a:xfrm>
            <a:off x="8353349" y="2057400"/>
            <a:ext cx="31089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Google Sans" pitchFamily="34" charset="0"/>
                <a:ea typeface="Google Sans" pitchFamily="34" charset="-122"/>
                <a:cs typeface="Google Sans" pitchFamily="34" charset="-120"/>
              </a:rPr>
              <a:t>3</a:t>
            </a:r>
            <a:endParaRPr lang="en-US" sz="1000" dirty="0"/>
          </a:p>
        </p:txBody>
      </p:sp>
      <p:sp>
        <p:nvSpPr>
          <p:cNvPr id="26" name="Text 24"/>
          <p:cNvSpPr txBox="1"/>
          <p:nvPr/>
        </p:nvSpPr>
        <p:spPr>
          <a:xfrm>
            <a:off x="8737397" y="2020824"/>
            <a:ext cx="2558186" cy="475488"/>
          </a:xfrm>
          <a:prstGeom prst="rect">
            <a:avLst/>
          </a:prstGeom>
          <a:noFill/>
          <a:ln/>
        </p:spPr>
        <p:txBody>
          <a:bodyPr wrap="square" lIns="0" tIns="0" rIns="0" bIns="0" rtlCol="0" anchor="t"/>
          <a:lstStyle/>
          <a:p>
            <a:pPr algn="l" indent="0" marL="0">
              <a:lnSpc>
                <a:spcPct val="105000"/>
              </a:lnSpc>
              <a:buNone/>
            </a:pPr>
            <a:r>
              <a:rPr lang="en-US" sz="1250" b="1" dirty="0">
                <a:solidFill>
                  <a:srgbClr val="FFFFFF"/>
                </a:solidFill>
                <a:latin typeface="Google Sans" pitchFamily="34" charset="0"/>
                <a:ea typeface="Google Sans" pitchFamily="34" charset="-122"/>
                <a:cs typeface="Google Sans" pitchFamily="34" charset="-120"/>
              </a:rPr>
              <a:t>Measure it like media, not like influencer marketing</a:t>
            </a:r>
            <a:endParaRPr lang="en-US" sz="1250" dirty="0"/>
          </a:p>
        </p:txBody>
      </p:sp>
      <p:sp>
        <p:nvSpPr>
          <p:cNvPr id="27" name="Text 25"/>
          <p:cNvSpPr txBox="1"/>
          <p:nvPr/>
        </p:nvSpPr>
        <p:spPr>
          <a:xfrm>
            <a:off x="8353349" y="2624328"/>
            <a:ext cx="2942234" cy="1316736"/>
          </a:xfrm>
          <a:prstGeom prst="rect">
            <a:avLst/>
          </a:prstGeom>
          <a:noFill/>
          <a:ln/>
        </p:spPr>
        <p:txBody>
          <a:bodyPr wrap="square" lIns="0" tIns="0" rIns="0" bIns="0" rtlCol="0" anchor="t"/>
          <a:lstStyle/>
          <a:p>
            <a:pPr algn="l" indent="0" marL="0">
              <a:lnSpc>
                <a:spcPct val="112000"/>
              </a:lnSpc>
              <a:buNone/>
            </a:pPr>
            <a:r>
              <a:rPr lang="en-US" sz="950" dirty="0">
                <a:solidFill>
                  <a:srgbClr val="9E9E9E"/>
                </a:solidFill>
                <a:latin typeface="Google Sans" pitchFamily="34" charset="0"/>
                <a:ea typeface="Google Sans" pitchFamily="34" charset="-122"/>
                <a:cs typeface="Google Sans" pitchFamily="34" charset="-120"/>
              </a:rPr>
              <a:t>YouTube Creator Partnerships, formerly BrandConnect, brings organic and paid metrics for linked creator videos together in a single view, with Brand Lift, Search Lift and Conversion Lift studies.</a:t>
            </a:r>
            <a:endParaRPr lang="en-US" sz="950" dirty="0"/>
          </a:p>
        </p:txBody>
      </p:sp>
      <p:sp>
        <p:nvSpPr>
          <p:cNvPr id="28" name="Shape 26"/>
          <p:cNvSpPr/>
          <p:nvPr/>
        </p:nvSpPr>
        <p:spPr>
          <a:xfrm>
            <a:off x="8353349" y="3995928"/>
            <a:ext cx="2942234" cy="658368"/>
          </a:xfrm>
          <a:prstGeom prst="roundRect">
            <a:avLst>
              <a:gd name="adj" fmla="val 8333"/>
            </a:avLst>
          </a:prstGeom>
          <a:solidFill>
            <a:srgbClr val="1E1E1E"/>
          </a:solidFill>
          <a:ln w="12700">
            <a:solidFill>
              <a:srgbClr val="232323"/>
            </a:solidFill>
            <a:prstDash val="solid"/>
          </a:ln>
        </p:spPr>
      </p:sp>
      <p:sp>
        <p:nvSpPr>
          <p:cNvPr id="29" name="Text 27"/>
          <p:cNvSpPr txBox="1"/>
          <p:nvPr/>
        </p:nvSpPr>
        <p:spPr>
          <a:xfrm>
            <a:off x="8517941" y="4069080"/>
            <a:ext cx="2613050" cy="237744"/>
          </a:xfrm>
          <a:prstGeom prst="rect">
            <a:avLst/>
          </a:prstGeom>
          <a:noFill/>
          <a:ln/>
        </p:spPr>
        <p:txBody>
          <a:bodyPr wrap="square" lIns="0" tIns="0" rIns="0" bIns="0" rtlCol="0" anchor="t"/>
          <a:lstStyle/>
          <a:p>
            <a:pPr algn="l" indent="0" marL="0">
              <a:buNone/>
            </a:pPr>
            <a:r>
              <a:rPr lang="en-US" sz="1100" b="1" dirty="0">
                <a:solidFill>
                  <a:srgbClr val="FF0033"/>
                </a:solidFill>
                <a:latin typeface="Google Sans" pitchFamily="34" charset="0"/>
                <a:ea typeface="Google Sans" pitchFamily="34" charset="-122"/>
                <a:cs typeface="Google Sans" pitchFamily="34" charset="-120"/>
              </a:rPr>
              <a:t>Brand, Search, Conversion</a:t>
            </a:r>
            <a:endParaRPr lang="en-US" sz="1100" dirty="0"/>
          </a:p>
        </p:txBody>
      </p:sp>
      <p:sp>
        <p:nvSpPr>
          <p:cNvPr id="30" name="Text 28"/>
          <p:cNvSpPr txBox="1"/>
          <p:nvPr/>
        </p:nvSpPr>
        <p:spPr>
          <a:xfrm>
            <a:off x="8517941" y="4325112"/>
            <a:ext cx="2613050" cy="292608"/>
          </a:xfrm>
          <a:prstGeom prst="rect">
            <a:avLst/>
          </a:prstGeom>
          <a:noFill/>
          <a:ln/>
        </p:spPr>
        <p:txBody>
          <a:bodyPr wrap="square" lIns="0" tIns="0" rIns="0" bIns="0" rtlCol="0" anchor="t"/>
          <a:lstStyle/>
          <a:p>
            <a:pPr algn="l" indent="0" marL="0">
              <a:lnSpc>
                <a:spcPct val="105000"/>
              </a:lnSpc>
              <a:buNone/>
            </a:pPr>
            <a:r>
              <a:rPr lang="en-US" sz="850" dirty="0">
                <a:solidFill>
                  <a:srgbClr val="8A8A8A"/>
                </a:solidFill>
                <a:latin typeface="Google Sans" pitchFamily="34" charset="0"/>
                <a:ea typeface="Google Sans" pitchFamily="34" charset="-122"/>
                <a:cs typeface="Google Sans" pitchFamily="34" charset="-120"/>
              </a:rPr>
              <a:t>the reporting standard VNG already applies to user acquisition spend, extended to creator work</a:t>
            </a:r>
            <a:endParaRPr lang="en-US" sz="850" dirty="0"/>
          </a:p>
        </p:txBody>
      </p:sp>
      <p:sp>
        <p:nvSpPr>
          <p:cNvPr id="31" name="Shape 29"/>
          <p:cNvSpPr/>
          <p:nvPr/>
        </p:nvSpPr>
        <p:spPr>
          <a:xfrm>
            <a:off x="640080" y="4937760"/>
            <a:ext cx="6720840" cy="950976"/>
          </a:xfrm>
          <a:prstGeom prst="roundRect">
            <a:avLst>
              <a:gd name="adj" fmla="val 5769"/>
            </a:avLst>
          </a:prstGeom>
          <a:solidFill>
            <a:srgbClr val="161616"/>
          </a:solidFill>
          <a:ln w="12700">
            <a:solidFill>
              <a:srgbClr val="232323"/>
            </a:solidFill>
            <a:prstDash val="solid"/>
          </a:ln>
        </p:spPr>
      </p:sp>
      <p:sp>
        <p:nvSpPr>
          <p:cNvPr id="32" name="Shape 30"/>
          <p:cNvSpPr/>
          <p:nvPr/>
        </p:nvSpPr>
        <p:spPr>
          <a:xfrm>
            <a:off x="896112" y="5102352"/>
            <a:ext cx="82296" cy="201168"/>
          </a:xfrm>
          <a:prstGeom prst="rect">
            <a:avLst/>
          </a:prstGeom>
          <a:solidFill>
            <a:srgbClr val="FF0033"/>
          </a:solidFill>
          <a:ln w="12700">
            <a:solidFill>
              <a:srgbClr val="FF0033"/>
            </a:solidFill>
            <a:prstDash val="solid"/>
          </a:ln>
        </p:spPr>
      </p:sp>
      <p:sp>
        <p:nvSpPr>
          <p:cNvPr id="33" name="Text 31"/>
          <p:cNvSpPr txBox="1"/>
          <p:nvPr/>
        </p:nvSpPr>
        <p:spPr>
          <a:xfrm>
            <a:off x="1069848" y="5047488"/>
            <a:ext cx="6035040" cy="731520"/>
          </a:xfrm>
          <a:prstGeom prst="rect">
            <a:avLst/>
          </a:prstGeom>
          <a:noFill/>
          <a:ln/>
        </p:spPr>
        <p:txBody>
          <a:bodyPr wrap="square" lIns="0" tIns="0" rIns="0" bIns="0" rtlCol="0" anchor="ctr"/>
          <a:lstStyle/>
          <a:p>
            <a:pPr algn="l" indent="0" marL="0">
              <a:lnSpc>
                <a:spcPct val="112000"/>
              </a:lnSpc>
              <a:buNone/>
            </a:pPr>
            <a:r>
              <a:rPr lang="en-US" sz="1100" b="1" dirty="0">
                <a:solidFill>
                  <a:srgbClr val="FFFFFF"/>
                </a:solidFill>
                <a:latin typeface="Google Sans" pitchFamily="34" charset="0"/>
                <a:ea typeface="Google Sans" pitchFamily="34" charset="-122"/>
                <a:cs typeface="Google Sans" pitchFamily="34" charset="-120"/>
              </a:rPr>
              <a:t>VNG already staffs a 4-tier creator roster and a player-to-creator pipeline. The 2027 opening in Thailand is not more creators, it is the always-on YouTube layer underneath the ones they already work with.</a:t>
            </a:r>
            <a:endParaRPr lang="en-US" sz="1100" dirty="0"/>
          </a:p>
        </p:txBody>
      </p:sp>
      <p:sp>
        <p:nvSpPr>
          <p:cNvPr id="34" name="Shape 32"/>
          <p:cNvSpPr/>
          <p:nvPr/>
        </p:nvSpPr>
        <p:spPr>
          <a:xfrm>
            <a:off x="7635240" y="4937760"/>
            <a:ext cx="3916375" cy="950976"/>
          </a:xfrm>
          <a:prstGeom prst="roundRect">
            <a:avLst>
              <a:gd name="adj" fmla="val 5769"/>
            </a:avLst>
          </a:prstGeom>
          <a:solidFill>
            <a:srgbClr val="161616"/>
          </a:solidFill>
          <a:ln w="12700">
            <a:solidFill>
              <a:srgbClr val="232323"/>
            </a:solidFill>
            <a:prstDash val="solid"/>
          </a:ln>
        </p:spPr>
      </p:sp>
      <p:sp>
        <p:nvSpPr>
          <p:cNvPr id="35" name="Shape 33"/>
          <p:cNvSpPr/>
          <p:nvPr/>
        </p:nvSpPr>
        <p:spPr>
          <a:xfrm>
            <a:off x="7891272" y="5102352"/>
            <a:ext cx="82296" cy="182880"/>
          </a:xfrm>
          <a:prstGeom prst="rect">
            <a:avLst/>
          </a:prstGeom>
          <a:solidFill>
            <a:srgbClr val="FF0033"/>
          </a:solidFill>
          <a:ln w="12700">
            <a:solidFill>
              <a:srgbClr val="FF0033"/>
            </a:solidFill>
            <a:prstDash val="solid"/>
          </a:ln>
        </p:spPr>
      </p:sp>
      <p:sp>
        <p:nvSpPr>
          <p:cNvPr id="36" name="Text 34"/>
          <p:cNvSpPr txBox="1"/>
          <p:nvPr/>
        </p:nvSpPr>
        <p:spPr>
          <a:xfrm>
            <a:off x="8065008" y="5065776"/>
            <a:ext cx="3230575" cy="219456"/>
          </a:xfrm>
          <a:prstGeom prst="rect">
            <a:avLst/>
          </a:prstGeom>
          <a:noFill/>
          <a:ln/>
        </p:spPr>
        <p:txBody>
          <a:bodyPr wrap="square" lIns="0" tIns="0" rIns="0" bIns="0" rtlCol="0" anchor="t"/>
          <a:lstStyle/>
          <a:p>
            <a:pPr algn="l" indent="0" marL="0">
              <a:buNone/>
            </a:pPr>
            <a:r>
              <a:rPr lang="en-US" sz="1100" b="1" dirty="0">
                <a:solidFill>
                  <a:srgbClr val="FFFFFF"/>
                </a:solidFill>
                <a:latin typeface="Google Sans" pitchFamily="34" charset="0"/>
                <a:ea typeface="Google Sans" pitchFamily="34" charset="-122"/>
                <a:cs typeface="Google Sans" pitchFamily="34" charset="-120"/>
              </a:rPr>
              <a:t>Next steps</a:t>
            </a:r>
            <a:endParaRPr lang="en-US" sz="1100" dirty="0"/>
          </a:p>
        </p:txBody>
      </p:sp>
      <p:sp>
        <p:nvSpPr>
          <p:cNvPr id="37" name="Text 35"/>
          <p:cNvSpPr txBox="1"/>
          <p:nvPr/>
        </p:nvSpPr>
        <p:spPr>
          <a:xfrm>
            <a:off x="8065008" y="5321808"/>
            <a:ext cx="3230575" cy="493776"/>
          </a:xfrm>
          <a:prstGeom prst="rect">
            <a:avLst/>
          </a:prstGeom>
          <a:noFill/>
          <a:ln/>
        </p:spPr>
        <p:txBody>
          <a:bodyPr wrap="square" lIns="0" tIns="0" rIns="0" bIns="0" rtlCol="0" anchor="t"/>
          <a:lstStyle/>
          <a:p>
            <a:pPr algn="l" indent="0" marL="0">
              <a:lnSpc>
                <a:spcPct val="108000"/>
              </a:lnSpc>
              <a:buNone/>
            </a:pPr>
            <a:r>
              <a:rPr lang="en-US" sz="850" dirty="0">
                <a:solidFill>
                  <a:srgbClr val="9E9E9E"/>
                </a:solidFill>
                <a:latin typeface="Google Sans" pitchFamily="34" charset="0"/>
                <a:ea typeface="Google Sans" pitchFamily="34" charset="-122"/>
                <a:cs typeface="Google Sans" pitchFamily="34" charset="-120"/>
              </a:rPr>
              <a:t>1  Verify genre and brand safety on the shortlist.</a:t>
            </a:r>
            <a:endParaRPr lang="en-US" sz="850" dirty="0"/>
          </a:p>
          <a:p>
            <a:pPr algn="l" indent="0" marL="0">
              <a:lnSpc>
                <a:spcPct val="108000"/>
              </a:lnSpc>
              <a:buNone/>
            </a:pPr>
            <a:r>
              <a:rPr lang="en-US" sz="850" dirty="0">
                <a:solidFill>
                  <a:srgbClr val="9E9E9E"/>
                </a:solidFill>
                <a:latin typeface="Google Sans" pitchFamily="34" charset="0"/>
                <a:ea typeface="Google Sans" pitchFamily="34" charset="-122"/>
                <a:cs typeface="Google Sans" pitchFamily="34" charset="-120"/>
              </a:rPr>
              <a:t>2  Confirm creator partnerships boost availability for the Thailand advertiser market with the Google team.</a:t>
            </a:r>
            <a:endParaRPr lang="en-US" sz="850" dirty="0"/>
          </a:p>
          <a:p>
            <a:pPr algn="l" indent="0" marL="0">
              <a:lnSpc>
                <a:spcPct val="108000"/>
              </a:lnSpc>
              <a:buNone/>
            </a:pPr>
            <a:r>
              <a:rPr lang="en-US" sz="850" dirty="0">
                <a:solidFill>
                  <a:srgbClr val="9E9E9E"/>
                </a:solidFill>
                <a:latin typeface="Google Sans" pitchFamily="34" charset="0"/>
                <a:ea typeface="Google Sans" pitchFamily="34" charset="-122"/>
                <a:cs typeface="Google Sans" pitchFamily="34" charset="-120"/>
              </a:rPr>
              <a:t>3  Scope a 1-title pilot.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Thai YouTube gaming and creator landscape</dc:title>
  <dc:subject>PptxGenJS Presentation</dc:subject>
  <dc:creator>VNGGames Thailand 2027</dc:creator>
  <cp:lastModifiedBy>VNGGames Thailand 2027</cp:lastModifiedBy>
  <cp:revision>1</cp:revision>
  <dcterms:created xsi:type="dcterms:W3CDTF">2026-09-18T09:48:15Z</dcterms:created>
  <dcterms:modified xsi:type="dcterms:W3CDTF">2026-09-18T09:48:15Z</dcterms:modified>
</cp:coreProperties>
</file>